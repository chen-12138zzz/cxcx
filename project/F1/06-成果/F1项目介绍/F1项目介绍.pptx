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4" Type="http://schemas.openxmlformats.org/officeDocument/2006/relationships/presProps" Target="presProps.xml" /><Relationship Id="rId11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flexDirection: 'row', position: 'relative' }}&gt;&#10;&#10;    {/* 左侧深蓝色块 40% */}&#10;    &lt;Box style={{ width: 500, height: 720, background: '#0E3F8C', padding: 40, flexDirection: 'column', justifyContent: 'space-between' }}&gt;&#10;        &lt;Box style={{ flexDirection: 'column', gap: 8 }}&gt;&#10;            &lt;Text style={{ fontSize: 14, color: '#8FB4E0', letterSpacing: 2 }}&gt;大学生创新创业训练计划&lt;/Text&gt;&#10;            &lt;Text style={{ fontSize: 14, color: '#8FB4E0', letterSpacing: 2 }}&gt;项目代号 F1&lt;/Text&gt;&#10;        &lt;/Box&gt;&#10;&#10;        &lt;Box style={{ flexDirection: 'column', gap: 16 }}&gt;&#10;            &lt;Text style={{ fontSize: 20, color: '#BFD5EF', lineHeight: 1.6 }}&gt;&#10;                不产出预测&#10;            &lt;/Text&gt;&#10;            &lt;Text style={{ fontSize: 20, color: '#BFD5EF', lineHeight: 1.6 }}&gt;&#10;                只回答「改了会怎样」&#10;            &lt;/Text&gt;&#10;            &lt;Box style={{ width: 64, height: 3, background: '#FFC107', marginTop: 4 }} /&gt;&#10;            &lt;Text style={{ fontSize: 20, color: '#BFD5EF', lineHeight: 1.6, marginTop: 8 }}&gt;&#10;                并说清这个判断&#10;            &lt;/Text&gt;&#10;            &lt;Text style={{ fontSize: 20, color: '#BFD5EF', lineHeight: 1.6 }}&gt;&#10;                在什么条件下失效&#10;            &lt;/Text&gt;&#10;        &lt;/Box&gt;&#10;&#10;        &lt;Box style={{ flexDirection: 'column', gap: 6 }}&gt;&#10;            &lt;Text style={{ fontSize: 14, color: '#8FB4E0' }}&gt;广东海洋大学 · 数学与计算机学院&lt;/Text&gt;&#10;            &lt;Text style={{ fontSize: 14, color: '#8FB4E0' }}&gt;软件工程 · 2026-09&lt;/Text&gt;&#10;        &lt;/Box&gt;&#10;    &lt;/Box&gt;&#10;&#10;    {/* 右侧白色承载标题 */}&#10;    &lt;Box style={{ width: 780, height: 720, padding: 40, flexDirection: 'column', justifyContent: 'center', gap: 24 }}&gt;&#10;        &lt;Text style={{ fontSize: 14, color: '#3D7BD9', letterSpacing: 3 }}&gt;CAUSAL INFERENCE · AQUACULTURE&lt;/Text&gt;&#10;&#10;        &lt;Text style={{ fontSize: 60, fontWeight: 'bold', color: '#0E3F8C', lineHeight: 1.25 }}&gt;&#10;            面向养殖观测数据的&#10;        &lt;/Text&gt;&#10;        &lt;Text style={{ fontSize: 60, fontWeight: 'bold', color: '#0E3F8C', lineHeight: 1.25 }}&gt;&#10;            干预效应估计&#10;        &lt;/Text&gt;&#10;        &lt;Text style={{ fontSize: 60, fontWeight: 'bold', color: '#0E3F8C', lineHeight: 1.25 }}&gt;&#10;            与识别有效性审计&#10;        &lt;/Text&gt;&#10;&#10;        &lt;Box style={{ width: 120, height: 4, background: '#1E4FA8', marginTop: 4 }} /&gt;&#10;&#10;        &lt;Text style={{ fontSize: 22, color: '#4A5568', lineHeight: 1.6, marginTop: 4 }}&gt;&#10;            一个方法型研究原型 —— 在已经存在的养殖观测数据上做效应估计，&#10;            并把这个估计在什么条件下站不住，一并写清楚。&#10;        &lt;/Text&gt;&#10;&#10;        {/* 视觉锚点：七步流程缩略 SVG */}&#10;        &lt;Box style={{ marginTop: 8 }}&gt;&#10;            &lt;svg width={700} height={72} viewBox='0 0 700 72'&gt;&#10;                &lt;line x1='40' y1='36' x2='660' y2='36' stroke='#D6DCE5' strokeWidth='2' /&gt;&#10;                &lt;circle cx='40' cy='36' r='9' fill='#1E4FA8' /&gt;&#10;                &lt;circle cx='143' cy='36' r='9' fill='#3D7BD9' /&gt;&#10;                &lt;circle cx='246' cy='36' r='9' fill='#3D7BD9' /&gt;&#10;                &lt;circle cx='349' cy='36' r='9' fill='#3D7BD9' /&gt;&#10;                &lt;circle cx='452' cy='36' r='9' fill='#3D7BD9' /&gt;&#10;                &lt;circle cx='555' cy='36' r='9' fill='#3D7BD9' /&gt;&#10;                &lt;circle cx='660' cy='36' r='13' fill='#0E3F8C' /&gt;&#10;&#10;                &lt;text x='40' y='16' fontSize='13' fill='#4A5568' textAnchor='middle'&gt;角色审计&lt;/text&gt;&#10;                &lt;text x='143' y='16' fontSize='13' fill='#4A5568' textAnchor='middle'&gt;正性诊断&lt;/text&gt;&#10;                &lt;text x='246' y='16' fontSize='13' fill='#4A5568' textAnchor='middle'&gt;效应估计&lt;/text&gt;&#10;                &lt;text x='349' y='16' fontSize='13' fill='#4A5568' textAnchor='middle'&gt;剂量反应&lt;/text&gt;&#10;                &lt;text x='452' y='16' fontSize='13' fill='#4A5568' textAnchor='middle'&gt;敏感性&lt;/text&gt;&#10;                &lt;text x='555' y='16' fontSize='13' fill='#4A5568' textAnchor='middle'&gt;假设台账&lt;/text&gt;&#10;                &lt;text x='660' y='16' fontSize='13' fill='#1E4FA8' textAnchor='middle' fontWeight='bold'&gt;报告守卫&lt;/text&gt;&#10;&#10;                &lt;text x='350' y='64' fontSize='12' fill='#8B97A8' textAnchor='middle'&gt;数据凭证 · 全程留痕 · 不合格输出直接拦截&lt;/text&gt;&#10;            &lt;/svg&gt;&#10;        &lt;/Box&gt;&#10;    &lt;/Box&gt;&#10;&#10;    {/* 校名角标 */}&#10;    &lt;Box style={{ position: 'absolute', right: 40, top: 40, flexDirection: 'row', alignItems: 'center', gap: 8 }}&gt;&#10;        &lt;Box style={{ width: 4, height: 28, background: '#1E4FA8' }} /&gt;&#10;        &lt;Text style={{ fontSize: 14, color: '#8B97A8' }}&gt;广东海洋大学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762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FB4E0"/>
                </a:solidFill>
                <a:latin typeface="Microsoft YaHei"/>
                <a:ea typeface="Microsoft YaHei"/>
              </a:rPr>
              <a:t>大学生创新创业训练计划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1000" y="6191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FB4E0"/>
                </a:solidFill>
                <a:latin typeface="Microsoft YaHei"/>
                <a:ea typeface="Microsoft YaHei"/>
              </a:rPr>
              <a:t>项目代号</a:t>
            </a:r>
            <a:r>
              <a:rPr lang="en-US" sz="1050" spc="150">
                <a:solidFill>
                  <a:srgbClr val="8FB4E0"/>
                </a:solidFill>
                <a:latin typeface="Microsoft YaHei"/>
                <a:ea typeface="Microsoft YaHei"/>
              </a:rPr>
              <a:t> F1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81000" y="2324100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不产出预测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81000" y="2847975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只回答「改了会怎样」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381000" y="3409950"/>
            <a:ext cx="6096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81000" y="3667125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并说清这个判断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81000" y="4191000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在什么条件下失效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数学与计算机学院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81000" y="63150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软件工程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2026-09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533400"/>
            <a:ext cx="666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3D7BD9"/>
                </a:solidFill>
                <a:latin typeface="Microsoft YaHei"/>
                <a:ea typeface="Microsoft YaHei"/>
              </a:rPr>
              <a:t>CAUSAL INFERENCE · AQUACULTURE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143500" y="923925"/>
            <a:ext cx="6667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面向养殖观测数据的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143500" y="2009775"/>
            <a:ext cx="6667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干预效应估计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143500" y="3095625"/>
            <a:ext cx="6667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与识别有效性审计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143500" y="4219575"/>
            <a:ext cx="1143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143500" y="4524375"/>
            <a:ext cx="66675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一个方法型研究原型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在已经存在的养殖观测数据上做效应估计，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并把这个估计在什么条件下站不住，一并写清楚。</a:t>
            </a:r>
            <a:endParaRPr/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43500" y="5638800"/>
            <a:ext cx="6667500" cy="6858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10896600" y="381000"/>
            <a:ext cx="381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010900" y="438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width: 1280, height: 720, background: '#FFFFFF', flexDirection: 'row' }}&gt;&#10;&#10;    {/* 左侧窄深蓝栏 32% */}&#10;    &lt;Box style={{ width: 400, height: 720, background: '#0E3F8C', padding: 40, flexDirection: 'column', justifyContent: 'center', gap: 20 }}&gt;&#10;        &lt;Text style={{ fontSize: 60, fontWeight: 'bold', color: '#FFFFFF', lineHeight: 1.1 }}&gt;&#10;            目录&#10;        &lt;/Text&gt;&#10;        &lt;Box style={{ width: 80, height: 4, background: '#FFC107' }} /&gt;&#10;        &lt;Text style={{ fontSize: 18, color: '#8FB4E0', letterSpacing: 3, marginTop: 4 }}&gt;&#10;            CONTENTS&#10;        &lt;/Text&gt;&#10;        &lt;Text style={{ fontSize: 16, color: '#8FB4E0', lineHeight: 1.8, marginTop: 24 }}&gt;&#10;            四章，十二页。&lt;br /&gt;&#10;            先说问题在哪，再说方法怎么设计，&lt;br /&gt;&#10;            然后看结果 —— 包括没做成的那部分。&#10;        &lt;/Text&gt;&#10;    &lt;/Box&gt;&#10;&#10;    {/* 右侧 4 条条目 */}&#10;    &lt;Box style={{ width: 880, height: 720, padding: 40, flexDirection: 'column', justifyContent: 'center', gap: 16 }}&gt;&#10;&#10;        &lt;Box style={{ flexDirection: 'row', alignItems: 'center', gap: 24, padding: 20, background: '#F0F5FC', borderRadius: 6, border: '1px solid #D6DCE5' }}&gt;&#10;            &lt;Box style={{ width: 56, height: 56, background: '#1E4FA8', justifyContent: 'center', alignItems: 'center' }}&gt;&#10;                &lt;Text style={{ fontSize: 24, fontWeight: 'bold', color: '#FFFFFF' }}&gt;01&lt;/Text&gt;&#10;            &lt;/Box&gt;&#10;            &lt;Box style={{ flexDirection: 'column', gap: 6 }}&gt;&#10;                &lt;Text style={{ fontSize: 24, fontWeight: 'bold', color: '#1A2230' }}&gt;问题与边界&lt;/Text&gt;&#10;                &lt;Text style={{ fontSize: 16, color: '#4A5568' }}&gt;三个问题 · 数据里的三个陷阱 · 和同类工作差在哪&lt;/Text&gt;&#10;            &lt;/Box&gt;&#10;        &lt;/Box&gt;&#10;&#10;        &lt;Box style={{ flexDirection: 'row', alignItems: 'center', gap: 24, padding: 20, background: '#FFFFFF', borderRadius: 6, border: '1px solid #D6DCE5' }}&gt;&#10;            &lt;Box style={{ width: 56, height: 56, background: '#1E4FA8', justifyContent: 'center', alignItems: 'center' }}&gt;&#10;                &lt;Text style={{ fontSize: 24, fontWeight: 'bold', color: '#FFFFFF' }}&gt;02&lt;/Text&gt;&#10;            &lt;/Box&gt;&#10;            &lt;Box style={{ flexDirection: 'column', gap: 6 }}&gt;&#10;                &lt;Text style={{ fontSize: 24, fontWeight: 'bold', color: '#1A2230' }}&gt;方法设计&lt;/Text&gt;&#10;                &lt;Text style={{ fontSize: 16, color: '#4A5568' }}&gt;从数据到结论要过七道关 · 为什么先用合成数据&lt;/Text&gt;&#10;            &lt;/Box&gt;&#10;        &lt;/Box&gt;&#10;&#10;        &lt;Box style={{ flexDirection: 'row', alignItems: 'center', gap: 24, padding: 20, background: '#F0F5FC', borderRadius: 6, border: '1px solid #D6DCE5' }}&gt;&#10;            &lt;Box style={{ width: 56, height: 56, background: '#1E4FA8', justifyContent: 'center', alignItems: 'center' }}&gt;&#10;                &lt;Text style={{ fontSize: 24, fontWeight: 'bold', color: '#FFFFFF' }}&gt;03&lt;/Text&gt;&#10;            &lt;/Box&gt;&#10;            &lt;Box style={{ flexDirection: 'column', gap: 6 }}&gt;&#10;                &lt;Text style={{ fontSize: 24, fontWeight: 'bold', color: '#1A2230' }}&gt;实验与结论&lt;/Text&gt;&#10;                &lt;Text style={{ fontSize: 16, color: '#4A5568' }}&gt;21/21 判定项与它的修正史 · 一条否定性结论&lt;/Text&gt;&#10;            &lt;/Box&gt;&#10;        &lt;/Box&gt;&#10;&#10;        &lt;Box style={{ flexDirection: 'row', alignItems: 'center', gap: 24, padding: 20, background: '#FFFFFF', borderRadius: 6, border: '1px solid #D6DCE5' }}&gt;&#10;            &lt;Box style={{ width: 56, height: 56, background: '#1E4FA8', justifyContent: 'center', alignItems: 'center' }}&gt;&#10;                &lt;Text style={{ fontSize: 24, fontWeight: 'bold', color: '#FFFFFF' }}&gt;04&lt;/Text&gt;&#10;            &lt;/Box&gt;&#10;            &lt;Box style={{ flexDirection: 'column', gap: 6 }}&gt;&#10;                &lt;Text style={{ fontSize: 24, fontWeight: 'bold', color: '#1A2230' }}&gt;现状与下一步&lt;/Text&gt;&#10;                &lt;Text style={{ fontSize: 16, color: '#4A5568' }}&gt;已经具备什么 · 还缺什么 · 为什么不绕过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3810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1000" y="2009775"/>
            <a:ext cx="30480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81000" y="2962275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3228975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8FB4E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1000" y="3857625"/>
            <a:ext cx="3048000" cy="990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四章，十二页。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先说问题在哪，再说方法怎么设计，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然后看结果</a:t>
            </a:r>
            <a:r>
              <a:rPr lang="en-US" sz="1200">
                <a:solidFill>
                  <a:srgbClr val="8FB4E0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包括没做成的那部分。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191000" y="1371600"/>
            <a:ext cx="7620000" cy="91440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4381500" y="1562100"/>
            <a:ext cx="5334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505325" y="16954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143500" y="1571625"/>
            <a:ext cx="3305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问题与边界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143500" y="1905000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三个问题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数据里的三个陷阱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和同类工作差在哪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191000" y="2438400"/>
            <a:ext cx="76200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4381500" y="2628900"/>
            <a:ext cx="5334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505325" y="27622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143500" y="2638425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方法设计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43500" y="297180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从数据到结论要过七道关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为什么先用合成数据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4191000" y="3505200"/>
            <a:ext cx="7620000" cy="91440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4381500" y="3695700"/>
            <a:ext cx="5334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505325" y="38290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143500" y="3705225"/>
            <a:ext cx="3038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实验与结论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143500" y="4038600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21/21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判定项与它的修正史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一条否定性结论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191000" y="4572000"/>
            <a:ext cx="76200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4381500" y="4762500"/>
            <a:ext cx="5334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05325" y="48958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143500" y="4772025"/>
            <a:ext cx="2695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现状与下一步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143500" y="5105400"/>
            <a:ext cx="269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已经具备什么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还缺什么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为什么不绕过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style={{ width: 1280, height: 720, background: '#FFFFFF', flexDirection: 'column' }}&gt;&#10;&#10;    {/* A3 深蓝顶条 */}&#10;    &lt;Box style={{ width: 1280, height: 56, background: '#1E4FA8', flexDirection: 'row', alignItems: 'center', justifyContent: 'space-between', paddingLeft: 40, paddingRight: 40 }}&gt;&#10;        &lt;Text style={{ fontSize: 14, color: '#BFD5EF', letterSpacing: 2 }}&gt;01 问题与边界&lt;/Text&gt;&#10;        &lt;Text style={{ fontSize: 14, color: '#BFD5EF' }}&gt;F1 · 项目介绍&lt;/Text&gt;&#10;    &lt;/Box&gt;&#10;&#10;    {/* B 标题块 */}&#10;    &lt;Box style={{ paddingLeft: 40, paddingRight: 40, paddingTop: 24, flexDirection: 'column', gap: 6 }}&gt;&#10;        &lt;Text style={{ fontSize: 32, fontWeight: 'bold', color: '#1E4FA8' }}&gt;我们要回答的三个问题&lt;/Text&gt;&#10;        &lt;Text style={{ fontSize: 16, color: '#4A5568' }}&gt;不是「用 AI 做养殖」，而是三个能被反复追问的具体问题&lt;/Text&gt;&#10;    &lt;/Box&gt;&#10;&#10;    {/* C 内容区 */}&#10;    &lt;Box style={{ paddingLeft: 40, paddingRight: 40, paddingTop: 20, height: 508, flexDirection: 'column', gap: 14 }}&gt;&#10;&#10;        &lt;Box style={{ flexDirection: 'row', alignItems: 'stretch', gap: 20, height: 132, background: '#F7F9FC', border: '1px solid #D6DCE5', padding: 20 }}&gt;&#10;            &lt;Box style={{ width: 100, justifyContent: 'center', alignItems: 'center' }}&gt;&#10;                &lt;Text style={{ fontSize: 72, fontWeight: 'bold', color: '#1E4FA8', lineHeight: 1 }}&gt;①&lt;/Text&gt;&#10;            &lt;/Box&gt;&#10;            &lt;Box style={{ flex: 1, flexDirection: 'column', justifyContent: 'center', gap: 6 }}&gt;&#10;                &lt;Text style={{ fontSize: 24, fontWeight: 'bold', color: '#1A2230' }}&gt;这个干预的效应量是多少？&lt;/Text&gt;&#10;                &lt;Text style={{ fontSize: 20, color: '#4A5568', lineHeight: 1.5 }}&gt;&#10;                    投喂量、养殖密度、换水频次、增氧时长 —— 在已经发生的观测数据里，改一档会让生长变成什么样。&#10;                &lt;/Text&gt;&#10;            &lt;/Box&gt;&#10;        &lt;/Box&gt;&#10;&#10;        &lt;Box style={{ flexDirection: 'row', alignItems: 'stretch', gap: 20, height: 132, background: '#FFFFFF', border: '1px solid #D6DCE5', padding: 20 }}&gt;&#10;            &lt;Box style={{ width: 100, justifyContent: 'center', alignItems: 'center' }}&gt;&#10;                &lt;Text style={{ fontSize: 72, fontWeight: 'bold', color: '#1E4FA8', lineHeight: 1 }}&gt;②&lt;/Text&gt;&#10;            &lt;/Box&gt;&#10;            &lt;Box style={{ flex: 1, flexDirection: 'column', justifyContent: 'center', gap: 6 }}&gt;&#10;                &lt;Text style={{ fontSize: 24, fontWeight: 'bold', color: '#1A2230' }}&gt;这个数字多脆弱？&lt;/Text&gt;&#10;                &lt;Text style={{ fontSize: 20, color: '#4A5568', lineHeight: 1.5 }}&gt;&#10;                    需要多强的未测混杂，才能把它推到 0。这是唯一能给「结论有多可信」定量的办法。&#10;                &lt;/Text&gt;&#10;            &lt;/Box&gt;&#10;        &lt;/Box&gt;&#10;&#10;        &lt;Box style={{ flexDirection: 'row', alignItems: 'stretch', gap: 20, height: 132, background: '#F7F9FC', border: '1px solid #D6DCE5', padding: 20 }}&gt;&#10;            &lt;Box style={{ width: 100, justifyContent: 'center', alignItems: 'center' }}&gt;&#10;                &lt;Text style={{ fontSize: 72, fontWeight: 'bold', color: '#1E4FA8', lineHeight: 1 }}&gt;③&lt;/Text&gt;&#10;            &lt;/Box&gt;&#10;            &lt;Box style={{ flex: 1, flexDirection: 'column', justifyContent: 'center', gap: 6 }}&gt;&#10;                &lt;Text style={{ fontSize: 24, fontWeight: 'bold', color: '#1A2230' }}&gt;效应在谁身上更大？&lt;/Text&gt;&#10;                &lt;Text style={{ fontSize: 20, color: '#4A5568', lineHeight: 1.5 }}&gt;&#10;                    不同塘型、规模、品种之间的效应差异 —— 以及这个差异能不能被数据支撑到。&#10;                &lt;/Text&gt;&#10;            &lt;/Box&gt;&#10;        &lt;/Box&gt;&#10;&#10;        {/* 底部强调条 */}&#10;        &lt;Box style={{ flexDirection: 'row', alignItems: 'center', gap: 14, paddingLeft: 20, paddingRight: 20, height: 48, background: '#E8EFF8', borderLeft: '4px solid #1E4FA8' }}&gt;&#10;            &lt;Text style={{ fontSize: 20, color: '#1A2230' }}&gt;&#10;                边界：&lt;span style={{ fontWeight: 'bold', color: '#0E3F8C' }}&gt;不产出预测、不推荐投喂量、不做因果发现&lt;/span&gt; —— 只做「估计 + 有效性审计」。&#10;            &lt;/Text&gt;&#10;        &lt;/Box&gt;&#10;&#10;    &lt;/Box&gt;&#10;&#10;    {/* D 页脚 */}&#10;    &lt;Box style={{ paddingLeft: 40, paddingRight: 40, height: 40, flexDirection: 'row', alignItems: 'center', justifyContent: 'space-between' }}&gt;&#10;        &lt;Text style={{ fontSize: 14, color: '#8B97A8' }}&gt;广东海洋大学 · 数学与计算机学院&lt;/Text&gt;&#10;        &lt;Text style={{ fontSize: 14, color: '#1E4FA8' }}&gt;03 / 1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问题与边界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81000" y="7620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我们要回答的三个问题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81000" y="11906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不是「用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做养殖」，而是三个能被反复追问的具体问题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1571625"/>
            <a:ext cx="11430000" cy="12573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04850" y="1790700"/>
            <a:ext cx="6858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400" b="1">
                <a:solidFill>
                  <a:srgbClr val="1E4FA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714500" y="1866900"/>
            <a:ext cx="990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这个干预的效应量是多少？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714500" y="2200275"/>
            <a:ext cx="9906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投喂量、养殖密度、换水频次、增氧时长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在已经发生的观测数据里，改一档会让生长变成什么样。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381000" y="2962275"/>
            <a:ext cx="11430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04850" y="3181350"/>
            <a:ext cx="6858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400" b="1">
                <a:solidFill>
                  <a:srgbClr val="1E4FA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714500" y="3257550"/>
            <a:ext cx="990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这个数字多脆弱？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714500" y="3590925"/>
            <a:ext cx="9906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需要多强的未测混杂，才能把它推到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。这是唯一能给「结论有多可信」定量的办法。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81000" y="4352925"/>
            <a:ext cx="11430000" cy="12573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04850" y="4572000"/>
            <a:ext cx="6858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400" b="1">
                <a:solidFill>
                  <a:srgbClr val="1E4FA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714500" y="4648200"/>
            <a:ext cx="990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效应在谁身上更大？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714500" y="4981575"/>
            <a:ext cx="9906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不同塘型、规模、品种之间的效应差异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以及这个差异能不能被数据支撑到。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19100" y="5743575"/>
            <a:ext cx="11430000" cy="4572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381000" y="5743575"/>
            <a:ext cx="11468100" cy="457200"/>
          </a:xfrm>
          <a:custGeom>
            <a:pathLst>
              <a:path w="1204" h="48">
                <a:moveTo>
                  <a:pt x="0" y="0"/>
                </a:moveTo>
                <a:lnTo>
                  <a:pt x="4" y="0"/>
                </a:lnTo>
                <a:lnTo>
                  <a:pt x="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5857875"/>
            <a:ext cx="7258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边界：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不产出预测、不推荐投喂量、不做因果发现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只做「估计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有效性审计」。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81000" y="63341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数学与计算机学院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353800" y="63341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1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1 问题与边界&lt;/Text&gt;&#13;&#10;        &lt;Text style={{ fontSize: 14, color: '#BFD5EF' }}&gt;F1 · 项目介绍&lt;/Text&gt;&#13;&#10;    &lt;/Box&gt;&#13;&#10;&#13;&#10;    &lt;Box style={{ paddingLeft: 40, paddingRight: 40, paddingTop: 20, flexDirection: 'column', gap: 4 }}&gt;&#13;&#10;        &lt;Text style={{ fontSize: 32, fontWeight: 'bold', color: '#1E4FA8' }}&gt;养殖观测数据里的三个结构性陷阱&lt;/Text&gt;&#13;&#10;        &lt;Text style={{ fontSize: 16, color: '#4A5568' }}&gt;前两个能静态审计；第三个原则上不可检验 —— 这正是本项目的落点&lt;/Text&gt;&#13;&#10;    &lt;/Box&gt;&#13;&#10;&#13;&#10;    &lt;Box style={{ paddingLeft: 40, paddingRight: 40, paddingTop: 16, height: 520, flexDirection: 'row', gap: 24 }}&gt;&#13;&#10;&#13;&#10;        {/* 左栏：三个陷阱 */}&#13;&#10;        &lt;Box style={{ width: 700, flexDirection: 'column', gap: 10 }}&gt;&#13;&#10;&#13;&#10;            &lt;Box style={{ height: 158, background: '#F7F9FC', border: '1px solid #D6DCE5', padding: 14, flexDirection: 'column', gap: 6 }}&gt;&#13;&#10;                &lt;Box style={{ flexDirection: 'row', alignItems: 'center', gap: 12 }}&gt;&#13;&#10;                    &lt;Box style={{ width: 36, height: 36, background: '#1E4FA8', justifyContent: 'center', alignItems: 'center' }}&gt;&#13;&#10;                        &lt;Text style={{ fontSize: 18, fontWeight: 'bold', color: '#FFFFFF' }}&gt;1&lt;/Text&gt;&#13;&#10;                    &lt;/Box&gt;&#13;&#10;                    &lt;Text style={{ fontSize: 24, fontWeight: 'bold', color: '#1A2230' }}&gt;&#13;&#10;                        中介被误当混杂&#13;&#10;                    &lt;/Text&gt;&#13;&#10;                    &lt;Box style={{ paddingLeft: 12, paddingRight: 12, height: 26, background: '#E8EFF8', borderRadius: 13, justifyContent: 'center' }}&gt;&#13;&#10;                        &lt;Text style={{ fontSize: 14, color: '#1E4FA8' }}&gt;可静态审计&lt;/Text&gt;&#13;&#10;                    &lt;/Box&gt;&#13;&#10;                &lt;/Box&gt;&#13;&#10;                &lt;Text style={{ fontSize: 22, color: '#4A5568', lineHeight: 1.45 }}&gt;&#13;&#10;                    &lt;span style={{ fontWeight: 'bold', color: '#1A2230' }}&gt;水质退化&lt;/span&gt;既是投喂的结果，又是生长的原因。&#13;&#10;                    调整它只估到直接效应，&lt;span style={{ fontWeight: 'bold', color: '#D9534F' }}&gt;低估总效应&lt;/span&gt;。&#13;&#10;                &lt;/Text&gt;&#13;&#10;            &lt;/Box&gt;&#13;&#10;&#13;&#10;            &lt;Box style={{ height: 158, background: '#F7F9FC', border: '1px solid #D6DCE5', padding: 14, flexDirection: 'column', gap: 6 }}&gt;&#13;&#10;                &lt;Box style={{ flexDirection: 'row', alignItems: 'center', gap: 12 }}&gt;&#13;&#10;                    &lt;Box style={{ width: 36, height: 36, background: '#1E4FA8', justifyContent: 'center', alignItems: 'center' }}&gt;&#13;&#10;                        &lt;Text style={{ fontSize: 18, fontWeight: 'bold', color: '#FFFFFF' }}&gt;2&lt;/Text&gt;&#13;&#10;                    &lt;/Box&gt;&#13;&#10;                    &lt;Text style={{ fontSize: 24, fontWeight: 'bold', color: '#1A2230' }}&gt;&#13;&#10;                        碰撞被误当混杂&#13;&#10;                    &lt;/Text&gt;&#13;&#10;                    &lt;Box style={{ paddingLeft: 12, paddingRight: 12, height: 26, background: '#E8EFF8', borderRadius: 13, justifyContent: 'center' }}&gt;&#13;&#10;                        &lt;Text style={{ fontSize: 14, color: '#1E4FA8' }}&gt;可静态审计&lt;/Text&gt;&#13;&#10;                    &lt;/Box&gt;&#13;&#10;                &lt;/Box&gt;&#13;&#10;                &lt;Text style={{ fontSize: 22, color: '#4A5568', lineHeight: 1.45 }}&gt;&#13;&#10;                    &lt;span style={{ fontWeight: 'bold', color: '#1A2230' }}&gt;饲料系数&lt;/span&gt;＝投喂量 ÷ 增重，分子含干预、分母含结果。&#13;&#10;                    调整它打开后门通路，&lt;span style={{ fontWeight: 'bold', color: '#D9534F' }}&gt;效应被严重放大&lt;/span&gt;。&#13;&#10;                &lt;/Text&gt;&#13;&#10;            &lt;/Box&gt;&#13;&#10;&#13;&#10;            &lt;Box style={{ height: 158, background: '#F7F9FC', border: '1px solid #D9534F', padding: 14, flexDirection: 'column', gap: 6 }}&gt;&#13;&#10;                &lt;Box style={{ flexDirection: 'row', alignItems: 'center', gap: 12 }}&gt;&#13;&#10;                    &lt;Box style={{ width: 36, height: 36, background: '#D9534F', justifyContent: 'center', alignItems: 'center' }}&gt;&#13;&#10;                        &lt;Text style={{ fontSize: 18, fontWeight: 'bold', color: '#FFFFFF' }}&gt;3&lt;/Text&gt;&#13;&#10;                    &lt;/Box&gt;&#13;&#10;                    &lt;Text style={{ fontSize: 24, fontWeight: 'bold', color: '#1A2230' }}&gt;&#13;&#10;                        未测混杂不可检验&#13;&#10;                    &lt;/Text&gt;&#13;&#10;                    &lt;Box style={{ paddingLeft: 12, paddingRight: 12, height: 26, background: '#FBE9E8', borderRadius: 13, justifyContent: 'center' }}&gt;&#13;&#10;                        &lt;Text style={{ fontSize: 14, color: '#D9534F' }}&gt;无统计量能告警&lt;/Text&gt;&#13;&#10;                    &lt;/Box&gt;&#13;&#10;                &lt;/Box&gt;&#13;&#10;                &lt;Text style={{ fontSize: 22, color: '#4A5568', lineHeight: 1.45 }}&gt;&#13;&#10;                    虾的摄食状态同时影响投喂与生长，但&lt;span style={{ fontWeight: 'bold', color: '#D9534F' }}&gt;测不到&lt;/span&gt;。&#13;&#10;                    估计有偏，&lt;b&gt;却没有任何统计量报警&lt;/b&gt;。&#13;&#10;                &lt;/Text&gt;&#13;&#10;            &lt;/Box&gt;&#13;&#10;&#13;&#10;        &lt;/Box&gt;&#13;&#10;&#13;&#10;        {/* 右栏：DAG 因果图 + 结论 */}&#13;&#10;        &lt;Box style={{ width: 476, flexDirection: 'column', gap: 14 }}&gt;&#13;&#10;&#13;&#10;            &lt;Box style={{ height: 268, background: '#FFFFFF', border: '1px solid #D6DCE5', padding: 14, flexDirection: 'column' }}&gt;&#13;&#10;                &lt;Text style={{ fontSize: 18, fontWeight: 'bold', color: '#1E4FA8', marginBottom: 4 }}&gt;因果结构示意&lt;/Text&gt;&#13;&#10;                &lt;svg width={440} height={208} viewBox='0 0 440 250'&gt;&#13;&#10;                    {/* 中介路径 */}&#13;&#10;                    &lt;text x='0' y='16' fontSize='14' fill='#1E4FA8' fontWeight='bold'&gt;中介 M（须调整吗？不）&lt;/text&gt;&#13;&#10;                    &lt;circle cx='40' cy='60' r='20' fill='#E8EFF8' stroke='#1E4FA8' strokeWidth='2' /&gt;&#13;&#10;                    &lt;text x='40' y='66' fontSize='15' fill='#1A2230' textAnchor='middle'&gt;T&lt;/text&gt;&#13;&#10;                    &lt;circle cx='200' cy='60' r='20' fill='#E8EFF8' stroke='#1E4FA8' strokeWidth='2' /&gt;&#13;&#10;                    &lt;text x='200' y='66' fontSize='15' fill='#1A2230' textAnchor='middle'&gt;M&lt;/text&gt;&#13;&#10;                    &lt;circle cx='360' cy='60' r='20' fill='#E8EFF8' stroke='#1E4FA8' strokeWidth='2' /&gt;&#13;&#10;                    &lt;text x='360' y='66' fontSize='15' fill='#1A2230' textAnchor='middle'&gt;Y&lt;/text&gt;&#13;&#10;                    &lt;line x1='60' y1='60' x2='180' y2='60' stroke='#3D7BD9' strokeWidth='2' /&gt;&#13;&#10;                    &lt;line x1='220' y1='60' x2='340' y2='60' stroke='#3D7BD9' strokeWidth='2' /&gt;&#13;&#10;                    &lt;line x1='48' y1='78' x2='352' y2='78' stroke='#D9534F' strokeWidth='2' strokeDasharray='6 4' /&gt;&#13;&#10;                    &lt;text x='200' y='96' fontSize='13' fill='#D9534F' textAnchor='middle'&gt;T → Y 总效应（含经 M 的通路）&lt;/text&gt;&#13;&#10;&#13;&#10;                    {/* 碰撞 */}&#13;&#10;                    &lt;text x='0' y='140' fontSize='14' fill='#1E4FA8' fontWeight='bold'&gt;碰撞 C（须调整吗？绝不）&lt;/text&gt;&#13;&#10;                    &lt;circle cx='40' cy='184' r='20' fill='#E8EFF8' stroke='#1E4FA8' strokeWidth='2' /&gt;&#13;&#10;                    &lt;text x='40' y='190' fontSize='15' fill='#1A2230' textAnchor='middle'&gt;T&lt;/text&gt;&#13;&#10;                    &lt;circle cx='200' cy='184' r='20' fill='#FBE9E8' stroke='#D9534F' strokeWidth='2' /&gt;&#13;&#10;                    &lt;text x='200' y='190' fontSize='15' fill='#1A2230' textAnchor='middle'&gt;C&lt;/text&gt;&#13;&#10;                    &lt;circle cx='360' cy='184' r='20' fill='#E8EFF8' stroke='#1E4FA8' strokeWidth='2' /&gt;&#13;&#10;                    &lt;text x='360' y='190' fontSize='15' fill='#1A2230' textAnchor='middle'&gt;Y&lt;/text&gt;&#13;&#10;                    &lt;line x1='58' y1='178' x2='182' y2='178' stroke='#D9534F' strokeWidth='2' /&gt;&#13;&#10;                    &lt;polygon points='182,178 172,173 172,183' fill='#D9534F' /&gt;&#13;&#10;                    &lt;line x1='218' y1='178' x2='342' y2='178' stroke='#D9534F' strokeWidth='2' /&gt;&#13;&#10;                    &lt;polygon points='218,178 228,173 228,183' fill='#D9534F' /&gt;&#13;&#10;                    &lt;text x='200' y='226' fontSize='13' fill='#D9534F' textAnchor='middle'&gt;调整 C 会「造出」一条本不存在的 T–Y 关联&lt;/text&gt;&#13;&#10;                &lt;/svg&gt;&#13;&#10;            &lt;/Box&gt;&#13;&#10;&#13;&#10;            {/* 深蓝实色卡（全篇 3 张之一） */}&#13;&#10;            &lt;Box style={{ height: 222, background: '#0E3F8C', padding: 20, flexDirection: 'column', gap: 10, justifyContent: 'center' }}&gt;&#13;&#10;                &lt;Text style={{ fontSize: 24, fontWeight: 'bold', color: '#FFFFFF', lineHeight: 1.4 }}&gt;&#13;&#10;                    为什么这是真问题&#13;&#10;                &lt;/Text&gt;&#13;&#10;                &lt;Text style={{ fontSize: 22, color: '#BFD5EF', lineHeight: 1.45 }}&gt;&#13;&#10;                    前两个陷阱看变量名就能判定；第三个不可检验，只能做敏感性分析并如实披露。&#13;&#10;                    &lt;br /&gt;&#13;&#10;                    所以产出是&lt;span style={{ color: '#FFC107', fontWeight: 'bold' }}&gt;效应值 + 它的有效边界&lt;/span&gt;。&#13;&#10;                &lt;/Text&gt;&#13;&#10;            &lt;/Box&gt;&#13;&#10;&#13;&#10;        &lt;/Box&gt;&#13;&#10;    &lt;/Box&gt;&#13;&#10;&#13;&#10;    &lt;Box style={{ paddingLeft: 40, paddingRight: 40, height: 40, flexDirection: 'row', alignItems: 'center', justifyContent: 'space-between' }}&gt;&#13;&#10;        &lt;Text style={{ fontSize: 14, color: '#8B97A8' }}&gt;广东海洋大学 · 数学与计算机学院　｜　因果结构为本项目合成设定，非真实塘口实测&lt;/Text&gt;&#13;&#10;        &lt;Text style={{ fontSize: 14, color: '#1E4FA8' }}&gt;04 / 12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问题与边界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养殖观测数据里的三个结构性陷阱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前两个能静态审计；第三个原则上不可检验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这正是本项目的落点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81000" y="1476375"/>
            <a:ext cx="6667500" cy="1504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14350" y="160972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28650" y="16764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71550" y="164782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中介被误当混杂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2686050" y="16573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800350" y="17049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可静态审计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14350" y="2009775"/>
            <a:ext cx="640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水质退化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既是投喂的结果，又是生长的原因。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调整它只估到直接效应，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低估总效应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381000" y="3076575"/>
            <a:ext cx="6667500" cy="1504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514350" y="320992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28650" y="32766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71550" y="324802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碰撞被误当混杂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2686050" y="32575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2800350" y="33051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可静态审计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14350" y="3609975"/>
            <a:ext cx="640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饲料系数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＝投喂量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增重，分子含干预、分母含结果。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调整它打开后门通路，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效应被严重放大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81000" y="4676775"/>
            <a:ext cx="6667500" cy="1504950"/>
          </a:xfrm>
          <a:prstGeom prst="rect">
            <a:avLst/>
          </a:prstGeom>
          <a:solidFill>
            <a:srgbClr val="F7F9FC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514350" y="4810125"/>
            <a:ext cx="342900" cy="3429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28650" y="48768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71550" y="4848225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未测混杂不可检验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2914650" y="48577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FBE9E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028950" y="49053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无统计量能告警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14350" y="5210175"/>
            <a:ext cx="640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虾的摄食状态同时影响投喂与生长，但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测不到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估计有偏，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却没有任何统计量报警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7277100" y="1476375"/>
            <a:ext cx="4533900" cy="255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410450" y="1609725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因果结构示意</a:t>
            </a:r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10450" y="1857375"/>
            <a:ext cx="4191000" cy="1981200"/>
          </a:xfrm>
          <a:prstGeom prst="rect">
            <a:avLst/>
          </a:prstGeom>
          <a:ln/>
        </p:spPr>
      </p:pic>
      <p:sp>
        <p:nvSpPr>
          <p:cNvPr id="222" name=""/>
          <p:cNvSpPr/>
          <p:nvPr/>
        </p:nvSpPr>
        <p:spPr>
          <a:xfrm rot="0" flipH="0" flipV="0">
            <a:off x="7277100" y="4162425"/>
            <a:ext cx="4533900" cy="21145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467600" y="4429125"/>
            <a:ext cx="41529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为什么这是真问题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467600" y="4914900"/>
            <a:ext cx="41529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前两个陷阱看变量名就能判定；第三个不可检验，只能做敏感性分析并如实披露。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所以产出是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效应值</a:t>
            </a: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> + 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它的有效边界</a:t>
            </a: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504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数学与计算机学院　｜　因果结构为本项目合成设定，非真实塘口实测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27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1 问题与边界&lt;/Text&gt;&#13;&#10;        &lt;Text style={{ fontSize: 14, color: '#BFD5EF' }}&gt;F1 · 项目介绍&lt;/Text&gt;&#13;&#10;    &lt;/Box&gt;&#13;&#10;&#13;&#10;    &lt;Box style={{ paddingLeft: 40, paddingRight: 40, paddingTop: 20, flexDirection: 'column', gap: 4 }}&gt;&#13;&#10;        &lt;Text style={{ fontSize: 32, fontWeight: 'bold', color: '#1E4FA8' }}&gt;和同类工作比，差在哪&lt;/Text&gt;&#13;&#10;        &lt;Text style={{ fontSize: 16, color: '#4A5568' }}&gt;差异化的落点是「识别有效性的可审计化」，不是「做因果推断」&lt;/Text&gt;&#13;&#10;    &lt;/Box&gt;&#13;&#10;&#13;&#10;    &lt;Box style={{ paddingLeft: 40, paddingRight: 40, paddingTop: 16, height: 520, flexDirection: 'column', gap: 14 }}&gt;&#13;&#10;&#13;&#10;        &lt;Table&#13;&#10;            style={{ width: '100%', height: 362 }}&#13;&#10;            defaultTextStyle={{ fontSize: 18, textAlign: 'left', color: '#1A2230' }}&#13;&#10;            defaultCellStyle={{&#13;&#10;                border: {&#13;&#10;                    left: { width: 1, color: '#D6DCE5' },&#13;&#10;                    right: { width: 1, color: '#D6DCE5' },&#13;&#10;                    top: { width: 1, color: '#D6DCE5' },&#13;&#10;                    bottom: { width: 1, color: '#D6DCE5' },&#13;&#10;                },&#13;&#10;            }}&#13;&#10;            cells={[&#13;&#10;                [&#13;&#10;                    { text: '对比对象', textStyle: { bold: true, color: '#FFFFFF' }, cellStyle: { background: { color: '#1E4FA8' } } },&#13;&#10;                    { text: '它做的是', textStyle: { bold: true, color: '#FFFFFF' }, cellStyle: { background: { color: '#1E4FA8' } } },&#13;&#10;                    { text: '本项目做的是', textStyle: { bold: true, color: '#FFFFFF' }, cellStyle: { background: { color: '#1E4FA8' } } },&#13;&#10;                ],&#13;&#10;                [&#13;&#10;                    { text: '同城学生团队（虾塘投喂类）', textStyle: { bold: true } },&#13;&#10;                    '残饵识别 → 投喂决策 → 投饵机执行（预测 + 控制）',&#13;&#10;                    { text: '不问「该投多少」，问「投喂量的效应是什么、这个判断何时失效」', textStyle: { color: '#0E3F8C' } },&#13;&#10;                ],&#13;&#10;                [&#13;&#10;                    { text: '受控析因实验', cellStyle: { background: { color: '#F7F9FC' } }, textStyle: { bold: true, color: '#1A2230' } },&#13;&#10;                    { text: '随机化，因果结论干净', cellStyle: { background: { color: '#F7F9FC' } } },&#13;&#10;                    { text: '在真实塘口的观测数据上估计，并显式写出识别假设与推翻条件', cellStyle: { background: { color: '#F7F9FC' } }, textStyle: { color: '#0E3F8C' } },&#13;&#10;                ],&#13;&#10;                [&#13;&#10;                    { text: '生产函数回归 / PSM-DID', textStyle: { bold: true } },&#13;&#10;                    '有因果意图，但方法停在常规水平，未处理内生性',&#13;&#10;                    { text: '正交化估计（DML / DR / TMLE）+ 敏感性分析', textStyle: { color: '#0E3F8C' } },&#13;&#10;                ],&#13;&#10;                [&#13;&#10;                    { text: '文献元分析', cellStyle: { background: { color: '#F7F9FC' } }, textStyle: { bold: true, color: '#1A2230' } },&#13;&#10;                    { text: '文献层聚合出的平均效应', cellStyle: { background: { color: '#F7F9FC' } } },&#13;&#10;                    { text: '个体层条件效应：给定这一塘的数据，效应多大、在什么条件下变大', cellStyle: { background: { color: '#F7F9FC' } }, textStyle: { color: '#0E3F8C' } },&#13;&#10;                ],&#13;&#10;                [&#13;&#10;                    { text: '相邻方法型方向（可复现性审计等）', textStyle: { bold: true } },&#13;&#10;                    '管「结论能不能重跑出来」',&#13;&#10;                    { text: '管「跑出来的到底是不是因果量」', textStyle: { color: '#0E3F8C' } },&#13;&#10;                ],&#13;&#10;            ]}&#13;&#10;        /&gt;&#13;&#10;&#13;&#10;        &lt;Box style={{ flexDirection: 'row', gap: 14, height: 128 }}&gt;&#13;&#10;            &lt;Box style={{ flex: 1, background: '#E8EFF8', borderLeft: '4px solid #1E4FA8', padding: 16, flexDirection: 'column', gap: 6, justifyContent: 'center' }}&gt;&#13;&#10;                &lt;Text style={{ fontSize: 19, fontWeight: 'bold', color: '#0E3F8C' }}&gt;立项依据：能力差异型&lt;/Text&gt;&#13;&#10;                &lt;Text style={{ fontSize: 22, color: '#4A5568', lineHeight: 1.45 }}&gt;&#13;&#10;                    「我能做，因为具备识别有效性的自检纪律」—— 不是「因为没人做过」。&#13;&#10;                &lt;/Text&gt;&#13;&#10;            &lt;/Box&gt;&#13;&#10;            &lt;Box style={{ width: 300, background: '#FFFFFF', border: '1px solid #D6DCE5', padding: 16, flexDirection: 'column', gap: 6, justifyContent: 'center' }}&gt;&#13;&#10;                &lt;Text style={{ fontSize: 19, fontWeight: 'bold', color: '#1A2230' }}&gt;空白型依据占比&lt;/Text&gt;&#13;&#10;                &lt;Text style={{ fontSize: 42, fontWeight: 'bold', color: '#1E4FA8', lineHeight: 1 }}&gt;0%&lt;/Text&gt;&#13;&#10;            &lt;/Box&gt;&#13;&#10;        &lt;/Box&gt;&#13;&#10;&#13;&#10;    &lt;/Box&gt;&#13;&#10;&#13;&#10;    &lt;Box style={{ paddingLeft: 40, paddingRight: 40, height: 40, flexDirection: 'row', alignItems: 'center', justifyContent: 'space-between' }}&gt;&#13;&#10;        &lt;Text style={{ fontSize: 14, color: '#8B97A8' }}&gt;对比结论基于在【2026-09 前】所及检索范围内的公开资料，不代表他人未在做同类工作&lt;/Text&gt;&#13;&#10;        &lt;Text style={{ fontSize: 14, color: '#1E4FA8' }}&gt;05 / 12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问题与边界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和同类工作比，差在哪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差异化的落点是「识别有效性的可审计化」，不是「做因果推断」</a:t>
            </a:r>
            <a:endParaRPr/>
          </a:p>
        </p:txBody>
      </p:sp>
      <p:graphicFrame>
        <p:nvGraphicFramePr>
          <p:cNvPr id="234" name=""/>
          <p:cNvGraphicFramePr/>
          <p:nvPr/>
        </p:nvGraphicFramePr>
        <p:xfrm rot="0" flipH="0" flipV="0">
          <a:off x="381000" y="1476375"/>
          <a:ext cx="11430000" cy="3448050"/>
        </p:xfrm>
        <a:graphic>
          <a:graphicData uri="http://schemas.openxmlformats.org/drawingml/2006/table">
            <a:tbl>
              <a:tblGrid>
                <a:gridCol w="2655815">
                  <a:extLst>
                    <a:ext uri="{9D8B030D-6E8A-4147-A177-3AD203B41FA5}">
                      <a16:colId val="1"/>
                    </a:ext>
                  </a:extLst>
                </a:gridCol>
                <a:gridCol w="3869494">
                  <a:extLst>
                    <a:ext uri="{9D8B030D-6E8A-4147-A177-3AD203B41FA5}">
                      <a16:colId val="2"/>
                    </a:ext>
                  </a:extLst>
                </a:gridCol>
                <a:gridCol w="490469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2095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对比对象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它做的是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本项目做的是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2839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同城学生团队（虾塘投喂类）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残饵识别 → 投喂决策 → 投饵机执行（预测 + 控制）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不问「该投多少」，问「投喂量的效应是什么、这个判断何时失效」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2095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受控析因实验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随机化，因果结论干净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在真实塘口的观测数据上估计，并显式写出识别假设与推翻条件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2095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生产函数回归 / PSM-DID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有因果意图，但方法停在常规水平，未处理内生性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正交化估计（DML / DR / TMLE）+ 敏感性分析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2839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文献元分析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文献层聚合出的平均效应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个体层条件效应：给定这一塘的数据，效应多大、在什么条件下变大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2839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相邻方法型方向（可复现性审计等）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管「结论能不能重跑出来」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管「跑出来的到底是不是因果量」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35" name=""/>
          <p:cNvSpPr/>
          <p:nvPr/>
        </p:nvSpPr>
        <p:spPr>
          <a:xfrm rot="0" flipH="0" flipV="0">
            <a:off x="419100" y="5057775"/>
            <a:ext cx="8439150" cy="12192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381000" y="5057775"/>
            <a:ext cx="8477250" cy="1219200"/>
          </a:xfrm>
          <a:custGeom>
            <a:pathLst>
              <a:path w="890" h="128">
                <a:moveTo>
                  <a:pt x="0" y="0"/>
                </a:moveTo>
                <a:lnTo>
                  <a:pt x="4" y="0"/>
                </a:lnTo>
                <a:lnTo>
                  <a:pt x="4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71500" y="5343525"/>
            <a:ext cx="809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立项依据：能力差异型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71500" y="5619750"/>
            <a:ext cx="809625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「我能做，因为具备识别有效性的自检纪律」——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不是「因为没人做过」。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953500" y="5057775"/>
            <a:ext cx="28575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105900" y="528637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空白型依据占比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105900" y="5562600"/>
            <a:ext cx="25527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0%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对比结论基于在【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2026-09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前】所及检索范围内的公开资料，不代表他人未在做同类工作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2&lt;/Text&gt;&#10;    &lt;/Box&gt;&#10;&#10;    &lt;Box style={{ width: 820, height: 720, padding: 40, flexDirection: 'column', justifyContent: 'center', gap: 20 }}&gt;&#10;        &lt;Box style={{ width: 80, height: 4, background: '#FFC107' }} /&gt;&#10;        &lt;Text style={{ fontSize: 60, fontWeight: 'bold', color: '#0E3F8C', lineHeight: 1.2 }}&gt;&#10;            方法设计&#10;        &lt;/Text&gt;&#10;        &lt;Text style={{ fontSize: 22, color: '#4A5568', lineHeight: 1.7 }}&gt;&#10;            这一章要回答的是：为什么必须先在&lt;span style={{ fontWeight: 'bold', color: '#1E4FA8' }}&gt;真值已知&lt;/span&gt;的合成数据上&#10;            验证方法，而不是直接上真实塘口数据。&#10;        &lt;/Text&gt;&#10;&#10;        &lt;Box style={{ flexDirection: 'column', gap: 12, marginTop: 8 }}&gt;&#10;            &lt;Box style={{ flexDirection: 'row', alignItems: 'center', gap: 14 }}&gt;&#10;                &lt;Box style={{ width: 10, height: 10, background: '#1E4FA8' }} /&gt;&#10;                &lt;Text style={{ fontSize: 20, color: '#1A2230' }}&gt;七步流程：从数据到结论，每一步都留痕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识别假设台账：刻意排除「已验证」这个状态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报告守卫：不合格的输出直接被拦下来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4762500" y="17907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762500" y="201930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方法设计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这一章要回答的是：为什么必须先在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真值已知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的合成数据上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验证方法，而不是直接上真实塘口数据。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4762500" y="42291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991100" y="41624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七步流程：从数据到结论，每一步都留痕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4762500" y="4572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991100" y="45053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识别假设台账：刻意排除「已验证」这个状态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4762500" y="4914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991100" y="484822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报告守卫：不合格的输出直接被拦下来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7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2 方法设计&lt;/Text&gt;&#13;&#10;        &lt;Text style={{ fontSize: 14, color: '#BFD5EF' }}&gt;F1 · 项目介绍&lt;/Text&gt;&#13;&#10;    &lt;/Box&gt;&#13;&#10;&#13;&#10;    &lt;Box style={{ paddingLeft: 40, paddingRight: 40, paddingTop: 20, flexDirection: 'column', gap: 4 }}&gt;&#13;&#10;        &lt;Text style={{ fontSize: 32, fontWeight: 'bold', color: '#1E4FA8' }}&gt;从数据到结论，要过七道关&lt;/Text&gt;&#13;&#10;        &lt;Text style={{ fontSize: 16, color: '#4A5568' }}&gt;每一步的中间产物都可复核 —— 这是「可审计」的具体含义&lt;/Text&gt;&#13;&#10;    &lt;/Box&gt;&#13;&#10;&#13;&#10;    &lt;Box style={{ paddingLeft: 40, paddingRight: 40, paddingTop: 16, height: 520, flexDirection: 'row', gap: 24 }}&gt;&#13;&#10;&#13;&#10;        {/* 左：七节点竖向流程 SVG */}&#13;&#10;        &lt;Box style={{ width: 470, background: '#F7F9FC', border: '1px solid #D6DCE5', padding: 16, flexDirection: 'column' }}&gt;&#13;&#10;            &lt;Text style={{ fontSize: 18, fontWeight: 'bold', color: '#1E4FA8', marginBottom: 6 }}&gt;处理链路&lt;/Text&gt;&#13;&#10;            &lt;svg width={434} height={420} viewBox='0 0 434 420'&gt;&#13;&#10;                &lt;line x1='26' y1='26' x2='26' y2='394' stroke='#D6DCE5' strokeWidth='2' /&gt;&#13;&#10;&#13;&#10;                &lt;circle cx='26' cy='26' r='10' fill='#1E4FA8' /&gt;&#13;&#10;                &lt;text x='50' y='24' fontSize='16' fill='#1A2230' fontWeight='bold'&gt;角色审计&lt;/text&gt;&#13;&#10;                &lt;text x='50' y='43' fontSize='13' fill='#8B97A8'&gt;谁是混杂 / 中介 / 碰撞&lt;/text&gt;&#13;&#10;&#13;&#10;                &lt;circle cx='26' cy='79' r='10' fill='#3D7BD9' /&gt;&#13;&#10;                &lt;text x='50' y='77' fontSize='16' fill='#1A2230' fontWeight='bold'&gt;正性诊断&lt;/text&gt;&#13;&#10;                &lt;text x='50' y='96' fontSize='13' fill='#8B97A8'&gt;有没有共同支撑&lt;/text&gt;&#13;&#10;&#13;&#10;                &lt;circle cx='26' cy='132' r='10' fill='#3D7BD9' /&gt;&#13;&#10;                &lt;text x='50' y='130' fontSize='16' fill='#1A2230' fontWeight='bold'&gt;效应估计&lt;/text&gt;&#13;&#10;                &lt;text x='50' y='149' fontSize='13' fill='#8B97A8'&gt;双重稳健 + 交叉拟合&lt;/text&gt;&#13;&#10;&#13;&#10;                &lt;circle cx='26' cy='185' r='10' fill='#3D7BD9' /&gt;&#13;&#10;                &lt;text x='50' y='183' fontSize='16' fill='#1A2230' fontWeight='bold'&gt;剂量-反应曲线&lt;/text&gt;&#13;&#10;                &lt;text x='50' y='202' fontSize='13' fill='#8B97A8'&gt;效应随干预档位怎么变&lt;/text&gt;&#13;&#10;&#13;&#10;                &lt;circle cx='26' cy='238' r='10' fill='#3D7BD9' /&gt;&#13;&#10;                &lt;text x='50' y='236' fontSize='16' fill='#1A2230' fontWeight='bold'&gt;敏感性分析&lt;/text&gt;&#13;&#10;                &lt;text x='50' y='255' fontSize='13' fill='#8B97A8'&gt;多强的混杂才能推翻结论&lt;/text&gt;&#13;&#10;&#13;&#10;                &lt;circle cx='26' cy='291' r='13' fill='#0E3F8C' /&gt;&#13;&#10;                &lt;text x='50' y='289' fontSize='16' fill='#0E3F8C' fontWeight='bold'&gt;识别假设台账&lt;/text&gt;&#13;&#10;                &lt;text x='50' y='308' fontSize='13' fill='#8B97A8'&gt;逐条标注核验状态&lt;/text&gt;&#13;&#10;&#13;&#10;                &lt;circle cx='26' cy='344' r='13' fill='#0E3F8C' /&gt;&#13;&#10;                &lt;text x='50' y='342' fontSize='16' fill='#0E3F8C' fontWeight='bold'&gt;报告守卫&lt;/text&gt;&#13;&#10;                &lt;text x='50' y='361' fontSize='13' fill='#8B97A8'&gt;不合格输出直接拦截&lt;/text&gt;&#13;&#10;&#13;&#10;                &lt;rect x='0' y='392' width='434' height='28' fill='#E8EFF8' rx='4' /&gt;&#13;&#10;                &lt;text x='217' y='411' fontSize='14' fill='#1E4FA8' textAnchor='middle' fontWeight='bold'&gt;效应值 + 它的有效边界&lt;/text&gt;&#13;&#10;            &lt;/svg&gt;&#13;&#10;        &lt;/Box&gt;&#13;&#10;&#13;&#10;        {/* 右：要点卡片 */}&#13;&#10;        &lt;Box style={{ width: 706, flexDirection: 'column', gap: 14 }}&gt;&#13;&#10;&#13;&#10;            &lt;Box style={{ height: 168, background: '#FFFFFF', border: '1px solid #D6DCE5', padding: 12, flexDirection: 'column', gap: 6 }}&gt;&#13;&#10;                &lt;Text style={{ fontSize: 24, fontWeight: 'bold', color: '#1A2230' }}&gt;为什么必须先用合成数据&lt;/Text&gt;&#13;&#10;                &lt;Text style={{ fontSize: 22, color: '#4A5568', lineHeight: 1.45 }}&gt;&#13;&#10;                    因果推断的根本困难是&lt;b&gt;无法验证&lt;/b&gt;。我们先造一个真值已知的世界：&#13;&#10;                    写出显式因果结构，让平均效应可&lt;b&gt;解析计算&lt;/b&gt;，&#13;&#10;                    从而把「偏了多少」变成可测量的数字。&#13;&#10;                &lt;/Text&gt;&#13;&#10;            &lt;/Box&gt;&#13;&#10;&#13;&#10;            &lt;Box style={{ height: 168, background: '#F7F9FC', border: '1px solid #D6DCE5', padding: 12, flexDirection: 'column', gap: 6 }}&gt;&#13;&#10;                &lt;Text style={{ fontSize: 24, fontWeight: 'bold', color: '#1A2230' }}&gt;★ 台账为什么禁止写「已验证」&lt;/Text&gt;&#13;&#10;                &lt;Text style={{ fontSize: 22, color: '#4A5568', lineHeight: 1.45 }}&gt;&#13;&#10;                    识别假设（尤其「无未测混杂」）&lt;b&gt;原则上不可被数据证实&lt;/b&gt;。&#13;&#10;                    允许写「已验证」会诱导虚假确定性，故状态只有&#13;&#10;                    &lt;span style={{ color: '#1E4FA8', fontWeight: 'bold' }}&gt;未核实 / 部分核实 / 已违背 / 不适用&lt;/span&gt; 四种。&#13;&#10;                &lt;/Text&gt;&#13;&#10;            &lt;/Box&gt;&#13;&#10;&#13;&#10;            &lt;Box style={{ height: 78, background: '#0E3F8C', padding: 14, flexDirection: 'row', alignItems: 'center', gap: 14 }}&gt;&#13;&#10;                &lt;Text style={{ fontSize: 34, fontWeight: 'bold', color: '#FFC107', lineHeight: 1 }}&gt;7&lt;/Text&gt;&#13;&#10;                &lt;Text style={{ fontSize: 22, color: '#FFFFFF', lineHeight: 1.35, flex: 1 }}&gt;&#13;&#10;                    道关全过才输出。&lt;b&gt;一个「看起来合理」的假数字，比显式空缺危险得多。&lt;/b&gt;&#13;&#10;                &lt;/Text&gt;&#13;&#10;            &lt;/Box&gt;&#13;&#10;&#13;&#10;            &lt;Box style={{ height: 48, background: '#E8EFF8', borderLeft: '4px solid #1E4FA8', paddingLeft: 16, flexDirection: 'row', alignItems: 'center' }}&gt;&#13;&#10;                &lt;Text style={{ fontSize: 22, color: '#4A5568' }}&gt;&#13;&#10;                    【合成】流程在合成数据上验证；真实数据通道尚未落实。&#13;&#10;                &lt;/Text&gt;&#13;&#10;            &lt;/Box&gt;&#13;&#10;&#13;&#10;        &lt;/Box&gt;&#13;&#10;    &lt;/Box&gt;&#13;&#10;&#13;&#10;    &lt;Box style={{ paddingLeft: 40, paddingRight: 40, height: 40, flexDirection: 'row', alignItems: 'center', justifyContent: 'space-between' }}&gt;&#13;&#10;        &lt;Text style={{ fontSize: 14, color: '#8B97A8' }}&gt;广东海洋大学 · 数学与计算机学院&lt;/Text&gt;&#13;&#10;        &lt;Text style={{ fontSize: 14, color: '#1E4FA8' }}&gt;07 / 12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02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方法设计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从数据到结论，要过七道关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每一步的中间产物都可复核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这是「可审计」的具体含义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81000" y="1476375"/>
            <a:ext cx="4476750" cy="480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33400" y="1628775"/>
            <a:ext cx="4171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处理链路</a:t>
            </a:r>
            <a:endParaRPr/>
          </a:p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895475"/>
            <a:ext cx="4133850" cy="4000500"/>
          </a:xfrm>
          <a:prstGeom prst="rect">
            <a:avLst/>
          </a:prstGeom>
          <a:ln/>
        </p:spPr>
      </p:pic>
      <p:sp>
        <p:nvSpPr>
          <p:cNvPr id="267" name=""/>
          <p:cNvSpPr/>
          <p:nvPr/>
        </p:nvSpPr>
        <p:spPr>
          <a:xfrm rot="0" flipH="0" flipV="0">
            <a:off x="5086350" y="1476375"/>
            <a:ext cx="672465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200650" y="1590675"/>
            <a:ext cx="6496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为什么必须先用合成数据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200650" y="1924050"/>
            <a:ext cx="649605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因果推断的根本困难是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无法验证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。我们先造一个真值已知的世界：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写出显式因果结构，让平均效应可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解析计算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从而把「偏了多少」变成可测量的数字。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5086350" y="3209925"/>
            <a:ext cx="6724650" cy="1600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200650" y="3324225"/>
            <a:ext cx="6496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★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台账为什么禁止写「已验证」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200650" y="3657600"/>
            <a:ext cx="649605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识别假设（尤其「无未测混杂」）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原则上不可被数据证实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允许写「已验证」会诱导虚假确定性，故状态只有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未核实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部分核实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已违背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不适用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四种。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086350" y="4943475"/>
            <a:ext cx="6724650" cy="7429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219700" y="5124450"/>
            <a:ext cx="20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553075" y="4972050"/>
            <a:ext cx="61245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道关全过才输出。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一个「看起来合理」的假数字，比显式空缺危险得多。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124450" y="5819775"/>
            <a:ext cx="6724650" cy="4572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5086350" y="5819775"/>
            <a:ext cx="6762750" cy="457200"/>
          </a:xfrm>
          <a:custGeom>
            <a:pathLst>
              <a:path w="710" h="48">
                <a:moveTo>
                  <a:pt x="0" y="0"/>
                </a:moveTo>
                <a:lnTo>
                  <a:pt x="4" y="0"/>
                </a:lnTo>
                <a:lnTo>
                  <a:pt x="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276850" y="5924550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【合成】流程在合成数据上验证；真实数据通道尚未落实。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数学与计算机学院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81" name="" descr="&lt;Slide style={{ width: 1280, height: 720, background: '#FFFFFF', flexDirection: 'row' }}&gt;&#10;&#10;    &lt;Box style={{ width: 820, height: 720, padding: 40, flexDirection: 'column', justifyContent: 'center', gap: 20 }}&gt;&#10;        &lt;Box style={{ width: 80, height: 4, background: '#FFC107' }} /&gt;&#10;        &lt;Text style={{ fontSize: 60, fontWeight: 'bold', color: '#0E3F8C', lineHeight: 1.2 }}&gt;&#10;            实验与结论&#10;        &lt;/Text&gt;&#10;        &lt;Text style={{ fontSize: 22, color: '#4A5568', lineHeight: 1.7 }}&gt;&#10;            21 个判定项全部通过。&lt;span style={{ fontWeight: 'bold', color: '#D9534F' }}&gt;但「全部通过」这个结果本身不含信息&lt;/span&gt; ——&#10;            含信息的是修正史。这一章的重点不是报喜，是说清我们改过什么、为什么改。&#10;        &lt;/Text&gt;&#10;&#10;        &lt;Box style={{ flexDirection: 'column', gap: 12, marginTop: 8 }}&gt;&#10;            &lt;Box style={{ flexDirection: 'row', alignItems: 'center', gap: 14 }}&gt;&#10;                &lt;Box style={{ width: 10, height: 10, background: '#1E4FA8' }} /&gt;&#10;                &lt;Text style={{ fontSize: 20, color: '#1A2230' }}&gt;五个实验、两套测试、一套诊断包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18 条修正记录：5 条判据错误、6 条实现缺陷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一条推翻了我们自己的否定性结论&lt;/Text&gt;&#10;            &lt;/Box&gt;&#10;        &lt;/Box&gt;&#10;    &lt;/Box&gt;&#10;&#10;    &lt;Box style={{ width: 460, height: 720, background: '#F0F5FC', justifyContent: 'center', alignItems: 'center' }}&gt;&#10;        &lt;Text style={{ fontSize: 180, fontWeight: 'bold', color: '#1E4FA8', lineHeight: 1 }}&gt;0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381000" y="17907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81000" y="201930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实验与结论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3810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21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个判定项全部通过。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但「全部通过」这个结果本身不含信息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含信息的是修正史。这一章的重点不是报喜，是说清我们改过什么、为什么改。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381000" y="42291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416242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五个实验、两套测试、一套诊断包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81000" y="4572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4505325"/>
            <a:ext cx="3857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18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条修正记录：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条判据错误、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6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条实现缺陷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81000" y="4914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484822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一条推翻了我们自己的否定性结论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781050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9439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94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3 实验与结论&lt;/Text&gt;&#13;&#10;        &lt;Text style={{ fontSize: 14, color: '#BFD5EF' }}&gt;F1 · 项目介绍&lt;/Text&gt;&#13;&#10;    &lt;/Box&gt;&#13;&#10;&#13;&#10;    &lt;Box style={{ paddingLeft: 40, paddingRight: 40, paddingTop: 20, flexDirection: 'column', gap: 4 }}&gt;&#13;&#10;        &lt;Text style={{ fontSize: 32, fontWeight: 'bold', color: '#1E4FA8' }}&gt;21/21 通过，以及它背后的修正史&lt;/Text&gt;&#13;&#10;        &lt;Text style={{ fontSize: 16, color: '#4A5568' }}&gt;报通过数必须连同修正史一起报，否则就是误导&lt;/Text&gt;&#13;&#10;    &lt;/Box&gt;&#13;&#10;&#13;&#10;    &lt;Box style={{ paddingLeft: 40, paddingRight: 40, paddingTop: 16, height: 520, flexDirection: 'row', gap: 20 }}&gt;&#13;&#10;&#13;&#10;        {/* 左：KPI + 判定分布 */}&#13;&#10;        &lt;Box style={{ width: 360, flexDirection: 'column', gap: 12 }}&gt;&#13;&#10;&#13;&#10;            &lt;Box style={{ height: 158, background: '#0E3F8C', padding: 20, flexDirection: 'column', justifyContent: 'center', gap: 4 }}&gt;&#13;&#10;                &lt;Text style={{ fontSize: 16, color: '#8FB4E0' }}&gt;判定项通过率&lt;/Text&gt;&#13;&#10;                &lt;Box style={{ flexDirection: 'row', alignItems: 'flex-end', gap: 8 }}&gt;&#13;&#10;                    &lt;Text style={{ fontSize: 84, fontWeight: 'bold', color: '#FFC107', lineHeight: 0.95 }}&gt;21&lt;/Text&gt;&#13;&#10;                    &lt;Text style={{ fontSize: 36, fontWeight: 'bold', color: '#6E9BD1', lineHeight: 1.3 }}&gt;/21&lt;/Text&gt;&#13;&#10;                &lt;/Box&gt;&#13;&#10;                &lt;Text style={{ fontSize: 15, color: '#BFD5EF' }}&gt;另有不变量测试 19/19 通过&lt;/Text&gt;&#13;&#10;            &lt;/Box&gt;&#13;&#10;&#13;&#10;            &lt;Box style={{ flex: 1, background: '#F7F9FC', border: '1px solid #D6DCE5', padding: 16, flexDirection: 'column', gap: 8 }}&gt;&#13;&#10;                &lt;Text style={{ fontSize: 18, fontWeight: 'bold', color: '#1E4FA8' }}&gt;各实验判定&lt;/Text&gt;&#13;&#10;                &lt;Box style={{ flexDirection: 'row', justifyContent: 'space-between' }}&gt;&#13;&#10;                    &lt;Text style={{ fontSize: 17, color: '#4A5568' }}&gt;估计器无偏性&lt;/Text&gt;&#13;&#10;                    &lt;Text style={{ fontSize: 17, color: '#1A2230', fontWeight: 'bold' }}&gt;3 / 3&lt;/Text&gt;&#13;&#10;                &lt;/Box&gt;&#13;&#10;                &lt;Box style={{ flexDirection: 'row', justifyContent: 'space-between' }}&gt;&#13;&#10;                    &lt;Text style={{ fontSize: 17, color: '#4A5568' }}&gt;正性诊断边界&lt;/Text&gt;&#13;&#10;                    &lt;Text style={{ fontSize: 17, color: '#1A2230', fontWeight: 'bold' }}&gt;4 / 4&lt;/Text&gt;&#13;&#10;                &lt;/Box&gt;&#13;&#10;                &lt;Box style={{ flexDirection: 'row', justifyContent: 'space-between' }}&gt;&#13;&#10;                    &lt;Text style={{ fontSize: 17, color: '#4A5568' }}&gt;坏控制代价&lt;/Text&gt;&#13;&#10;                    &lt;Text style={{ fontSize: 17, color: '#1A2230', fontWeight: 'bold' }}&gt;3 / 3&lt;/Text&gt;&#13;&#10;                &lt;/Box&gt;&#13;&#10;                &lt;Box style={{ flexDirection: 'row', justifyContent: 'space-between' }}&gt;&#13;&#10;                    &lt;Text style={{ fontSize: 17, color: '#4A5568' }}&gt;剂量-反应&lt;/Text&gt;&#13;&#10;                    &lt;Text style={{ fontSize: 17, color: '#1A2230', fontWeight: 'bold' }}&gt;4 / 4&lt;/Text&gt;&#13;&#10;                &lt;/Box&gt;&#13;&#10;                &lt;Box style={{ flexDirection: 'row', justifyContent: 'space-between' }}&gt;&#13;&#10;                    &lt;Text style={{ fontSize: 17, color: '#4A5568' }}&gt;敏感性分析&lt;/Text&gt;&#13;&#10;                    &lt;Text style={{ fontSize: 17, color: '#1A2230', fontWeight: 'bold' }}&gt;5 / 5&lt;/Text&gt;&#13;&#10;                &lt;/Box&gt;&#13;&#10;                &lt;Box style={{ flexDirection: 'row', justifyContent: 'space-between' }}&gt;&#13;&#10;                    &lt;Text style={{ fontSize: 17, color: '#4A5568' }}&gt;测试套件&lt;/Text&gt;&#13;&#10;                    &lt;Text style={{ fontSize: 17, color: '#1A2230', fontWeight: 'bold' }}&gt;2 / 2&lt;/Text&gt;&#13;&#10;                &lt;/Box&gt;&#13;&#10;            &lt;/Box&gt;&#13;&#10;&#13;&#10;            &lt;Box style={{ height: 78, background: '#E8EFF8', borderLeft: '4px solid #D9534F', padding: 14, flexDirection: 'column', justifyContent: 'center' }}&gt;&#13;&#10;                &lt;Text style={{ fontSize: 17, color: '#1A2230', lineHeight: 1.45 }}&gt;&#13;&#10;                    碰撞的破坏力约为中介的 &lt;b style={{ color: '#D9534F' }}&gt;4.5 倍&lt;/b&gt;&#13;&#10;                    &lt;br /&gt;&lt;span style={{ fontSize: 14, color: '#8B97A8' }}&gt;区间 4.02–5.12【合成】&lt;/span&gt;&#13;&#10;                &lt;/Text&gt;&#13;&#10;            &lt;/Box&gt;&#13;&#10;&#13;&#10;        &lt;/Box&gt;&#13;&#10;&#13;&#10;        {/* 右：修正史表格 */}&#13;&#10;        &lt;Box style={{ width: 816, flexDirection: 'column', gap: 12 }}&gt;&#13;&#10;&#13;&#10;            &lt;Box style={{ flexDirection: 'row', alignItems: 'center', gap: 12, height: 40 }}&gt;&#13;&#10;                &lt;Text style={{ fontSize: 22, fontWeight: 'bold', color: '#1A2230' }}&gt;18 条修正记录&lt;/Text&gt;&#13;&#10;                &lt;Box style={{ paddingLeft: 12, paddingRight: 12, height: 28, background: '#FBE9E8', borderRadius: 14, justifyContent: 'center' }}&gt;&#13;&#10;                    &lt;Text style={{ fontSize: 15, color: '#D9534F' }}&gt;含 5 条判据设计错误&lt;/Text&gt;&#13;&#10;                &lt;/Box&gt;&#13;&#10;            &lt;/Box&gt;&#13;&#10;&#13;&#10;            &lt;Table&#13;&#10;                style={{ width: '100%', height: 250 }}&#13;&#10;                defaultTextStyle={{ fontSize: 17, textAlign: 'left', color: '#1A2230' }}&#13;&#10;                defaultCellStyle={{&#13;&#10;                    border: {&#13;&#10;                        left: { width: 1, color: '#D6DCE5' },&#13;&#10;                        right: { width: 1, color: '#D6DCE5' },&#13;&#10;                        top: { width: 1, color: '#D6DCE5' },&#13;&#10;                        bottom: { width: 1, color: '#D6DCE5' },&#13;&#10;                    },&#13;&#10;                }}&#13;&#10;                cells={[&#13;&#10;                    [&#13;&#10;                        { text: '归类', textStyle: { bold: true, color: '#FFFFFF' }, cellStyle: { background: { color: '#1E4FA8' } } },&#13;&#10;                        { text: '条数', textStyle: { bold: true, color: '#FFFFFF' }, cellStyle: { background: { color: '#1E4FA8' } } },&#13;&#10;                        { text: '典型例子', textStyle: { bold: true, color: '#FFFFFF' }, cellStyle: { background: { color: '#1E4FA8' } } },&#13;&#10;                    ],&#13;&#10;                    [&#13;&#10;                        { text: '判据设计错误', textStyle: { bold: true, color: '#D9534F' } },&#13;&#10;                        { text: '5', textStyle: { bold: true, color: '#D9534F' } },&#13;&#10;                        '诊断模块的「结构性空箱」判定，经检验在原理上不可用',&#13;&#10;                    ],&#13;&#10;                    [&#13;&#10;                        { text: '实现缺陷', cellStyle: { background: { color: '#F7F9FC' } }, textStyle: { bold: true, color: '#1A2230' } },&#13;&#10;                        { text: '6', cellStyle: { background: { color: '#F7F9FC' } }, textStyle: { color: '#1A2230' } },&#13;&#10;                        { text: '真值未换算到结果尺度，造成全体估计器常数偏倚', cellStyle: { background: { color: '#F7F9FC' } } },&#13;&#10;                    ],&#13;&#10;                    [&#13;&#10;                        { text: '参数语义 / 下游症状 / 判据过严', textStyle: { bold: true } },&#13;&#10;                        { text: '3' },&#13;&#10;                        '干预参数只平移分布、不截断支撑，无法制造声称的违背',&#13;&#10;                    ],&#13;&#10;                    [&#13;&#10;                        { text: '文档类', cellStyle: { background: { color: '#F7F9FC' } }, textStyle: { bold: true, color: '#1A2230' } },&#13;&#10;                        { text: '4', cellStyle: { background: { color: '#F7F9FC' } }, textStyle: { color: '#1A2230' } },&#13;&#10;                        { text: '路径写错、状态滞后一轮、覆盖缺口披露不完整（收尾阶段发现）', cellStyle: { background: { color: '#F7F9FC' } } },&#13;&#10;                    ],&#13;&#10;                ]}&#13;&#10;            /&gt;&#13;&#10;&#13;&#10;            &lt;Box style={{ flex: 1, background: '#F7F9FC', border: '1px solid #D6DCE5', padding: 16, flexDirection: 'column', gap: 8 }}&gt;&#13;&#10;                &lt;Text style={{ fontSize: 24, fontWeight: 'bold', color: '#1A2230' }}&gt;为什么这些数字必须留着&lt;/Text&gt;&#13;&#10;                &lt;Text style={{ fontSize: 22, color: '#4A5568', lineHeight: 1.45 }}&gt;&#13;&#10;                    含信息的是那些&lt;b&gt;曾经失败的原始数字&lt;/b&gt;。正性诊断第一版在&#13;&#10;                    &lt;b style={{ color: '#D9534F' }}&gt;无任何真实违背&lt;/b&gt;时，20 个种子&lt;b&gt;全部&lt;/b&gt;报阳性 —— 假阳性率 100%。&#13;&#10;                    这个「20/20」比「全部通过」有价值得多。&#13;&#10;                &lt;/Text&gt;&#13;&#10;            &lt;/Box&gt;&#13;&#10;&#13;&#10;        &lt;/Box&gt;&#13;&#10;    &lt;/Box&gt;&#13;&#10;&#13;&#10;    &lt;Box style={{ paddingLeft: 40, paddingRight: 40, height: 40, flexDirection: 'row', alignItems: 'center', justifyContent: 'space-between' }}&gt;&#13;&#10;        &lt;Text style={{ fontSize: 14, color: '#8B97A8' }}&gt;全部数值为【合成】数据实测，见 05-验证/results_exp*.json，不得外推真实塘口&lt;/Text&gt;&#13;&#10;        &lt;Text style={{ fontSize: 14, color: '#1E4FA8' }}&gt;09 / 12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03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实验与结论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21/21 </a:t>
            </a: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通过，以及它背后的修正史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报通过数必须连同修正史一起报，否则就是误导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381000" y="1476375"/>
            <a:ext cx="3429000" cy="15049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71500" y="15525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判定项通过率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71500" y="1781175"/>
            <a:ext cx="990600" cy="91440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6300" b="1">
                <a:solidFill>
                  <a:srgbClr val="FFC107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638300" y="2152650"/>
            <a:ext cx="59055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700" b="1">
                <a:solidFill>
                  <a:srgbClr val="6E9BD1"/>
                </a:solidFill>
                <a:latin typeface="Microsoft YaHei"/>
                <a:ea typeface="Microsoft YaHei"/>
              </a:rPr>
              <a:t>/21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1500" y="2733675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FD5EF"/>
                </a:solidFill>
                <a:latin typeface="Microsoft YaHei"/>
                <a:ea typeface="Microsoft YaHei"/>
              </a:rPr>
              <a:t>另有不变量测试</a:t>
            </a:r>
            <a:r>
              <a:rPr lang="en-US" sz="1125">
                <a:solidFill>
                  <a:srgbClr val="BFD5EF"/>
                </a:solidFill>
                <a:latin typeface="Microsoft YaHei"/>
                <a:ea typeface="Microsoft YaHei"/>
              </a:rPr>
              <a:t> 19/19 </a:t>
            </a:r>
            <a:r>
              <a:rPr lang="zh-CN" sz="1125">
                <a:solidFill>
                  <a:srgbClr val="BFD5EF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81000" y="3095625"/>
            <a:ext cx="3429000" cy="23241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33400" y="324802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各实验判定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33400" y="35337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估计器无偏性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276600" y="3533775"/>
            <a:ext cx="38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3 / 3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33400" y="38100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正性诊断边界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276600" y="3810000"/>
            <a:ext cx="38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4 / 4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33400" y="40862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坏控制代价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276600" y="4086225"/>
            <a:ext cx="38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3 / 3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33400" y="4362450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剂量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-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反应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276600" y="4362450"/>
            <a:ext cx="38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4 / 4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33400" y="46386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敏感性分析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276600" y="4638675"/>
            <a:ext cx="38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5 / 5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33400" y="49149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测试套件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276600" y="4914900"/>
            <a:ext cx="38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2 / 2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19100" y="5534025"/>
            <a:ext cx="3429000" cy="742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381000" y="5534025"/>
            <a:ext cx="3467100" cy="742950"/>
          </a:xfrm>
          <a:custGeom>
            <a:pathLst>
              <a:path w="364" h="78">
                <a:moveTo>
                  <a:pt x="0" y="0"/>
                </a:moveTo>
                <a:lnTo>
                  <a:pt x="4" y="0"/>
                </a:lnTo>
                <a:lnTo>
                  <a:pt x="4" y="78"/>
                </a:lnTo>
                <a:lnTo>
                  <a:pt x="0" y="78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52450" y="5648325"/>
            <a:ext cx="3124200" cy="5143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碰撞的破坏力约为中介的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4.5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倍</a:t>
            </a:r>
            <a:endParaRPr/>
          </a:p>
          <a:p>
            <a:pPr>
              <a:lnSpc>
                <a:spcPct val="145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区间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4.02–5.12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【合成】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000500" y="1543050"/>
            <a:ext cx="1371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18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条修正记录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486400" y="1533525"/>
            <a:ext cx="1543050" cy="266700"/>
          </a:xfrm>
          <a:prstGeom prst="roundRect">
            <a:avLst>
              <a:gd name="adj" fmla="val 50000"/>
            </a:avLst>
          </a:prstGeom>
          <a:solidFill>
            <a:srgbClr val="FBE9E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600700" y="158115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9534F"/>
                </a:solidFill>
                <a:latin typeface="Microsoft YaHei"/>
                <a:ea typeface="Microsoft YaHei"/>
              </a:rPr>
              <a:t>含</a:t>
            </a:r>
            <a:r>
              <a:rPr lang="en-US" sz="1125">
                <a:solidFill>
                  <a:srgbClr val="D9534F"/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D9534F"/>
                </a:solidFill>
                <a:latin typeface="Microsoft YaHei"/>
                <a:ea typeface="Microsoft YaHei"/>
              </a:rPr>
              <a:t>条判据设计错误</a:t>
            </a:r>
            <a:endParaRPr/>
          </a:p>
        </p:txBody>
      </p:sp>
      <p:graphicFrame>
        <p:nvGraphicFramePr>
          <p:cNvPr id="326" name=""/>
          <p:cNvGraphicFramePr/>
          <p:nvPr/>
        </p:nvGraphicFramePr>
        <p:xfrm rot="0" flipH="0" flipV="0">
          <a:off x="4000500" y="1971675"/>
          <a:ext cx="7772400" cy="2381250"/>
        </p:xfrm>
        <a:graphic>
          <a:graphicData uri="http://schemas.openxmlformats.org/drawingml/2006/table">
            <a:tbl>
              <a:tblGrid>
                <a:gridCol w="2444482">
                  <a:extLst>
                    <a:ext uri="{9D8B030D-6E8A-4147-A177-3AD203B41FA5}">
                      <a16:colId val="1"/>
                    </a:ext>
                  </a:extLst>
                </a:gridCol>
                <a:gridCol w="425297">
                  <a:extLst>
                    <a:ext uri="{9D8B030D-6E8A-4147-A177-3AD203B41FA5}">
                      <a16:colId val="2"/>
                    </a:ext>
                  </a:extLst>
                </a:gridCol>
                <a:gridCol w="490262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归类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条数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典型例子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判据设计错误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诊断模块的「结构性空箱」判定，经检验在原理上不可用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实现缺陷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真值未换算到结果尺度，造成全体估计器常数偏倚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参数语义 / 下游症状 / 判据过严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干预参数只平移分布、不截断支撑，无法制造声称的违背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文档类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路径写错、状态滞后一轮、覆盖缺口披露不完整（收尾阶段发现）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27" name=""/>
          <p:cNvSpPr/>
          <p:nvPr/>
        </p:nvSpPr>
        <p:spPr>
          <a:xfrm rot="0" flipH="0" flipV="0">
            <a:off x="4000500" y="4467225"/>
            <a:ext cx="7772400" cy="1809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152900" y="4619625"/>
            <a:ext cx="7467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为什么这些数字必须留着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152900" y="4972050"/>
            <a:ext cx="74676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含信息的是那些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曾经失败的原始数字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。正性诊断第一版在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无任何真实违背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时，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个种子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全部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报阳性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假阳性率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100%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这个「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20/20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」比「全部通过」有价值得多。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全部数值为【合成】数据实测，见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05-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验证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/results_exp*.json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，不得外推真实塘口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2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3 实验与结论&lt;/Text&gt;&#13;&#10;        &lt;Text style={{ fontSize: 14, color: '#BFD5EF' }}&gt;F1 · 项目介绍&lt;/Text&gt;&#13;&#10;    &lt;/Box&gt;&#13;&#10;&#13;&#10;    &lt;Box style={{ paddingLeft: 40, paddingRight: 40, paddingTop: 18, flexDirection: 'column', gap: 4 }}&gt;&#13;&#10;        &lt;Text style={{ fontSize: 32, fontWeight: 'bold', color: '#1E4FA8' }}&gt;最重要的结论，是一个否定性结论&lt;/Text&gt;&#13;&#10;        &lt;Text style={{ fontSize: 16, color: '#4A5568' }}&gt;它推翻了我们自己诊断模块的一个核心设计&lt;/Text&gt;&#13;&#10;    &lt;/Box&gt;&#13;&#10;&#13;&#10;    &lt;Box style={{ paddingLeft: 40, paddingRight: 40, paddingTop: 14, height: 522, flexDirection: 'column', gap: 14 }}&gt;&#13;&#10;&#13;&#10;        {/* 核心金句条 */}&#13;&#10;        &lt;Box style={{ height: 86, background: '#0E3F8C', borderLeft: '6px solid #FFC107', paddingLeft: 24, paddingRight: 24, flexDirection: 'row', alignItems: 'center', gap: 20 }}&gt;&#13;&#10;            &lt;Text style={{ fontSize: 23, color: '#FFFFFF', lineHeight: 1.4, flex: 1 }}&gt;&#13;&#10;                在「全局等频箱 × 分位协变量层」框架下，&#13;&#10;                &lt;span style={{ color: '#FFC107', fontWeight: 'bold' }}&gt;连续干预的机制性正性违背，在原理上无法被诊断&lt;/span&gt;。&#13;&#10;            &lt;/Text&gt;&#13;&#10;        &lt;/Box&gt;&#13;&#10;&#13;&#10;        {/* 三重证据 */}&#13;&#10;        &lt;Box style={{ flexDirection: 'row', gap: 14, height: 216 }}&gt;&#13;&#10;&#13;&#10;            &lt;Box style={{ flex: 1, background: '#F7F9FC', border: '1px solid #D6DCE5', padding: 14, flexDirection: 'column', gap: 6 }}&gt;&#13;&#10;                &lt;Box style={{ flexDirection: 'row', alignItems: 'center', gap: 10 }}&gt;&#13;&#10;                    &lt;Box style={{ width: 28, height: 28, background: '#1E4FA8', justifyContent: 'center', alignItems: 'center' }}&gt;&#13;&#10;                        &lt;Text style={{ fontSize: 16, fontWeight: 'bold', color: '#FFFFFF' }}&gt;1&lt;/Text&gt;&#13;&#10;                    &lt;/Box&gt;&#13;&#10;                    &lt;Text style={{ fontSize: 24, fontWeight: 'bold', color: '#1A2230' }}&gt;放大样本量&lt;/Text&gt;&#13;&#10;                &lt;/Box&gt;&#13;&#10;                &lt;Text style={{ fontSize: 22, color: '#4A5568', lineHeight: 1.4 }}&gt;&#13;&#10;                    样本 3,000 → 48,000，空箱层 &lt;b&gt;4&lt;/b&gt; → &lt;b&gt;0&lt;/b&gt;。&#13;&#10;                &lt;/Text&gt;&#13;&#10;                &lt;Box style={{ flex: 1, justifyContent: 'flex-end' }}&gt;&#13;&#10;                    &lt;Text style={{ fontSize: 22, color: '#1E4FA8', fontWeight: 'bold', lineHeight: 1.35 }}&gt;&#13;&#10;                        ⇒ 机制缺失不会随扩样本消失&#13;&#10;                    &lt;/Text&gt;&#13;&#10;                &lt;/Box&gt;&#13;&#10;            &lt;/Box&gt;&#13;&#10;&#13;&#10;            &lt;Box style={{ flex: 1, background: '#F7F9FC', border: '1px solid #D6DCE5', padding: 14, flexDirection: 'column', gap: 6 }}&gt;&#13;&#10;                &lt;Box style={{ flexDirection: 'row', alignItems: 'center', gap: 10 }}&gt;&#13;&#10;                    &lt;Box style={{ width: 28, height: 28, background: '#1E4FA8', justifyContent: 'center', alignItems: 'center' }}&gt;&#13;&#10;                        &lt;Text style={{ fontSize: 16, fontWeight: 'bold', color: '#FFFFFF' }}&gt;2&lt;/Text&gt;&#13;&#10;                    &lt;/Box&gt;&#13;&#10;                    &lt;Text style={{ fontSize: 24, fontWeight: 'bold', color: '#1A2230' }}&gt;置换零模型&lt;/Text&gt;&#13;&#10;                &lt;/Box&gt;&#13;&#10;                &lt;Text style={{ fontSize: 22, color: '#4A5568', lineHeight: 1.4 }}&gt;&#13;&#10;                    重排干预使 T ⟂ X，正性必然成立：空箱层&#13;&#10;                    &lt;b&gt;4,3,5,2,1&lt;/b&gt; → &lt;b&gt;0,0,0,0,0&lt;/b&gt;。&#13;&#10;                &lt;/Text&gt;&#13;&#10;                &lt;Box style={{ flex: 1, justifyContent: 'flex-end' }}&gt;&#13;&#10;                    &lt;Text style={{ fontSize: 22, color: '#1E4FA8', fontWeight: 'bold', lineHeight: 1.35 }}&gt;&#13;&#10;                        ⇒ 原阳性结果全是伪影&#13;&#10;                    &lt;/Text&gt;&#13;&#10;                &lt;/Box&gt;&#13;&#10;            &lt;/Box&gt;&#13;&#10;&#13;&#10;            &lt;Box style={{ flex: 1, background: '#FBE9E8', border: '2px solid #D9534F', padding: 14, flexDirection: 'column', gap: 6 }}&gt;&#13;&#10;                &lt;Box style={{ flexDirection: 'row', alignItems: 'center', gap: 10 }}&gt;&#13;&#10;                    &lt;Box style={{ width: 28, height: 28, background: '#D9534F', justifyContent: 'center', alignItems: 'center' }}&gt;&#13;&#10;                        &lt;Text style={{ fontSize: 16, fontWeight: 'bold', color: '#FFFFFF' }}&gt;3&lt;/Text&gt;&#13;&#10;                    &lt;/Box&gt;&#13;&#10;                    &lt;Text style={{ fontSize: 24, fontWeight: 'bold', color: '#1A2230' }}&gt;决定性实验&lt;/Text&gt;&#13;&#10;                &lt;/Box&gt;&#13;&#10;                &lt;Text style={{ fontSize: 22, color: '#4A5568', lineHeight: 1.4 }}&gt;&#13;&#10;                    人为&lt;b&gt;硬截断&lt;/b&gt;支撑集，低箱概率&lt;b&gt;恰为 0&lt;/b&gt;：&#13;&#10;                    7,2,1,1,0,0 —— 同样收敛到 0。&#13;&#10;                &lt;/Text&gt;&#13;&#10;                &lt;Box style={{ flex: 1, justifyContent: 'flex-end' }}&gt;&#13;&#10;                    &lt;Text style={{ fontSize: 22, color: '#D9534F', fontWeight: 'bold', lineHeight: 1.35 }}&gt;&#13;&#10;                        ⇒ 连概率为 0 都测不出，是分辨率问题&#13;&#10;                    &lt;/Text&gt;&#13;&#10;                &lt;/Box&gt;&#13;&#10;            &lt;/Box&gt;&#13;&#10;&#13;&#10;        &lt;/Box&gt;&#13;&#10;&#13;&#10;        {/* 根因 + 修法 */}&#13;&#10;        &lt;Box style={{ flexDirection: 'row', gap: 14, height: 178 }}&gt;&#13;&#10;&#13;&#10;            &lt;Box style={{ width: 340, background: '#FFFFFF', border: '1px solid #D6DCE5', padding: 12, flexDirection: 'column', justifyContent: 'center', gap: 6 }}&gt;&#13;&#10;                &lt;Text style={{ fontSize: 20, color: '#4A5568' }}&gt;框架分辨率上限&lt;/Text&gt;&#13;&#10;                &lt;Text style={{ fontSize: 52, fontWeight: 'bold', color: '#1E4FA8', lineHeight: 1 }}&gt;n/405&lt;/Text&gt;&#13;&#10;                &lt;Text style={{ fontSize: 14, color: '#8B97A8', lineHeight: 1.35 }}&gt;&#13;&#10;                    每格期望样本被层数与箱数限死 ⇒ 空箱计数必然依赖样本量&#13;&#10;                &lt;/Text&gt;&#13;&#10;            &lt;/Box&gt;&#13;&#10;&#13;&#10;            &lt;Box style={{ flex: 1, background: '#F7F9FC', border: '1px solid #D6DCE5', padding: 16, flexDirection: 'column', gap: 8 }}&gt;&#13;&#10;                &lt;Text style={{ fontSize: 24, fontWeight: 'bold', color: '#1A2230' }}&gt;修法：改成诚实的四分类&lt;/Text&gt;&#13;&#10;                &lt;Box style={{ flexDirection: 'row', gap: 10, flexWrap: 'wrap' }}&gt;&#13;&#10;                    &lt;Box style={{ paddingLeft: 12, paddingRight: 12, height: 30, background: '#E8EFF8', borderRadius: 15, justifyContent: 'center' }}&gt;&#13;&#10;                        &lt;Text style={{ fontSize: 16, color: '#1E4FA8' }}&gt;ok&lt;/Text&gt;&#13;&#10;                    &lt;/Box&gt;&#13;&#10;                    &lt;Box style={{ paddingLeft: 12, paddingRight: 12, height: 30, background: '#E8EFF8', borderRadius: 15, justifyContent: 'center' }}&gt;&#13;&#10;                        &lt;Text style={{ fontSize: 16, color: '#1E4FA8' }}&gt;sparse&lt;/Text&gt;&#13;&#10;                    &lt;/Box&gt;&#13;&#10;                    &lt;Box style={{ paddingLeft: 12, paddingRight: 12, height: 30, background: '#E8EFF8', borderRadius: 15, justifyContent: 'center' }}&gt;&#13;&#10;                        &lt;Text style={{ fontSize: 16, color: '#1E4FA8' }}&gt;narrow&lt;/Text&gt;&#13;&#10;                    &lt;/Box&gt;&#13;&#10;                    &lt;Box style={{ paddingLeft: 12, paddingRight: 12, height: 30, background: '#FFC107', borderRadius: 15, justifyContent: 'center' }}&gt;&#13;&#10;                        &lt;Text style={{ fontSize: 16, color: '#1A2230', fontWeight: 'bold' }}&gt;undetermined&lt;/Text&gt;&#13;&#10;                    &lt;/Box&gt;&#13;&#10;                &lt;/Box&gt;&#13;&#10;                &lt;Text style={{ fontSize: 22, color: '#4A5568', lineHeight: 1.4 }}&gt;&#13;&#10;                    关键纪律：&lt;b&gt;undetermined 不等于「结构性」&lt;/b&gt;，&#13;&#10;                    它只说「此样本量下&lt;b&gt;判不了&lt;/b&gt;」。&#13;&#10;                &lt;/Text&gt;&#13;&#10;            &lt;/Box&gt;&#13;&#10;&#13;&#10;        &lt;/Box&gt;&#13;&#10;&#13;&#10;    &lt;/Box&gt;&#13;&#10;&#13;&#10;    &lt;Box style={{ paddingLeft: 40, paddingRight: 40, height: 40, flexDirection: 'row', alignItems: 'center', justifyContent: 'space-between' }}&gt;&#13;&#10;        &lt;Text style={{ fontSize: 14, color: '#8B97A8' }}&gt;本条结论已写入项目全部 6 份核心文档；完整定位过程见 05-验证/修正记录.md 的 R-11&lt;/Text&gt;&#13;&#10;        &lt;Text style={{ fontSize: 14, color: '#1E4FA8' }}&gt;10 / 12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03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实验与结论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81000" y="7048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最重要的结论，是一个否定性结论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11144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它推翻了我们自己诊断模块的一个核心设计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38150" y="1438275"/>
            <a:ext cx="11430000" cy="819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381000" y="1438275"/>
            <a:ext cx="11487150" cy="819150"/>
          </a:xfrm>
          <a:custGeom>
            <a:pathLst>
              <a:path w="1206" h="86">
                <a:moveTo>
                  <a:pt x="0" y="0"/>
                </a:moveTo>
                <a:lnTo>
                  <a:pt x="6" y="0"/>
                </a:lnTo>
                <a:lnTo>
                  <a:pt x="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66750" y="1666875"/>
            <a:ext cx="10915650" cy="3714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在「全局等频箱</a:t>
            </a:r>
            <a:r>
              <a:rPr lang="en-US" sz="1725">
                <a:solidFill>
                  <a:srgbClr val="FFFFFF"/>
                </a:solidFill>
                <a:latin typeface="Microsoft YaHei"/>
                <a:ea typeface="Microsoft YaHei"/>
              </a:rPr>
              <a:t> × </a:t>
            </a: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分位协变量层」框架下，</a:t>
            </a:r>
            <a:r>
              <a:rPr lang="zh-CN" sz="1725" b="1">
                <a:solidFill>
                  <a:srgbClr val="FFC107"/>
                </a:solidFill>
                <a:latin typeface="Microsoft YaHei"/>
                <a:ea typeface="Microsoft YaHei"/>
              </a:rPr>
              <a:t>连续干预的机制性正性违背，在原理上无法被诊断</a:t>
            </a: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81000" y="2390775"/>
            <a:ext cx="3724275" cy="2057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514350" y="2533650"/>
            <a:ext cx="2667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0075" y="25717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252412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放大样本量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14350" y="2857500"/>
            <a:ext cx="34575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样本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3,000 → 48,000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，空箱层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4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0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14350" y="3971925"/>
            <a:ext cx="3457575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⇒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机制缺失不会随扩样本消失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238625" y="2390775"/>
            <a:ext cx="3714750" cy="2057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4371975" y="2533650"/>
            <a:ext cx="2667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457700" y="25717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733925" y="252412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置换零模型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371975" y="2857500"/>
            <a:ext cx="34480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重排干预使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T ⟂ X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，正性必然成立：空箱层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4,3,5,2,1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0,0,0,0,0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371975" y="3971925"/>
            <a:ext cx="34480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⇒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原阳性结果全是伪影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086725" y="2390775"/>
            <a:ext cx="3724275" cy="2057400"/>
          </a:xfrm>
          <a:prstGeom prst="rect">
            <a:avLst/>
          </a:prstGeom>
          <a:solidFill>
            <a:srgbClr val="FBE9E8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8220075" y="2533650"/>
            <a:ext cx="266700" cy="2667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05800" y="25717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582025" y="252412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决定性实验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220075" y="2857500"/>
            <a:ext cx="34575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人为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硬截断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支撑集，低箱概率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恰为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7,2,1,1,0,0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同样收敛到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220075" y="3629025"/>
            <a:ext cx="34575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⇒ 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连概率为</a:t>
            </a: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 0 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都测不出，是分辨率问题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4581525"/>
            <a:ext cx="3238500" cy="1695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95300" y="4743450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框架分辨率上限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95300" y="5029200"/>
            <a:ext cx="30099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E4FA8"/>
                </a:solidFill>
                <a:latin typeface="Microsoft YaHei"/>
                <a:ea typeface="Microsoft YaHei"/>
              </a:rPr>
              <a:t>n/405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95300" y="5686425"/>
            <a:ext cx="30099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每格期望样本被层数与箱数限死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⇒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空箱计数必然依赖样本量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752850" y="4581525"/>
            <a:ext cx="8058150" cy="16954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905250" y="4733925"/>
            <a:ext cx="775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修法：改成诚实的四分类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905250" y="5086350"/>
            <a:ext cx="409575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019550" y="5133975"/>
            <a:ext cx="18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ok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410075" y="5086350"/>
            <a:ext cx="695325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24375" y="5133975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sparse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200650" y="5086350"/>
            <a:ext cx="742950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314950" y="5133975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narrow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38850" y="5086350"/>
            <a:ext cx="1323975" cy="2857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153150" y="5133975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undetermined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905250" y="5448300"/>
            <a:ext cx="77533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关键纪律：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undetermined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不等于「结构性」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它只说「此样本量下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判不了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」。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522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本条结论已写入项目全部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份核心文档；完整定位过程见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05-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验证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修正记录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.md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R-11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04 现状与下一步&lt;/Text&gt;&#13;&#10;        &lt;Text style={{ fontSize: 14, color: '#BFD5EF' }}&gt;F1 · 项目介绍&lt;/Text&gt;&#13;&#10;    &lt;/Box&gt;&#13;&#10;&#13;&#10;    &lt;Box style={{ paddingLeft: 40, paddingRight: 40, paddingTop: 18, flexDirection: 'column', gap: 4 }}&gt;&#13;&#10;        &lt;Text style={{ fontSize: 32, fontWeight: 'bold', color: '#1E4FA8' }}&gt;已经具备什么，还缺什么&lt;/Text&gt;&#13;&#10;        &lt;Text style={{ fontSize: 16, color: '#4A5568' }}&gt;缺的那两项决定了申报材料能不能动笔 —— 我们不打算绕过&lt;/Text&gt;&#13;&#10;    &lt;/Box&gt;&#13;&#10;&#13;&#10;    &lt;Box style={{ paddingLeft: 40, paddingRight: 40, paddingTop: 16, height: 516, flexDirection: 'row', gap: 20 }}&gt;&#13;&#10;&#13;&#10;        {/* 左：已具备 */}&#13;&#10;        &lt;Box style={{ width: 700, flexDirection: 'column', gap: 12 }}&gt;&#13;&#10;&#13;&#10;            &lt;Box style={{ flexDirection: 'row', alignItems: 'center', gap: 10, height: 36 }}&gt;&#13;&#10;                &lt;Text style={{ fontSize: 22, fontWeight: 'bold', color: '#1A2230' }}&gt;已具备&lt;/Text&gt;&#13;&#10;                &lt;Box style={{ paddingLeft: 12, paddingRight: 12, height: 26, background: '#E8EFF8', borderRadius: 13, justifyContent: 'center' }}&gt;&#13;&#10;                    &lt;Text style={{ fontSize: 14, color: '#1E4FA8' }}&gt;方法层面&lt;/Text&gt;&#13;&#10;                &lt;/Box&gt;&#13;&#10;            &lt;/Box&gt;&#13;&#10;&#13;&#10;            &lt;Box style={{ flex: 1, background: '#F7F9FC', border: '1px solid #D6DCE5', padding: 18, flexDirection: 'column', gap: 12, justifyContent: 'space-between' }}&gt;&#13;&#10;                &lt;Box style={{ flexDirection: 'row', alignItems: 'flex-start', gap: 12 }}&gt;&#13;&#10;                    &lt;Box style={{ width: 26, height: 26, background: '#1E4FA8', borderRadius: 13, justifyContent: 'center', alignItems: 'center' }}&gt;&#13;&#10;                        &lt;Text style={{ fontSize: 15, fontWeight: 'bold', color: '#FFFFFF' }}&gt;✓&lt;/Text&gt;&#13;&#10;                    &lt;/Box&gt;&#13;&#10;                    &lt;Text style={{ fontSize: 22, color: '#1A2230', lineHeight: 1.4, flex: 1 }}&gt;&#13;&#10;                        七步流程全部跑通：角色审计、正性诊断、效应估计、剂量反应、敏感性分析、假设台账、报告守卫&#13;&#10;                    &lt;/Text&gt;&#13;&#10;                &lt;/Box&gt;&#13;&#10;                &lt;Box style={{ flexDirection: 'row', alignItems: 'flex-start', gap: 12 }}&gt;&#13;&#10;                    &lt;Box style={{ width: 26, height: 26, background: '#1E4FA8', borderRadius: 13, justifyContent: 'center', alignItems: 'center' }}&gt;&#13;&#10;                        &lt;Text style={{ fontSize: 15, fontWeight: 'bold', color: '#FFFFFF' }}&gt;✓&lt;/Text&gt;&#13;&#10;                    &lt;/Box&gt;&#13;&#10;                    &lt;Text style={{ fontSize: 22, color: '#1A2230', lineHeight: 1.4, flex: 1 }}&gt;&#13;&#10;                        五个实验 + 两套测试 + 一套诊断包；判定项 21/21、不变量 19/19&#13;&#10;                    &lt;/Text&gt;&#13;&#10;                &lt;/Box&gt;&#13;&#10;                &lt;Box style={{ flexDirection: 'row', alignItems: 'flex-start', gap: 12 }}&gt;&#13;&#10;                    &lt;Box style={{ width: 26, height: 26, background: '#1E4FA8', borderRadius: 13, justifyContent: 'center', alignItems: 'center' }}&gt;&#13;&#10;                        &lt;Text style={{ fontSize: 15, fontWeight: 'bold', color: '#FFFFFF' }}&gt;✓&lt;/Text&gt;&#13;&#10;                    &lt;/Box&gt;&#13;&#10;                    &lt;Text style={{ fontSize: 22, color: '#1A2230', lineHeight: 1.4, flex: 1 }}&gt;&#13;&#10;                        真值自检通过（线性情形逐位精确）；18 条修正记录全部留痕&#13;&#10;                    &lt;/Text&gt;&#13;&#10;                &lt;/Box&gt;&#13;&#10;                &lt;Box style={{ flexDirection: 'row', alignItems: 'flex-start', gap: 12 }}&gt;&#13;&#10;                    &lt;Box style={{ width: 26, height: 26, background: '#1E4FA8', borderRadius: 13, justifyContent: 'center', alignItems: 'center' }}&gt;&#13;&#10;                        &lt;Text style={{ fontSize: 15, fontWeight: 'bold', color: '#FFFFFF' }}&gt;✓&lt;/Text&gt;&#13;&#10;                    &lt;/Box&gt;&#13;&#10;                    &lt;Text style={{ fontSize: 22, color: '#1A2230', lineHeight: 1.4, flex: 1 }}&gt;&#13;&#10;                        文档一致性校验通过：权威值缺位 0、废弃值残留 0&#13;&#10;                    &lt;/Text&gt;&#13;&#10;                &lt;/Box&gt;&#13;&#10;            &lt;/Box&gt;&#13;&#10;&#13;&#10;            &lt;Box style={{ height: 68, background: '#E8EFF8', borderLeft: '4px solid #1E4FA8', paddingLeft: 16, paddingRight: 16, flexDirection: 'column', justifyContent: 'center' }}&gt;&#13;&#10;                &lt;Text style={{ fontSize: 22, color: '#4A5568', lineHeight: 1.4 }}&gt;&#13;&#10;                    这些都在&lt;span style={{ fontWeight: 'bold', color: '#1E4FA8' }}&gt;合成数据&lt;/span&gt;上完成 —— 验证的是方法，不是真实塘口。&#13;&#10;                &lt;/Text&gt;&#13;&#10;            &lt;/Box&gt;&#13;&#10;&#13;&#10;        &lt;/Box&gt;&#13;&#10;&#13;&#10;        {/* 右：阻断项（深蓝实色卡） */}&#13;&#10;        &lt;Box style={{ width: 500, flexDirection: 'column', gap: 12 }}&gt;&#13;&#10;&#13;&#10;            &lt;Box style={{ flexDirection: 'row', alignItems: 'center', gap: 10, height: 36 }}&gt;&#13;&#10;                &lt;Text style={{ fontSize: 22, fontWeight: 'bold', color: '#1A2230' }}&gt;还缺什么&lt;/Text&gt;&#13;&#10;                &lt;Box style={{ paddingLeft: 12, paddingRight: 12, height: 26, background: '#FBE9E8', borderRadius: 13, justifyContent: 'center' }}&gt;&#13;&#10;                    &lt;Text style={{ fontSize: 14, color: '#D9534F' }}&gt;两个阻断项&lt;/Text&gt;&#13;&#10;                &lt;/Box&gt;&#13;&#10;            &lt;/Box&gt;&#13;&#10;&#13;&#10;            &lt;Box style={{ height: 240, background: '#0E3F8C', padding: 18, flexDirection: 'column', gap: 10, justifyContent: 'center' }}&gt;&#13;&#10;                &lt;Box style={{ flexDirection: 'column', gap: 6 }}&gt;&#13;&#10;                    &lt;Text style={{ fontSize: 21, fontWeight: 'bold', color: '#FFC107' }}&gt;B-1 · 数据通道&lt;/Text&gt;&#13;&#10;                    &lt;Text style={{ fontSize: 22, color: '#BFD5EF', lineHeight: 1.4 }}&gt;&#13;&#10;                        可用的真实养殖观测数据，或公开可得的数据集。&#13;&#10;                    &lt;/Text&gt;&#13;&#10;                &lt;/Box&gt;&#13;&#10;                &lt;Box style={{ width: '100%', height: 1, background: '#2A5AA0' }} /&gt;&#13;&#10;                &lt;Box style={{ flexDirection: 'column', gap: 6 }}&gt;&#13;&#10;                    &lt;Text style={{ fontSize: 21, fontWeight: 'bold', color: '#FFC107' }}&gt;B-3 · 评审方&lt;/Text&gt;&#13;&#10;                    &lt;Text style={{ fontSize: 22, color: '#BFD5EF', lineHeight: 1.4 }}&gt;&#13;&#10;                        愿意对「识别假设」给出反馈的指导老师或真实用户。&#13;&#10;                    &lt;/Text&gt;&#13;&#10;                &lt;/Box&gt;&#13;&#10;            &lt;/Box&gt;&#13;&#10;&#13;&#10;            &lt;Box style={{ height: 126, background: '#FBE9E8', border: '1px solid #D9534F', padding: 12, flexDirection: 'column', gap: 4, justifyContent: 'center' }}&gt;&#13;&#10;                &lt;Text style={{ fontSize: 19, fontWeight: 'bold', color: '#D9534F' }}&gt;我们的选择：不绕过&lt;/Text&gt;&#13;&#10;                &lt;Text style={{ fontSize: 22, color: '#4A5568', lineHeight: 1.35 }}&gt;&#13;&#10;                    没有数据通道，申报书每句都是空话。故至今&#13;&#10;                    &lt;span style={{ fontWeight: 'bold', color: '#D9534F' }}&gt;没有动笔&lt;/span&gt;。&#13;&#10;                &lt;/Text&gt;&#13;&#10;            &lt;/Box&gt;&#13;&#10;&#13;&#10;            &lt;Box style={{ height: 60, background: '#FFFFFF', border: '1px solid #D6DCE5', paddingLeft: 16, paddingRight: 16, flexDirection: 'row', alignItems: 'center', gap: 12 }}&gt;&#13;&#10;                &lt;Text style={{ fontSize: 18, color: '#8B97A8' }}&gt;下一步&lt;/Text&gt;&#13;&#10;                &lt;Text style={{ fontSize: 22, color: '#1A2230', lineHeight: 1.35, flex: 1 }}&gt;&#13;&#10;                    先解 B-1 / B-3，再进申报材料。&#13;&#10;                &lt;/Text&gt;&#13;&#10;            &lt;/Box&gt;&#13;&#10;&#13;&#10;        &lt;/Box&gt;&#13;&#10;    &lt;/Box&gt;&#13;&#10;&#13;&#10;    &lt;Box style={{ paddingLeft: 40, paddingRight: 40, height: 40, flexDirection: 'row', alignItems: 'center', justifyContent: 'space-between' }}&gt;&#13;&#10;        &lt;Text style={{ fontSize: 14, color: '#8B97A8' }}&gt;广东海洋大学 · 数学与计算机学院 · 软件工程　｜　2026-09&lt;/Text&gt;&#13;&#10;        &lt;Text style={{ fontSize: 14, color: '#1E4FA8' }}&gt;11 / 12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04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现状与下一步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7048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已经具备什么，还缺什么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11144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缺的那两项决定了申报材料能不能动笔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我们不打算绕过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81000" y="150495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已具备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1104900" y="1504950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219200" y="1552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方法层面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81000" y="1914525"/>
            <a:ext cx="6667500" cy="35433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552450" y="20859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14400" y="2085975"/>
            <a:ext cx="59626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七步流程全部跑通：角色审计、正性诊断、效应估计、剂量反应、敏感性分析、假设台账、报告守卫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52450" y="31527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14400" y="3152775"/>
            <a:ext cx="59626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五个实验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两套测试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一套诊断包；判定项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21/21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、不变量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19/19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552450" y="42195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42576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14400" y="4219575"/>
            <a:ext cx="59626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真值自检通过（线性情形逐位精确）；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18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条修正记录全部留痕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552450" y="4933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49720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14400" y="4933950"/>
            <a:ext cx="59626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文档一致性校验通过：权威值缺位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、废弃值残留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19100" y="5572125"/>
            <a:ext cx="6667500" cy="647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381000" y="5572125"/>
            <a:ext cx="6705600" cy="647700"/>
          </a:xfrm>
          <a:custGeom>
            <a:pathLst>
              <a:path w="704" h="68">
                <a:moveTo>
                  <a:pt x="0" y="0"/>
                </a:moveTo>
                <a:lnTo>
                  <a:pt x="4" y="0"/>
                </a:lnTo>
                <a:lnTo>
                  <a:pt x="4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71500" y="5724525"/>
            <a:ext cx="63246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这些都在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合成数据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上完成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验证的是方法，不是真实塘口。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124700" y="15049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还缺什么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058150" y="15049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FBE9E8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172450" y="1552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两个阻断项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124700" y="1914525"/>
            <a:ext cx="4762500" cy="2286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296150" y="1952625"/>
            <a:ext cx="4419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B-1 ·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数据通道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96150" y="2257425"/>
            <a:ext cx="44196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可用的真实养殖观测数据，或公开可得的数据集。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296150" y="3057525"/>
            <a:ext cx="4419600" cy="9525"/>
          </a:xfrm>
          <a:prstGeom prst="rect">
            <a:avLst/>
          </a:prstGeom>
          <a:solidFill>
            <a:srgbClr val="2A5AA0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296150" y="3162300"/>
            <a:ext cx="4419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B-3 ·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评审方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296150" y="3467100"/>
            <a:ext cx="44196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愿意对「识别假设」给出反馈的指导老师或真实用户。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124700" y="4314825"/>
            <a:ext cx="4762500" cy="1200150"/>
          </a:xfrm>
          <a:prstGeom prst="rect">
            <a:avLst/>
          </a:prstGeom>
          <a:solidFill>
            <a:srgbClr val="FBE9E8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239000" y="4448175"/>
            <a:ext cx="453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我们的选择：不绕过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239000" y="4705350"/>
            <a:ext cx="45339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没有数据通道，申报书每句都是空话。故至今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没有动笔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124700" y="5629275"/>
            <a:ext cx="47625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277100" y="58102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905750" y="5743575"/>
            <a:ext cx="38290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先解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B-1 / B-3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，再进申报材料。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6334125"/>
            <a:ext cx="3552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数学与计算机学院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　｜　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2026-09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353800" y="63341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style={{ width: 1280, height: 720, background: '#FFFFFF', flexDirection: 'column' }}&gt;&#13;&#10;&#13;&#10;    &lt;Box style={{ width: 1280, height: 56, background: '#1E4FA8', flexDirection: 'row', alignItems: 'center', justifyContent: 'space-between', paddingLeft: 40, paddingRight: 40 }}&gt;&#13;&#10;        &lt;Text style={{ fontSize: 14, color: '#BFD5EF', letterSpacing: 2 }}&gt;小结&lt;/Text&gt;&#13;&#10;        &lt;Text style={{ fontSize: 14, color: '#BFD5EF' }}&gt;F1 · 项目介绍&lt;/Text&gt;&#13;&#10;    &lt;/Box&gt;&#13;&#10;&#13;&#10;    &lt;Box style={{ paddingLeft: 40, paddingRight: 40, paddingTop: 22, flexDirection: 'column', gap: 4 }}&gt;&#13;&#10;        &lt;Text style={{ fontSize: 32, fontWeight: 'bold', color: '#1E4FA8' }}&gt;如果只记三句话&lt;/Text&gt;&#13;&#10;        &lt;Text style={{ fontSize: 16, color: '#4A5568' }}&gt;这三句可以被单独追问，也可以被单独推翻 —— 这正是我们想留给你们的东西&lt;/Text&gt;&#13;&#10;    &lt;/Box&gt;&#13;&#10;&#13;&#10;    &lt;Box style={{ paddingLeft: 40, paddingRight: 40, paddingTop: 18, flexDirection: 'column', gap: 14, height: 500 }}&gt;&#13;&#10;&#13;&#10;        &lt;Box style={{ height: 118, background: '#F7F9FC', border: '1px solid #D6DCE5', borderLeft: '4px solid #1E4FA8', padding: 16, flexDirection: 'row', alignItems: 'center', gap: 18 }}&gt;&#13;&#10;            &lt;Text style={{ fontSize: 44, fontWeight: 'bold', color: '#1E4FA8', lineHeight: 1, width: 60 }}&gt;01&lt;/Text&gt;&#13;&#10;            &lt;Box style={{ flexDirection: 'column', gap: 6, flex: 1 }}&gt;&#13;&#10;                &lt;Text style={{ fontSize: 24, fontWeight: 'bold', color: '#1A2230' }}&gt;&#13;&#10;                    我们做的是「识别有效性」，不是「养殖预测」&#13;&#10;                &lt;/Text&gt;&#13;&#10;                &lt;Text style={{ fontSize: 22, color: '#4A5568', lineHeight: 1.4 }}&gt;&#13;&#10;                    不产出预测、不推荐投喂量。产出是&lt;b&gt;效应值 + 它的有效边界&lt;/b&gt;，边界与数字同等重要。&#13;&#10;                &lt;/Text&gt;&#13;&#10;            &lt;/Box&gt;&#13;&#10;        &lt;/Box&gt;&#13;&#10;&#13;&#10;        &lt;Box style={{ height: 118, background: '#F7F9FC', border: '1px solid #D6DCE5', borderLeft: '4px solid #1E4FA8', padding: 16, flexDirection: 'row', alignItems: 'center', gap: 18 }}&gt;&#13;&#10;            &lt;Text style={{ fontSize: 44, fontWeight: 'bold', color: '#1E4FA8', lineHeight: 1, width: 60 }}&gt;02&lt;/Text&gt;&#13;&#10;            &lt;Box style={{ flexDirection: 'column', gap: 6, flex: 1 }}&gt;&#13;&#10;                &lt;Text style={{ fontSize: 24, fontWeight: 'bold', color: '#1A2230' }}&gt;&#13;&#10;                    方法已在真值已知的合成数据上验证，且不作外推&#13;&#10;                &lt;/Text&gt;&#13;&#10;                &lt;Text style={{ fontSize: 22, color: '#4A5568', lineHeight: 1.4 }}&gt;&#13;&#10;                    七步流程、五个实验、判定项 21/21 —— 但所有效应量均来自&lt;b&gt;【合成】数据&lt;/b&gt;，不得外推真实塘口。&#13;&#10;                &lt;/Text&gt;&#13;&#10;            &lt;/Box&gt;&#13;&#10;        &lt;/Box&gt;&#13;&#10;&#13;&#10;        &lt;Box style={{ height: 118, background: '#FBE9E8', border: '1px solid #D9534F', borderLeft: '4px solid #D9534F', padding: 16, flexDirection: 'row', alignItems: 'center', gap: 18 }}&gt;&#13;&#10;            &lt;Text style={{ fontSize: 44, fontWeight: 'bold', color: '#D9534F', lineHeight: 1, width: 60 }}&gt;03&lt;/Text&gt;&#13;&#10;            &lt;Box style={{ flexDirection: 'column', gap: 6, flex: 1 }}&gt;&#13;&#10;                &lt;Text style={{ fontSize: 24, fontWeight: 'bold', color: '#1A2230' }}&gt;&#13;&#10;                    最重要的一条结论，否定了我们自己的一个设计&#13;&#10;                &lt;/Text&gt;&#13;&#10;                &lt;Text style={{ fontSize: 22, color: '#4A5568', lineHeight: 1.4 }}&gt;&#13;&#10;                    连续干预的机制性正性违背&lt;b style={{ color: '#D9534F' }}&gt;原理上不可诊断&lt;/b&gt;——&#13;&#10;                    我们撤掉原判据，改成诚实四分类，并保留全部 18 条修正记录。&#13;&#10;                &lt;/Text&gt;&#13;&#10;            &lt;/Box&gt;&#13;&#10;        &lt;/Box&gt;&#13;&#10;&#13;&#10;        &lt;Box style={{ height: 78, background: '#0E3F8C', paddingLeft: 24, paddingRight: 24, flexDirection: 'row', alignItems: 'center', gap: 16 }}&gt;&#13;&#10;            &lt;Text style={{ fontSize: 30, fontWeight: 'bold', color: '#FFC107', lineHeight: 1 }}&gt;?&lt;/Text&gt;&#13;&#10;            &lt;Text style={{ fontSize: 22, color: '#FFFFFF', lineHeight: 1.45, flex: 1 }}&gt;&#13;&#10;                欢迎追问这三个判断里任何一处 —— &lt;b&gt;包括直接质疑它们&lt;/b&gt;。&#13;&#10;            &lt;/Text&gt;&#13;&#10;        &lt;/Box&gt;&#13;&#10;&#13;&#10;    &lt;/Box&gt;&#13;&#10;&#13;&#10;    &lt;Box style={{ paddingLeft: 40, paddingRight: 40, height: 68, flexDirection: 'row', alignItems: 'center', justifyContent: 'space-between', borderTop: '1px solid #D6DCE5' }}&gt;&#13;&#10;        &lt;Box style={{ flexDirection: 'column', gap: 4 }}&gt;&#13;&#10;            &lt;Text style={{ fontSize: 18, fontWeight: 'bold', color: '#1A2230' }}&gt;谢谢&lt;/Text&gt;&#13;&#10;            &lt;Text style={{ fontSize: 15, color: '#8B97A8' }}&gt;广东海洋大学 · 数学与计算机学院 · 软件工程　｜　项目代号 F1　｜　2026-09&lt;/Text&gt;&#13;&#10;        &lt;/Box&gt;&#13;&#10;        &lt;Box style={{ flexDirection: 'row', alignItems: 'center', gap: 10 }}&gt;&#13;&#10;            &lt;Box style={{ width: 4, height: 30, background: '#1E4FA8' }} /&gt;&#13;&#10;            &lt;Text style={{ fontSize: 15, color: '#1E4FA8' }}&gt;12 / 12&lt;/Text&gt;&#13;&#10;        &lt;/Box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10900" y="190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F1 ·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项目介绍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81000" y="7429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如果只记三句话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81000" y="1152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这三句可以被单独追问，也可以被单独推翻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这正是我们想留给你们的东西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19100" y="1514475"/>
            <a:ext cx="11430000" cy="11239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381000" y="1514475"/>
            <a:ext cx="11468100" cy="1123950"/>
          </a:xfrm>
          <a:custGeom>
            <a:pathLst>
              <a:path w="1204" h="118">
                <a:moveTo>
                  <a:pt x="0" y="0"/>
                </a:moveTo>
                <a:lnTo>
                  <a:pt x="4" y="0"/>
                </a:lnTo>
                <a:lnTo>
                  <a:pt x="4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1828800"/>
            <a:ext cx="571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314450" y="1733550"/>
            <a:ext cx="1034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我们做的是「识别有效性」，不是「养殖预测」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314450" y="2066925"/>
            <a:ext cx="103441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不产出预测、不推荐投喂量。产出是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效应值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它的有效边界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，边界与数字同等重要。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19100" y="2771775"/>
            <a:ext cx="11430000" cy="11239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381000" y="2771775"/>
            <a:ext cx="11468100" cy="1123950"/>
          </a:xfrm>
          <a:custGeom>
            <a:pathLst>
              <a:path w="1204" h="118">
                <a:moveTo>
                  <a:pt x="0" y="0"/>
                </a:moveTo>
                <a:lnTo>
                  <a:pt x="4" y="0"/>
                </a:lnTo>
                <a:lnTo>
                  <a:pt x="4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1500" y="3086100"/>
            <a:ext cx="571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314450" y="2990850"/>
            <a:ext cx="1034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方法已在真值已知的合成数据上验证，且不作外推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314450" y="3324225"/>
            <a:ext cx="103441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七步流程、五个实验、判定项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21/21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但所有效应量均来自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【合成】数据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，不得外推真实塘口。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419100" y="4029075"/>
            <a:ext cx="11430000" cy="1123950"/>
          </a:xfrm>
          <a:prstGeom prst="rect">
            <a:avLst/>
          </a:prstGeom>
          <a:solidFill>
            <a:srgbClr val="FBE9E8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381000" y="4029075"/>
            <a:ext cx="11468100" cy="1123950"/>
          </a:xfrm>
          <a:custGeom>
            <a:pathLst>
              <a:path w="1204" h="118">
                <a:moveTo>
                  <a:pt x="0" y="0"/>
                </a:moveTo>
                <a:lnTo>
                  <a:pt x="4" y="0"/>
                </a:lnTo>
                <a:lnTo>
                  <a:pt x="4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71500" y="4343400"/>
            <a:ext cx="571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9534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314450" y="4076700"/>
            <a:ext cx="1034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最重要的一条结论，否定了我们自己的一个设计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314450" y="4410075"/>
            <a:ext cx="103441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连续干预的机制性正性违背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原理上不可诊断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我们撤掉原判据，改成诚实四分类，并保留全部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18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条修正记录。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81000" y="5286375"/>
            <a:ext cx="11430000" cy="7429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5486400"/>
            <a:ext cx="142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C107"/>
                </a:solidFill>
                <a:latin typeface="Microsoft YaHei"/>
                <a:ea typeface="Microsoft YaHei"/>
              </a:rPr>
              <a:t>?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04875" y="5476875"/>
            <a:ext cx="10677525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欢迎追问这三个判断里任何一处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包括直接质疑它们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0" y="6105525"/>
            <a:ext cx="12192000" cy="647700"/>
          </a:xfrm>
          <a:custGeom>
            <a:pathLst>
              <a:path w="1280" h="68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81000" y="6229350"/>
            <a:ext cx="501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谢谢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501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数学与计算机学院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软件工程　｜　项目代号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F1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　｜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2026-09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11191875" y="6296025"/>
            <a:ext cx="3810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325225" y="6353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2026-09-20T23:04:12Z</dcterms:created>
  <dcterms:modified xsi:type="dcterms:W3CDTF">2026-09-20T23:04:12Z</dcterms:modified>
</cp:coreProperties>
</file>