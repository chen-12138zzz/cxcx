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4" Type="http://schemas.openxmlformats.org/officeDocument/2006/relationships/slide" Target="slides/slide4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FFFFFF', flexDirection: 'row', position: 'relative' }}&gt;&#10;&#10;    {/* 左侧深蓝色块 500px */}&#10;    &lt;Box style={{ width: 500, height: 720, background: '#0E3F8C', padding: 40, flexDirection: 'column', justifyContent: 'space-between' }}&gt;&#10;        &lt;Box style={{ flexDirection: 'column', gap: 8 }}&gt;&#10;            &lt;Text style={{ fontSize: 14, color: '#8FB4E0', letterSpacing: 2 }}&gt;大学生创新创业训练计划&lt;/Text&gt;&#10;            &lt;Text style={{ fontSize: 14, color: '#8FB4E0', letterSpacing: 2 }}&gt;产品定义与落地方案&lt;/Text&gt;&#10;        &lt;/Box&gt;&#10;&#10;        &lt;Box style={{ flexDirection: 'column', gap: 14 }}&gt;&#10;            &lt;Text style={{ fontSize: 20, color: '#BFD5EF', lineHeight: 1.6 }}&gt;&#10;                不做预测&#10;            &lt;/Text&gt;&#10;            &lt;Text style={{ fontSize: 20, color: '#BFD5EF', lineHeight: 1.6 }}&gt;&#10;                不做控制&#10;            &lt;/Text&gt;&#10;            &lt;Box style={{ width: 64, height: 3, background: '#FFC107', marginTop: 4 }} /&gt;&#10;            &lt;Text style={{ fontSize: 20, color: '#BFD5EF', lineHeight: 1.6, marginTop: 8 }}&gt;&#10;                只检查养殖 AI&#10;            &lt;/Text&gt;&#10;            &lt;Text style={{ fontSize: 20, color: '#BFD5EF', lineHeight: 1.6 }}&gt;&#10;                说出去的话&#10;            &lt;/Text&gt;&#10;        &lt;/Box&gt;&#10;&#10;        &lt;Box style={{ flexDirection: 'column', gap: 6 }}&gt;&#10;            &lt;Text style={{ fontSize: 14, color: '#8FB4E0' }}&gt;广东海洋大学 · 数学与计算机学院&lt;/Text&gt;&#10;            &lt;Text style={{ fontSize: 14, color: '#8FB4E0' }}&gt;软件工程 · 2026-09&lt;/Text&gt;&#10;        &lt;/Box&gt;&#10;    &lt;/Box&gt;&#10;&#10;    {/* 右侧白色承载标题 */}&#10;    &lt;Box style={{ width: 780, height: 720, padding: 40, flexDirection: 'column', justifyContent: 'center', gap: 20 }}&gt;&#10;        &lt;Text style={{ fontSize: 13, color: '#3D7BD9', letterSpacing: 3 }}&gt;TRUSTWORTHINESS ENGINEERING FOR AQUACULTURE AI&lt;/Text&gt;&#10;&#10;        &lt;Text style={{ fontSize: 60, fontWeight: 'bold', color: '#0E3F8C', lineHeight: 1.25 }}&gt;&#10;            水产 AI&#10;        &lt;/Text&gt;&#10;        &lt;Text style={{ fontSize: 60, fontWeight: 'bold', color: '#0E3F8C', lineHeight: 1.25 }}&gt;&#10;            可信性工程&#10;        &lt;/Text&gt;&#10;&#10;        &lt;Box style={{ width: 120, height: 4, background: '#1E4FA8', marginTop: 4 }} /&gt;&#10;&#10;        &lt;Text style={{ fontSize: 22, color: '#4A5568', lineHeight: 1.6 }}&gt;&#10;            让养殖 AI 说出的每一句话，都能被追溯到数据、&#10;            被追问、被追责。&#10;        &lt;/Text&gt;&#10;&#10;        {/* 视觉锚点：三环链 SVG */}&#10;        &lt;Box style={{ marginTop: 6 }}&gt;&#10;            &lt;svg width={700} height={92} viewBox='0 0 700 92'&gt;&#10;                &lt;rect x='0' y='16' width='190' height='60' rx='4' fill='#F0F5FC' stroke='#D6DCE5' strokeWidth='1' /&gt;&#10;                &lt;text x='95' y='42' fontSize='15' fill='#1E4FA8' textAnchor='middle' fontWeight='bold'&gt;E3 输入可信&lt;/text&gt;&#10;                &lt;text x='95' y='62' fontSize='12' fill='#8B97A8' textAnchor='middle'&gt;进来的数据干不干净&lt;/text&gt;&#10;&#10;                &lt;rect x='255' y='8' width='190' height='76' rx='4' fill='#E8EFF8' stroke='#1E4FA8' strokeWidth='2' /&gt;&#10;                &lt;text x='350' y='38' fontSize='16' fill='#0E3F8C' textAnchor='middle' fontWeight='bold'&gt;E10 输出可信&lt;/text&gt;&#10;                &lt;text x='350' y='60' fontSize='12' fill='#1E4FA8' textAnchor='middle'&gt;说出去的话有没有依据&lt;/text&gt;&#10;&#10;                &lt;rect x='510' y='16' width='190' height='60' rx='4' fill='#F0F5FC' stroke='#D6DCE5' strokeWidth='1' /&gt;&#10;                &lt;text x='605' y='42' fontSize='15' fill='#1E4FA8' textAnchor='middle' fontWeight='bold'&gt;E8 数据来源&lt;/text&gt;&#10;                &lt;text x='605' y='62' fontSize='12' fill='#8B97A8' textAnchor='middle'&gt;不进塘口怎么拿数据&lt;/text&gt;&#10;&#10;                &lt;line x1='194' y1='46' x2='251' y2='46' stroke='#3D7BD9' strokeWidth='2' /&gt;&#10;                &lt;polygon points='251,46 241,41 241,51' fill='#3D7BD9' /&gt;&#10;                &lt;line x1='506' y1='46' x2='449' y2='46' stroke='#3D7BD9' strokeWidth='2' /&gt;&#10;                &lt;polygon points='449,46 459,41 459,51' fill='#3D7BD9' /&gt;&#10;&#10;                &lt;text x='350' y='2' fontSize='12' fill='#8B97A8' textAnchor='middle'&gt;主命题&lt;/text&gt;&#10;            &lt;/svg&gt;&#10;        &lt;/Box&gt;&#10;    &lt;/Box&gt;&#10;&#10;    {/* 校名角标 */}&#10;    &lt;Box style={{ position: 'absolute', right: 40, top: 40, flexDirection: 'row', alignItems: 'center', gap: 8 }}&gt;&#10;        &lt;Box style={{ width: 4, height: 28, background: '#1E4FA8' }} /&gt;&#10;        &lt;Text style={{ fontSize: 14, color: '#8B97A8' }}&gt;广东海洋大学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762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B4E0"/>
                </a:solidFill>
                <a:latin typeface="Microsoft YaHei"/>
                <a:ea typeface="Microsoft YaHei"/>
              </a:rPr>
              <a:t>大学生创新创业训练计划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381000" y="61912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FB4E0"/>
                </a:solidFill>
                <a:latin typeface="Microsoft YaHei"/>
                <a:ea typeface="Microsoft YaHei"/>
              </a:rPr>
              <a:t>产品定义与落地方案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81000" y="2362200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不做预测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81000" y="286702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不做控制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381000" y="3409950"/>
            <a:ext cx="6096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81000" y="3648075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只检查养殖</a:t>
            </a:r>
            <a:r>
              <a:rPr lang="en-US" sz="1500">
                <a:solidFill>
                  <a:srgbClr val="BFD5EF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81000" y="4152900"/>
            <a:ext cx="4000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BFD5EF"/>
                </a:solidFill>
                <a:latin typeface="Microsoft YaHei"/>
                <a:ea typeface="Microsoft YaHei"/>
              </a:rPr>
              <a:t>说出去的话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81000" y="60960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广东海洋大学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数学与计算机学院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81000" y="63150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Microsoft YaHei"/>
                <a:ea typeface="Microsoft YaHei"/>
              </a:rPr>
              <a:t>软件工程</a:t>
            </a:r>
            <a:r>
              <a:rPr lang="en-US" sz="1050">
                <a:solidFill>
                  <a:srgbClr val="8FB4E0"/>
                </a:solidFill>
                <a:latin typeface="Microsoft YaHei"/>
                <a:ea typeface="Microsoft YaHei"/>
              </a:rPr>
              <a:t> · 2026-09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131445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3D7BD9"/>
                </a:solidFill>
                <a:latin typeface="Microsoft YaHei"/>
                <a:ea typeface="Microsoft YaHei"/>
              </a:rPr>
              <a:t>TRUSTWORTHINESS ENGINEERING FOR AQUACULTURE AI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143500" y="1657350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水产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143500" y="2705100"/>
            <a:ext cx="6667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143500" y="3790950"/>
            <a:ext cx="1143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143500" y="4019550"/>
            <a:ext cx="66675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让养殖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说出的每一句话，都能被追溯到数据、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被追问、被追责。</a:t>
            </a:r>
            <a:endParaRPr/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43500" y="4676775"/>
            <a:ext cx="6667500" cy="876300"/>
          </a:xfrm>
          <a:prstGeom prst="rect">
            <a:avLst/>
          </a:prstGeom>
          <a:ln/>
        </p:spPr>
      </p:pic>
      <p:sp>
        <p:nvSpPr>
          <p:cNvPr id="19" name=""/>
          <p:cNvSpPr/>
          <p:nvPr/>
        </p:nvSpPr>
        <p:spPr>
          <a:xfrm rot="0" flipH="0" flipV="0">
            <a:off x="10896600" y="381000"/>
            <a:ext cx="381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010900" y="438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广东海洋大学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width: 1280, height: 720, background: '#FFFFFF', flexDirection: 'row' }}&gt;&#10;&#10;    {/* 左侧窄深蓝栏 400px */}&#10;    &lt;Box style={{ width: 400, height: 720, background: '#0E3F8C', padding: 40, flexDirection: 'column', justifyContent: 'center', gap: 16 }}&gt;&#10;        &lt;Text style={{ fontSize: 60, fontWeight: 'bold', color: '#FFFFFF', lineHeight: 1.1 }}&gt;&#10;            目录&#10;        &lt;/Text&gt;&#10;        &lt;Box style={{ width: 80, height: 4, background: '#FFC107' }} /&gt;&#10;        &lt;Text style={{ fontSize: 18, color: '#8FB4E0', letterSpacing: 3, marginTop: 2 }}&gt;&#10;            CONTENTS&#10;        &lt;/Text&gt;&#10;        &lt;Text style={{ fontSize: 16, color: '#8FB4E0', lineHeight: 1.8, marginTop: 20 }}&gt;&#10;            五章。按提问顺序排：&lt;br /&gt;&#10;            先说什么东西、给谁用，&lt;br /&gt;&#10;            再说凭什么、解决什么，&lt;br /&gt;&#10;            最后说为什么是它 ——&lt;br /&gt;&#10;            以及它现在还缺什么。&#10;        &lt;/Text&gt;&#10;    &lt;/Box&gt;&#10;&#10;    {/* 右侧 5 条条目 */}&#10;    &lt;Box style={{ width: 880, height: 720, padding: 40, flexDirection: 'column', justifyContent: 'center', gap: 12 }}&gt;&#10;&#10;        &lt;Box style={{ flexDirection: 'row', alignItems: 'center', gap: 22, paddingLeft: 18, paddingRight: 18, paddingTop: 14, paddingBottom: 14, background: '#F0F5FC', borderRadius: 6, border: '1px solid #D6DCE5' }}&gt;&#10;            &lt;Box style={{ width: 52, height: 52, background: '#1E4FA8', justifyContent: 'center', alignItems: 'center' }}&gt;&#10;                &lt;Text style={{ fontSize: 23, fontWeight: 'bold', color: '#FFFFFF' }}&gt;01&lt;/Text&gt;&#10;            &lt;/Box&gt;&#10;            &lt;Box style={{ flexDirection: 'column', gap: 5, flex: 1 }}&gt;&#10;                &lt;Text style={{ fontSize: 24, fontWeight: 'bold', color: '#1A2230' }}&gt;这是什么产品&lt;/Text&gt;&#10;                &lt;Text style={{ fontSize: 16, color: '#4A5568' }}&gt;一句话定义 · 做哪三件事 · 三层价值&lt;/Text&gt;&#10;            &lt;/Box&gt;&#10;        &lt;/Box&gt;&#10;&#10;        &lt;Box style={{ flexDirection: 'row', alignItems: 'center', gap: 22, paddingLeft: 18, paddingRight: 18, paddingTop: 14, paddingBottom: 14, background: '#FFFFFF', borderRadius: 6, border: '1px solid #D6DCE5' }}&gt;&#10;            &lt;Box style={{ width: 52, height: 52, background: '#1E4FA8', justifyContent: 'center', alignItems: 'center' }}&gt;&#10;                &lt;Text style={{ fontSize: 23, fontWeight: 'bold', color: '#FFFFFF' }}&gt;02&lt;/Text&gt;&#10;            &lt;/Box&gt;&#10;            &lt;Box style={{ flexDirection: 'column', gap: 5, flex: 1 }}&gt;&#10;                &lt;Text style={{ fontSize: 24, fontWeight: 'bold', color: '#1A2230' }}&gt;服务谁&lt;/Text&gt;&#10;                &lt;Text style={{ fontSize: 16, color: '#4A5568' }}&gt;四层对象 · 三个真实触发场景 · 谁最痛&lt;/Text&gt;&#10;            &lt;/Box&gt;&#10;        &lt;/Box&gt;&#10;&#10;        &lt;Box style={{ flexDirection: 'row', alignItems: 'center', gap: 22, paddingLeft: 18, paddingRight: 18, paddingTop: 14, paddingBottom: 14, background: '#F0F5FC', borderRadius: 6, border: '1px solid #D6DCE5' }}&gt;&#10;            &lt;Box style={{ width: 52, height: 52, background: '#1E4FA8', justifyContent: 'center', alignItems: 'center' }}&gt;&#10;                &lt;Text style={{ fontSize: 23, fontWeight: 'bold', color: '#FFFFFF' }}&gt;03&lt;/Text&gt;&#10;            &lt;/Box&gt;&#10;            &lt;Box style={{ flexDirection: 'column', gap: 5, flex: 1 }}&gt;&#10;                &lt;Text style={{ fontSize: 24, fontWeight: 'bold', color: '#1A2230' }}&gt;优势在哪&lt;/Text&gt;&#10;                &lt;Text style={{ fontSize: 16, color: '#4A5568' }}&gt;两个不会自动消失的「不匹配」· 竞品边界&lt;/Text&gt;&#10;            &lt;/Box&gt;&#10;        &lt;/Box&gt;&#10;&#10;        &lt;Box style={{ flexDirection: 'row', alignItems: 'center', gap: 22, paddingLeft: 18, paddingRight: 18, paddingTop: 14, paddingBottom: 14, background: '#FFFFFF', borderRadius: 6, border: '1px solid #D6DCE5' }}&gt;&#10;            &lt;Box style={{ width: 52, height: 52, background: '#1E4FA8', justifyContent: 'center', alignItems: 'center' }}&gt;&#10;                &lt;Text style={{ fontSize: 23, fontWeight: 'bold', color: '#FFFFFF' }}&gt;04&lt;/Text&gt;&#10;            &lt;/Box&gt;&#10;            &lt;Box style={{ flexDirection: 'column', gap: 5, flex: 1 }}&gt;&#10;                &lt;Text style={{ fontSize: 24, fontWeight: 'bold', color: '#1A2230' }}&gt;解决什么问题&lt;/Text&gt;&#10;                &lt;Text style={{ fontSize: 16, color: '#4A5568' }}&gt;三条问题表现 · 怎么处理 · 怎么验证有没有用&lt;/Text&gt;&#10;            &lt;/Box&gt;&#10;        &lt;/Box&gt;&#10;&#10;        &lt;Box style={{ flexDirection: 'row', alignItems: 'center', gap: 22, paddingLeft: 18, paddingRight: 18, paddingTop: 14, paddingBottom: 14, background: '#F0F5FC', borderRadius: 6, border: '1px solid #D6DCE5' }}&gt;&#10;            &lt;Box style={{ width: 52, height: 52, background: '#1E4FA8', justifyContent: 'center', alignItems: 'center' }}&gt;&#10;                &lt;Text style={{ fontSize: 23, fontWeight: 'bold', color: '#FFFFFF' }}&gt;05&lt;/Text&gt;&#10;            &lt;/Box&gt;&#10;            &lt;Box style={{ flexDirection: 'column', gap: 5, flex: 1 }}&gt;&#10;                &lt;Text style={{ fontSize: 24, fontWeight: 'bold', color: '#1A2230' }}&gt;为什么选这个命题&lt;/Text&gt;&#10;                &lt;Text style={{ fontSize: 16, color: '#4A5568' }}&gt;四步立项逻辑 · 以及它现在缺什么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3810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1771650"/>
            <a:ext cx="3048000" cy="762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81000" y="268605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1000" y="289560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8FB4E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1000" y="3448050"/>
            <a:ext cx="3048000" cy="16478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五章。按提问顺序排：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先说什么东西、给谁用，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再说凭什么、解决什么，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最后说为什么是它</a:t>
            </a:r>
            <a:r>
              <a:rPr lang="en-US" sz="1200">
                <a:solidFill>
                  <a:srgbClr val="8FB4E0"/>
                </a:solidFill>
                <a:latin typeface="Microsoft YaHei"/>
                <a:ea typeface="Microsoft YaHei"/>
              </a:rPr>
              <a:t> ——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B4E0"/>
                </a:solidFill>
                <a:latin typeface="Microsoft YaHei"/>
                <a:ea typeface="Microsoft YaHei"/>
              </a:rPr>
              <a:t>以及它现在还缺什么。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191000" y="1247775"/>
            <a:ext cx="7620000" cy="781050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4362450" y="139065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476750" y="1504950"/>
            <a:ext cx="276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067300" y="138112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067300" y="1704975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一句话定义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做哪三件事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三层价值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191000" y="2143125"/>
            <a:ext cx="76200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4362450" y="228600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476750" y="2400300"/>
            <a:ext cx="276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067300" y="227647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67300" y="2600325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四层对象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三个真实触发场景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谁最痛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4191000" y="3038475"/>
            <a:ext cx="7620000" cy="781050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4362450" y="318135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476750" y="3295650"/>
            <a:ext cx="276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067300" y="317182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优势在哪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067300" y="3495675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两个不会自动消失的「不匹配」·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竞品边界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191000" y="3933825"/>
            <a:ext cx="76200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4362450" y="407670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476750" y="4191000"/>
            <a:ext cx="276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067300" y="406717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067300" y="4391025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三条问题表现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怎么处理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怎么验证有没有用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191000" y="4829175"/>
            <a:ext cx="7620000" cy="781050"/>
          </a:xfrm>
          <a:prstGeom prst="roundRect">
            <a:avLst>
              <a:gd name="adj" fmla="val 731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4362450" y="497205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476750" y="5086350"/>
            <a:ext cx="2762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067300" y="4962525"/>
            <a:ext cx="6572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为什么选这个命题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067300" y="5286375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四步立项逻辑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以及它现在缺什么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2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1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这是什么产品&#10;        &lt;/Text&gt;&#10;        &lt;Text style={{ fontSize: 22, color: '#4A5568', lineHeight: 1.7 }}&gt;&#10;            它不是又一个养殖平台，也不产生任何预警。它检查&#10;            &lt;span style={{ fontWeight: 'bold', color: '#1E4FA8' }}&gt;别人产出的预警和建议&lt;/span&gt;&#10;            里，每个数字是否有数据支持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形态：一套做事实核查与问责留痕的方法 + 工具链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交付：审计报告 · 识别假设台账 · 判定口径文档&lt;/Text&gt;&#10;            &lt;/Box&gt;&#10;            &lt;Box style={{ flexDirection: 'row', alignItems: 'center', gap: 14 }}&gt;&#10;                &lt;Box style={{ width: 10, height: 10, background: '#D9534F' }} /&gt;&#10;                &lt;Text style={{ fontSize: 20, color: '#1A2230' }}&gt;不做：不产生预警、不推荐投喂量、不控制设备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它不是又一个养殖平台，也不产生任何预警。它检查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别人产出的预警和建议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里，每个数字是否有数据支持。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4257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形态：一套做事实核查与问责留痕的方法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工具链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394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交付：审计报告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识别假设台账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判定口径文档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不做：不产生预警、不推荐投喂量、不控制设备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5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1 这是什么产品&lt;/Text&gt;&#10;        &lt;Text style={{ fontSize: 14, color: '#BFD5EF' }}&gt;水产 AI 可信性工程&lt;/Text&gt;&#10;    &lt;/Box&gt;&#10;&#10;    &lt;Box style={{ paddingLeft: 40, paddingRight: 40, paddingTop: 20, flexDirection: 'column', gap: 4 }}&gt;&#10;        &lt;Text style={{ fontSize: 32, fontWeight: 'bold', color: '#1E4FA8' }}&gt;产品做哪三件事&lt;/Text&gt;&#10;        &lt;Text style={{ fontSize: 16, color: '#4A5568' }}&gt;第三件事是产品性格，不是可选项 —— 一个只会输出的审计器没有意义&lt;/Text&gt;&#10;    &lt;/Box&gt;&#10;&#10;    &lt;Box style={{ paddingLeft: 40, paddingRight: 40, paddingTop: 16, height: 520, flexDirection: 'row', gap: 22 }}&gt;&#10;&#10;        {/* 左：三件事 */}&#10;        &lt;Box style={{ width: 700, flexDirection: 'column', gap: 10 }}&gt;&#10;&#10;            &lt;Box style={{ height: 156, background: '#F7F9FC', border: '1px solid #D6DCE5', padding: 14, flexDirection: 'column', gap: 6 }}&gt;&#10;                &lt;Box style={{ flexDirection: 'row', alignItems: 'center', gap: 12 }}&gt;&#10;                    &lt;Box style={{ width: 36, height: 36, background: '#1E4FA8', justifyContent: 'center', alignItems: 'center' }}&gt;&#10;                        &lt;Text style={{ fontSize: 18, fontWeight: 'bold', color: '#FFFFFF' }}&gt;1&lt;/Text&gt;&#10;                    &lt;/Box&gt;&#10;                    &lt;Text style={{ fontSize: 24, fontWeight: 'bold', color: '#1A2230' }}&gt;逐数字证据审计&lt;/Text&gt;&#10;                    &lt;Box style={{ paddingLeft: 12, paddingRight: 12, height: 26, background: '#E8EFF8', borderRadius: 13, justifyContent: 'center' }}&gt;&#10;                        &lt;Text style={{ fontSize: 14, color: '#1E4FA8' }}&gt;已实现&lt;/Text&gt;&#10;                    &lt;/Box&gt;&#10;                &lt;/Box&gt;&#10;                &lt;Text style={{ fontSize: 22, color: '#4A5568', lineHeight: 1.45 }}&gt;&#10;                    把一段预警文本里的&lt;span style={{ fontWeight: 'bold', color: '#1A2230' }}&gt;每一个数字&lt;/span&gt;回溯到数据源，&#10;                    判定它有没有被支持。&#10;                &lt;/Text&gt;&#10;            &lt;/Box&gt;&#10;&#10;            &lt;Box style={{ height: 156, background: '#F7F9FC', border: '1px solid #D6DCE5', padding: 14, flexDirection: 'column', gap: 6 }}&gt;&#10;                &lt;Box style={{ flexDirection: 'row', alignItems: 'center', gap: 12 }}&gt;&#10;                    &lt;Box style={{ width: 36, height: 36, background: '#1E4FA8', justifyContent: 'center', alignItems: 'center' }}&gt;&#10;                        &lt;Text style={{ fontSize: 18, fontWeight: 'bold', color: '#FFFFFF' }}&gt;2&lt;/Text&gt;&#10;                    &lt;/Box&gt;&#10;                    &lt;Text style={{ fontSize: 24, fontWeight: 'bold', color: '#1A2230' }}&gt;忠实度度量&lt;/Text&gt;&#10;                    &lt;Box style={{ paddingLeft: 12, paddingRight: 12, height: 26, background: '#E8EFF8', borderRadius: 13, justifyContent: 'center' }}&gt;&#10;                        &lt;Text style={{ fontSize: 14, color: '#1E4FA8' }}&gt;已实现&lt;/Text&gt;&#10;                    &lt;/Box&gt;&#10;                &lt;/Box&gt;&#10;                &lt;Text style={{ fontSize: 22, color: '#4A5568', lineHeight: 1.45 }}&gt;&#10;                    区分「结论&lt;span style={{ fontWeight: 'bold', color: '#1A2230' }}&gt;被来源支持&lt;/span&gt;」与&#10;                    「结论只是&lt;span style={{ fontWeight: 'bold', color: '#D9534F' }}&gt;措辞像被支持&lt;/span&gt;」。&#10;                &lt;/Text&gt;&#10;            &lt;/Box&gt;&#10;&#10;            &lt;Box style={{ height: 156, background: '#FBE9E8', border: '1px solid #D9534F', padding: 14, flexDirection: 'column', gap: 6 }}&gt;&#10;                &lt;Box style={{ flexDirection: 'row', alignItems: 'center', gap: 12 }}&gt;&#10;                    &lt;Box style={{ width: 36, height: 36, background: '#D9534F', justifyContent: 'center', alignItems: 'center' }}&gt;&#10;                        &lt;Text style={{ fontSize: 18, fontWeight: 'bold', color: '#FFFFFF' }}&gt;3&lt;/Text&gt;&#10;                    &lt;/Box&gt;&#10;                    &lt;Text style={{ fontSize: 24, fontWeight: 'bold', color: '#1A2230' }}&gt;拒答与回退&lt;/Text&gt;&#10;                    &lt;Box style={{ paddingLeft: 12, paddingRight: 12, height: 26, background: '#FFFFFF', borderRadius: 13, justifyContent: 'center' }}&gt;&#10;                        &lt;Text style={{ fontSize: 14, color: '#D9534F' }}&gt;产品性格&lt;/Text&gt;&#10;                    &lt;/Box&gt;&#10;                &lt;/Box&gt;&#10;                &lt;Text style={{ fontSize: 22, color: '#4A5568', lineHeight: 1.45 }}&gt;&#10;                    证据不足时&lt;span style={{ fontWeight: 'bold', color: '#D9534F' }}&gt;不输出&lt;/span&gt;，&#10;                    而不是编一个像样的结论。&#10;                &lt;/Text&gt;&#10;            &lt;/Box&gt;&#10;&#10;        &lt;/Box&gt;&#10;&#10;        {/* 右：审计链路 SVG + 交付物 */}&#10;        &lt;Box style={{ width: 478, flexDirection: 'column', gap: 18 }}&gt;&#10;&#10;            &lt;Box style={{ height: 254, background: '#FFFFFF', border: '1px solid #D6DCE5', padding: 14, flexDirection: 'column' }}&gt;&#10;                &lt;Text style={{ fontSize: 18, fontWeight: 'bold', color: '#1E4FA8', marginBottom: 4 }}&gt;审计链路&lt;/Text&gt;&#10;                &lt;svg width={442} height={196} viewBox='0 0 442 196'&gt;&#10;                    &lt;rect x='0' y='4' width='442' height='42' rx='4' fill='#F0F5FC' stroke='#D6DCE5' strokeWidth='1' /&gt;&#10;                    &lt;text x='14' y='22' fontSize='13' fill='#8B97A8'&gt;输入&lt;/text&gt;&#10;                    &lt;text x='14' y='39' fontSize='14' fill='#1A2230'&gt;预警文本：「溶氧降至 2.8，建议立即增氧」&lt;/text&gt;&#10;&#10;                    &lt;line x1='221' y1='50' x2='221' y2='70' stroke='#3D7BD9' strokeWidth='2' /&gt;&#10;                    &lt;polygon points='221,72 216,62 226,62' fill='#3D7BD9' /&gt;&#10;&#10;                    &lt;rect x='0' y='76' width='442' height='42' rx='4' fill='#E8EFF8' stroke='#1E4FA8' strokeWidth='1' /&gt;&#10;                    &lt;text x='14' y='94' fontSize='13' fill='#1E4FA8'&gt;逐数字回溯&lt;/text&gt;&#10;                    &lt;text x='14' y='111' fontSize='14' fill='#1A2230'&gt;2.8 → 传感器 A 记录 2.81　｜　阈值 → 规则表 v3&lt;/text&gt;&#10;&#10;                    &lt;line x1='221' y1='122' x2='221' y2='142' stroke='#3D7BD9' strokeWidth='2' /&gt;&#10;                    &lt;polygon points='221,144 216,134 226,134' fill='#3D7BD9' /&gt;&#10;&#10;                    &lt;rect x='0' y='148' width='442' height='42' rx='4' fill='#FFFFFF' stroke='#D6DCE5' strokeWidth='1' /&gt;&#10;                    &lt;text x='14' y='166' fontSize='13' fill='#8B97A8'&gt;判定&lt;/text&gt;&#10;                    &lt;text x='14' y='183' fontSize='14' fill='#1A2230'&gt;支持　/　不支持　/　无法判定（此档拒答）&lt;/text&gt;&#10;                &lt;/svg&gt;&#10;            &lt;/Box&gt;&#10;&#10;            &lt;Box style={{ flex: 1, background: '#F7F9FC', border: '1px solid #D6DCE5', padding: 16, flexDirection: 'column', gap: 8, justifyContent: 'center' }}&gt;&#10;                &lt;Text style={{ fontSize: 24, fontWeight: 'bold', color: '#1A2230' }}&gt;交付什么&lt;/Text&gt;&#10;                &lt;Text style={{ fontSize: 22, color: '#4A5568', lineHeight: 1.45 }}&gt;&#10;                    ① 逐条审计报告&lt;br /&gt;&#10;                    ② 识别假设台账（A1–A6）&lt;br /&gt;&#10;                    ③ 判定口径文档（可复现）&#10;                &lt;/Text&gt;&#10;            &lt;/Box&gt;&#10;&#10;        &lt;/Box&gt;&#10;    &lt;/Box&gt;&#10;&#10;    &lt;Box style={{ paddingLeft: 40, paddingRight: 40, height: 40, flexDirection: 'row', alignItems: 'center', justifyContent: 'space-between' }}&gt;&#10;        &lt;Text style={{ fontSize: 14, color: '#8B97A8' }}&gt;三件事都来自上一轮项目遗留、已在本地实现并跑通的可评测资产（非概念稿）&lt;/Text&gt;&#10;        &lt;Text style={{ fontSize: 14, color: '#1E4FA8' }}&gt;04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产品做哪三件事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第三件事是产品性格，不是可选项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一个只会输出的审计器没有意义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81000" y="1476375"/>
            <a:ext cx="6667500" cy="1485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514350" y="160972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28650" y="16764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71550" y="1647825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逐数字证据审计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2686050" y="16573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800350" y="1704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已实现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14350" y="2009775"/>
            <a:ext cx="6400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把一段预警文本里的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每一个数字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回溯到数据源，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判定它有没有被支持。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81000" y="3057525"/>
            <a:ext cx="6667500" cy="1485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514350" y="3190875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28650" y="3257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71550" y="322897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忠实度度量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2228850" y="323850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343150" y="32861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已实现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14350" y="3590925"/>
            <a:ext cx="64008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区分「结论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被来源支持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」与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「结论只是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措辞像被支持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81000" y="4638675"/>
            <a:ext cx="6667500" cy="1485900"/>
          </a:xfrm>
          <a:prstGeom prst="rect">
            <a:avLst/>
          </a:prstGeom>
          <a:solidFill>
            <a:srgbClr val="FBE9E8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514350" y="4772025"/>
            <a:ext cx="342900" cy="3429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28650" y="48387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71550" y="4810125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拒答与回退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2228850" y="4819650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343150" y="4867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产品性格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14350" y="5172075"/>
            <a:ext cx="64008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证据不足时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不输出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而不是编一个像样的结论。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7258050" y="1476375"/>
            <a:ext cx="4552950" cy="2419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391400" y="1609725"/>
            <a:ext cx="4286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审计链路</a:t>
            </a:r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91400" y="1857375"/>
            <a:ext cx="4210050" cy="1866900"/>
          </a:xfrm>
          <a:prstGeom prst="rect">
            <a:avLst/>
          </a:prstGeom>
          <a:ln/>
        </p:spPr>
      </p:pic>
      <p:sp>
        <p:nvSpPr>
          <p:cNvPr id="216" name=""/>
          <p:cNvSpPr/>
          <p:nvPr/>
        </p:nvSpPr>
        <p:spPr>
          <a:xfrm rot="0" flipH="0" flipV="0">
            <a:off x="7258050" y="4067175"/>
            <a:ext cx="4552950" cy="2209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410450" y="4448175"/>
            <a:ext cx="4248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交付什么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410450" y="4800600"/>
            <a:ext cx="4248150" cy="1095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①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逐条审计报告</a:t>
            </a:r>
            <a:endParaRPr/>
          </a:p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②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识别假设台账（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A1–A6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③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判定口径文档（可复现）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三件事都来自上一轮项目遗留、已在本地实现并跑通的可评测资产（非概念稿）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21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1 这是什么产品&lt;/Text&gt;&#10;        &lt;Text style={{ fontSize: 14, color: '#BFD5EF' }}&gt;水产 AI 可信性工程&lt;/Text&gt;&#10;    &lt;/Box&gt;&#10;&#10;    &lt;Box style={{ paddingLeft: 40, paddingRight: 40, paddingTop: 20, flexDirection: 'column', gap: 4 }}&gt;&#10;        &lt;Text style={{ fontSize: 32, fontWeight: 'bold', color: '#1E4FA8' }}&gt;三层价值，一次说清&lt;/Text&gt;&#10;        &lt;Text style={{ fontSize: 16, color: '#4A5568' }}&gt;这三层不是三个产品，是一条链；单独任何一层都撑不起立项&lt;/Text&gt;&#10;    &lt;/Box&gt;&#10;&#10;    &lt;Box style={{ paddingLeft: 40, paddingRight: 40, paddingTop: 16, height: 520, flexDirection: 'column', gap: 14 }}&gt;&#10;&#10;        &lt;Box style={{ flexDirection: 'row', alignItems: 'stretch', gap: 18, height: 136, background: '#F7F9FC', border: '1px solid #D6DCE5', padding: 18 }}&gt;&#10;            &lt;Box style={{ width: 76, justifyContent: 'center', alignItems: 'center' }}&gt;&#10;                &lt;Text style={{ fontSize: 56, fontWeight: 'bold', color: '#1E4FA8', lineHeight: 1 }}&gt;01&lt;/Text&gt;&#10;            &lt;/Box&gt;&#10;            &lt;Box style={{ width: 4, background: '#D6DCE5' }} /&gt;&#10;            &lt;Box style={{ flex: 1, flexDirection: 'column', justifyContent: 'center', gap: 6 }}&gt;&#10;                &lt;Box style={{ flexDirection: 'row', alignItems: 'center', gap: 10 }}&gt;&#10;                    &lt;Text style={{ fontSize: 24, fontWeight: 'bold', color: '#1A2230' }}&gt;输入可信&lt;/Text&gt;&#10;                    &lt;Box style={{ paddingLeft: 12, paddingRight: 12, height: 26, background: '#E8EFF8', borderRadius: 13, justifyContent: 'center' }}&gt;&#10;                        &lt;Text style={{ fontSize: 14, color: '#1E4FA8' }}&gt;E3 环境 · 技术环节&lt;/Text&gt;&#10;                    &lt;/Box&gt;&#10;                &lt;/Box&gt;&#10;                &lt;Text style={{ fontSize: 22, color: '#4A5568', lineHeight: 1.4 }}&gt;&#10;                    保证进到模型里的数据是干净的。价值锚在&#10;                    &lt;span style={{ fontWeight: 'bold', color: '#1A2230' }}&gt;研究缺口&lt;/span&gt;。&#10;                &lt;/Text&gt;&#10;            &lt;/Box&gt;&#10;        &lt;/Box&gt;&#10;&#10;        &lt;Box style={{ flexDirection: 'row', alignItems: 'stretch', gap: 18, height: 136, background: '#E8EFF8', border: '2px solid #1E4FA8', padding: 18 }}&gt;&#10;            &lt;Box style={{ width: 76, justifyContent: 'center', alignItems: 'center' }}&gt;&#10;                &lt;Text style={{ fontSize: 56, fontWeight: 'bold', color: '#0E3F8C', lineHeight: 1 }}&gt;02&lt;/Text&gt;&#10;            &lt;/Box&gt;&#10;            &lt;Box style={{ width: 4, background: '#1E4FA8' }} /&gt;&#10;            &lt;Box style={{ flex: 1, flexDirection: 'column', justifyContent: 'center', gap: 6 }}&gt;&#10;                &lt;Box style={{ flexDirection: 'row', alignItems: 'center', gap: 10 }}&gt;&#10;                    &lt;Text style={{ fontSize: 24, fontWeight: 'bold', color: '#0E3F8C' }}&gt;输出可信&lt;/Text&gt;&#10;                    &lt;Box style={{ paddingLeft: 12, paddingRight: 12, height: 26, background: '#0E3F8C', borderRadius: 13, justifyContent: 'center' }}&gt;&#10;                        &lt;Text style={{ fontSize: 14, color: '#FFFFFF' }}&gt;E10 · 主命题&lt;/Text&gt;&#10;                    &lt;/Box&gt;&#10;                &lt;/Box&gt;&#10;                &lt;Text style={{ fontSize: 22, color: '#1A2230', lineHeight: 1.4 }}&gt;&#10;                    保证说出去的话有数据支持、出错能被追责。&#10;                    &lt;span style={{ fontWeight: 'bold', color: '#0E3F8C' }}&gt;立论落在这里。&lt;/span&gt;&#10;                &lt;/Text&gt;&#10;            &lt;/Box&gt;&#10;        &lt;/Box&gt;&#10;&#10;        &lt;Box style={{ flexDirection: 'row', alignItems: 'stretch', gap: 18, height: 136, background: '#F7F9FC', border: '1px solid #D6DCE5', padding: 18 }}&gt;&#10;            &lt;Box style={{ width: 76, justifyContent: 'center', alignItems: 'center' }}&gt;&#10;                &lt;Text style={{ fontSize: 56, fontWeight: 'bold', color: '#1E4FA8', lineHeight: 1 }}&gt;03&lt;/Text&gt;&#10;            &lt;/Box&gt;&#10;            &lt;Box style={{ width: 4, background: '#D6DCE5' }} /&gt;&#10;            &lt;Box style={{ flex: 1, flexDirection: 'column', justifyContent: 'center', gap: 6 }}&gt;&#10;                &lt;Box style={{ flexDirection: 'row', alignItems: 'center', gap: 10 }}&gt;&#10;                    &lt;Text style={{ fontSize: 24, fontWeight: 'bold', color: '#1A2230' }}&gt;数据来源&lt;/Text&gt;&#10;                    &lt;Box style={{ paddingLeft: 12, paddingRight: 12, height: 26, background: '#E8EFF8', borderRadius: 13, justifyContent: 'center' }}&gt;&#10;                        &lt;Text style={{ fontSize: 14, color: '#1E4FA8' }}&gt;E8 环境 · 技术环节&lt;/Text&gt;&#10;                    &lt;/Box&gt;&#10;                &lt;/Box&gt;&#10;                &lt;Text style={{ fontSize: 22, color: '#4A5568', lineHeight: 1.4 }}&gt;&#10;                    不进塘口、不装传感器也能拿到数据。&#10;                    这一环回答「你们的数据从哪来」。&#10;                &lt;/Text&gt;&#10;            &lt;/Box&gt;&#10;        &lt;/Box&gt;&#10;&#10;        &lt;Box style={{ flexDirection: 'row', alignItems: 'center', gap: 14, paddingLeft: 20, paddingRight: 20, height: 42, background: '#0E3F8C' }}&gt;&#10;            &lt;Text style={{ fontSize: 22, color: '#FFFFFF', lineHeight: 1.35, flex: 1 }}&gt;&#10;                主命题是中间那层。&#10;                &lt;span style={{ color: '#FFC107', fontWeight: 'bold' }}&gt;两侧是技术路线的支撑环节，不并列成子课题。&lt;/span&gt;&#10;            &lt;/Text&gt;&#10;        &lt;/Box&gt;&#10;&#10;    &lt;/Box&gt;&#10;&#10;    &lt;Box style={{ paddingLeft: 40, paddingRight: 40, height: 40, flexDirection: 'row', alignItems: 'center', justifyContent: 'space-between' }}&gt;&#10;        &lt;Text style={{ fontSize: 14, color: '#8B97A8' }}&gt;三层链划分依据：16 方向审查的总览「推荐的重组主线」｜E3 价值表述遵循其门禁 A 的硬约束（不包装为商业机会）&lt;/Text&gt;&#10;        &lt;Text style={{ fontSize: 14, color: '#1E4FA8' }}&gt;05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01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这是什么产品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三层价值，一次说清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这三层不是三个产品，是一条链；单独任何一层都撑不起立项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1000" y="1476375"/>
            <a:ext cx="11430000" cy="1295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81025" y="1800225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1447800" y="1647825"/>
            <a:ext cx="38100" cy="9525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657350" y="17811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输入可信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2667000" y="1800225"/>
            <a:ext cx="13335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2781300" y="184785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E3 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环境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技术环节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657350" y="2114550"/>
            <a:ext cx="99822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保证进到模型里的数据是干净的。价值锚在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研究缺口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81000" y="2905125"/>
            <a:ext cx="11430000" cy="1295400"/>
          </a:xfrm>
          <a:prstGeom prst="rect">
            <a:avLst/>
          </a:prstGeom>
          <a:solidFill>
            <a:srgbClr val="E8EFF8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81025" y="3228975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1447800" y="3076575"/>
            <a:ext cx="38100" cy="952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657350" y="32099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输出可信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2667000" y="322897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781300" y="327660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E10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主命题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657350" y="3543300"/>
            <a:ext cx="99822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保证说出去的话有数据支持、出错能被追责。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立论落在这里。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381000" y="4333875"/>
            <a:ext cx="11430000" cy="1295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81025" y="4657725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1447800" y="4505325"/>
            <a:ext cx="38100" cy="9525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657350" y="46386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数据来源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2667000" y="4657725"/>
            <a:ext cx="13335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781300" y="4705350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E8 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环境</a:t>
            </a: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技术环节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657350" y="4972050"/>
            <a:ext cx="99822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不进塘口、不装传感器也能拿到数据。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这一环回答「你们的数据从哪来」。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81000" y="5762625"/>
            <a:ext cx="11430000" cy="4000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5791200"/>
            <a:ext cx="110490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主命题是中间那层。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两侧是技术路线的支撑环节，不并列成子课题。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6962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三层链划分依据：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方向审查的总览「推荐的重组主线」｜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E3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价值表述遵循其门禁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的硬约束（不包装为商业机会）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53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2 服务谁&lt;/Text&gt;&#10;        &lt;Text style={{ fontSize: 14, color: '#BFD5EF' }}&gt;水产 AI 可信性工程&lt;/Text&gt;&#10;    &lt;/Box&gt;&#10;&#10;    &lt;Box style={{ paddingLeft: 40, paddingRight: 40, paddingTop: 20, flexDirection: 'column', gap: 4 }}&gt;&#10;        &lt;Text style={{ fontSize: 32, fontWeight: 'bold', color: '#1E4FA8' }}&gt;四层对象，四类需求&lt;/Text&gt;&#10;        &lt;Text style={{ fontSize: 16, color: '#4A5568' }}&gt;以下是目标对象，不是客户名单 —— 目前一家也没有&lt;/Text&gt;&#10;    &lt;/Box&gt;&#10;&#10;    &lt;Box style={{ paddingLeft: 40, paddingRight: 40, paddingTop: 16, height: 520, flexDirection: 'column', gap: 14 }}&gt;&#10;&#10;        &lt;Box style={{ flexDirection: 'row', gap: 14, height: 230 }}&gt;&#10;&#10;            &lt;Box style={{ flex: 1, background: '#F7F9FC', border: '1px solid #D6DCE5', padding: 16, flexDirection: 'column', gap: 10 }}&gt;&#10;                &lt;Box style={{ flexDirection: 'row', alignItems: 'center', gap: 10 }}&gt;&#10;                    &lt;Box style={{ width: 34, height: 34, background: '#1E4FA8', justifyContent: 'center', alignItems: 'center' }}&gt;&#10;                        &lt;Text style={{ fontSize: 17, fontWeight: 'bold', color: '#FFFFFF' }}&gt;01&lt;/Text&gt;&#10;                    &lt;/Box&gt;&#10;                    &lt;Text style={{ fontSize: 24, fontWeight: 'bold', color: '#1A2230' }}&gt;养殖户 / 合作社&lt;/Text&gt;&#10;                &lt;/Box&gt;&#10;                &lt;Text style={{ fontSize: 22, color: '#4A5568', lineHeight: 1.45 }}&gt;&#10;                    收到预警后想知道：&#10;                    &lt;br /&gt;「这条的数字从哪来？」&#10;                    &lt;br /&gt;「错了找谁？」&#10;                &lt;/Text&gt;&#10;            &lt;/Box&gt;&#10;&#10;            &lt;Box style={{ flex: 1, background: '#FFFFFF', border: '1px solid #D6DCE5', padding: 16, flexDirection: 'column', gap: 10 }}&gt;&#10;                &lt;Box style={{ flexDirection: 'row', alignItems: 'center', gap: 10 }}&gt;&#10;                    &lt;Box style={{ width: 34, height: 34, background: '#1E4FA8', justifyContent: 'center', alignItems: 'center' }}&gt;&#10;                        &lt;Text style={{ fontSize: 17, fontWeight: 'bold', color: '#FFFFFF' }}&gt;02&lt;/Text&gt;&#10;                    &lt;/Box&gt;&#10;                    &lt;Text style={{ fontSize: 24, fontWeight: 'bold', color: '#1A2230' }}&gt;技术服务商 / 设备商&lt;/Text&gt;&#10;                &lt;/Box&gt;&#10;                &lt;Text style={{ fontSize: 22, color: '#4A5568', lineHeight: 1.45 }}&gt;&#10;                    自己产出的预警要经得起客户追问，&#10;                    &lt;br /&gt;否则售后成本全压在&#10;                    &lt;br /&gt;「解释为什么报了」上。&#10;                &lt;/Text&gt;&#10;            &lt;/Box&gt;&#10;&#10;            &lt;Box style={{ flex: 1, background: '#FFFFFF', border: '1px solid #D6DCE5', padding: 16, flexDirection: 'column', gap: 10 }}&gt;&#10;                &lt;Box style={{ flexDirection: 'row', alignItems: 'center', gap: 10 }}&gt;&#10;                    &lt;Box style={{ width: 34, height: 34, background: '#1E4FA8', justifyContent: 'center', alignItems: 'center' }}&gt;&#10;                        &lt;Text style={{ fontSize: 17, fontWeight: 'bold', color: '#FFFFFF' }}&gt;03&lt;/Text&gt;&#10;                    &lt;/Box&gt;&#10;                    &lt;Text style={{ fontSize: 24, fontWeight: 'bold', color: '#1A2230' }}&gt;高校 / 科研团队&lt;/Text&gt;&#10;                &lt;/Box&gt;&#10;                &lt;Text style={{ fontSize: 22, color: '#4A5568', lineHeight: 1.45 }}&gt;&#10;                    用观测数据推出效应结论，&#10;                    &lt;br /&gt;投稿时会被审稿人反复问&#10;                    &lt;br /&gt;识别假设。&#10;                &lt;/Text&gt;&#10;            &lt;/Box&gt;&#10;&#10;            &lt;Box style={{ flex: 1, background: '#F7F9FC', border: '1px solid #D6DCE5', padding: 16, flexDirection: 'column', gap: 10 }}&gt;&#10;                &lt;Box style={{ flexDirection: 'row', alignItems: 'center', gap: 10 }}&gt;&#10;                    &lt;Box style={{ width: 34, height: 34, background: '#1E4FA8', justifyContent: 'center', alignItems: 'center' }}&gt;&#10;                        &lt;Text style={{ fontSize: 17, fontWeight: 'bold', color: '#FFFFFF' }}&gt;04&lt;/Text&gt;&#10;                    &lt;/Box&gt;&#10;                    &lt;Text style={{ fontSize: 24, fontWeight: 'bold', color: '#1A2230' }}&gt;保险 / 金融风控&lt;/Text&gt;&#10;                &lt;/Box&gt;&#10;                &lt;Text style={{ fontSize: 22, color: '#4A5568', lineHeight: 1.45 }}&gt;&#10;                    定损或授信引用了&#10;                    &lt;br /&gt;养殖监测结论，需要它&#10;                    &lt;br /&gt;能被追溯到数据。&#10;                &lt;/Text&gt;&#10;            &lt;/Box&gt;&#10;&#10;        &lt;/Box&gt;&#10;&#10;        &lt;Box style={{ flexDirection: 'row', gap: 14, height: 184 }}&gt;&#10;&#10;            &lt;Box style={{ width: 700, background: '#E8EFF8', borderLeft: '4px solid #1E4FA8', padding: 16, flexDirection: 'column', gap: 8, justifyContent: 'center' }}&gt;&#10;                &lt;Text style={{ fontSize: 24, fontWeight: 'bold', color: '#1A2230' }}&gt;优先级：从第 03 类切入&lt;/Text&gt;&#10;                &lt;Text style={{ fontSize: 22, color: '#4A5568', lineHeight: 1.45 }}&gt;&#10;                    其一，科研团队已经在被迫回答识别假设的问题，需求最现成；&#10;                    其二，我们缺的评审方就在这一层，切进去等于同时解决需求与阻断项。&#10;                &lt;/Text&gt;&#10;            &lt;/Box&gt;&#10;&#10;            &lt;Box style={{ flex: 1, background: '#FFFFFF', border: '1px solid #D6DCE5', padding: 16, flexDirection: 'column', gap: 6, justifyContent: 'center' }}&gt;&#10;                &lt;Text style={{ fontSize: 19, color: '#4A5568' }}&gt;第 01、02 类怎么触达&lt;/Text&gt;&#10;                &lt;Text style={{ fontSize: 22, color: '#1A2230', lineHeight: 1.4 }}&gt;&#10;                    不直接做 C 端 —— 经服务商与合作社&#10;                    &lt;span style={{ fontWeight: 'bold', color: '#1E4FA8' }}&gt;间接嵌入&lt;/span&gt;他们的交付物。&#10;                &lt;/Text&gt;&#10;            &lt;/Box&gt;&#10;&#10;        &lt;/Box&gt;&#10;&#10;    &lt;/Box&gt;&#10;&#10;    &lt;Box style={{ paddingLeft: 40, paddingRight: 40, height: 40, flexDirection: 'row', alignItems: 'center', justifyContent: 'space-between' }}&gt;&#10;        &lt;Text style={{ fontSize: 14, color: '#8B97A8' }}&gt;对象分类为在本项目场景下的自定划分，非引自文献或市场调研；未做任何真实客户访谈&lt;/Text&gt;&#10;        &lt;Text style={{ fontSize: 14, color: '#1E4FA8' }}&gt;06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02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四层对象，四类需求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以下是目标对象，不是客户名单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目前一家也没有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381000" y="1476375"/>
            <a:ext cx="2762250" cy="2190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533400" y="162877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0075" y="16954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52500" y="1657350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养殖户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合作社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533400" y="2047875"/>
            <a:ext cx="2457450" cy="1095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收到预警后想知道：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「这条的数字从哪来？」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「错了找谁？」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3276600" y="1476375"/>
            <a:ext cx="2752725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3429000" y="162877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495675" y="16954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838575" y="1657350"/>
            <a:ext cx="2038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技术服务商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设备商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429000" y="2047875"/>
            <a:ext cx="2447925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自己产出的预警要经得起客户追问，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否则售后成本全压在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「解释为什么报了」上。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162675" y="1476375"/>
            <a:ext cx="27622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6315075" y="162877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381750" y="16954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734175" y="1657350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高校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科研团队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315075" y="2047875"/>
            <a:ext cx="24574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用观测数据推出效应结论，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投稿时会被审稿人反复问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识别假设。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9058275" y="1476375"/>
            <a:ext cx="2752725" cy="21907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9210675" y="162877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277350" y="169545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9629775" y="1657350"/>
            <a:ext cx="1619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保险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金融风控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210675" y="2047875"/>
            <a:ext cx="2447925" cy="1095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定损或授信引用了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养殖监测结论，需要它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能被追溯到数据。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419100" y="3800475"/>
            <a:ext cx="6629400" cy="17526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381000" y="3800475"/>
            <a:ext cx="6667500" cy="1752600"/>
          </a:xfrm>
          <a:custGeom>
            <a:pathLst>
              <a:path w="700" h="184">
                <a:moveTo>
                  <a:pt x="0" y="0"/>
                </a:moveTo>
                <a:lnTo>
                  <a:pt x="4" y="0"/>
                </a:lnTo>
                <a:lnTo>
                  <a:pt x="4" y="184"/>
                </a:lnTo>
                <a:lnTo>
                  <a:pt x="0" y="18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71500" y="3952875"/>
            <a:ext cx="632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优先级：从第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03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类切入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71500" y="4305300"/>
            <a:ext cx="63246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其一，科研团队已经在被迫回答识别假设的问题，需求最现成；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其二，我们缺的评审方就在这一层，切进去等于同时解决需求与阻断项。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181850" y="3800475"/>
            <a:ext cx="4629150" cy="175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334250" y="4191000"/>
            <a:ext cx="4324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01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02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类怎么触达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334250" y="4467225"/>
            <a:ext cx="43243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不直接做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C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端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经服务商与合作社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间接嵌入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他们的交付物。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对象分类为在本项目场景下的自定划分，非引自文献或市场调研；未做任何真实客户访谈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style={{ width: 1280, height: 720, background: '#FFFFFF', flexDirection: 'row' }}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服务谁&#10;        &lt;/Text&gt;&#10;        &lt;Text style={{ fontSize: 22, color: '#4A5568', lineHeight: 1.7 }}&gt;&#10;            这一章要回答的是：为什么不是「给农户做个 App」。&#10;            养殖 AI 的信任问题，最痛的往往不是最终看数据的人，而是&#10;            &lt;span style={{ fontWeight: 'bold', color: '#1E4FA8' }}&gt;要对结论负责的那个人&lt;/span&gt;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四层对象：养殖户 / 服务商 / 科研团队 / 风控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三个触发场景，全部来自我们自己的复盘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切入点是第 03 类，因为它同时解决需求与缺的评审方&lt;/Text&gt;&#10;            &lt;/Box&gt;&#10;        &lt;/Box&gt;&#10;    &lt;/Box&gt;&#10;&#10;    &lt;Box style={{ width: 460, height: 720, background: '#F0F5FC', justifyContent: 'center', alignItems: 'center' }}&gt;&#10;        &lt;Text style={{ fontSize: 180, fontWeight: 'bold', color: '#1E4FA8', lineHeight: 1 }}&gt;02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3810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3810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810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这一章要回答的是：为什么不是「给农户做个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App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」。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养殖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的信任问题，最痛的往往不是最终看数据的人，而是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要对结论负责的那个人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09600" y="4124325"/>
            <a:ext cx="3829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四层对象：养殖户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服务商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科研团队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风控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10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三个触发场景，全部来自我们自己的复盘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381000" y="48768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481012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切入点是第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03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类，因为它同时解决需求与缺的评审方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781050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9439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02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2 服务谁&lt;/Text&gt;&#10;        &lt;Text style={{ fontSize: 14, color: '#BFD5EF' }}&gt;水产 AI 可信性工程&lt;/Text&gt;&#10;    &lt;/Box&gt;&#10;&#10;    &lt;Box style={{ paddingLeft: 40, paddingRight: 40, paddingTop: 20, flexDirection: 'column', gap: 4 }}&gt;&#10;        &lt;Text style={{ fontSize: 32, fontWeight: 'bold', color: '#1E4FA8' }}&gt;需求从哪来：三个真实触发场景&lt;/Text&gt;&#10;        &lt;Text style={{ fontSize: 16, color: '#4A5568' }}&gt;这三个场景来自我们上一轮真实失败项目的复盘，不是假想客户访谈&lt;/Text&gt;&#10;    &lt;/Box&gt;&#10;&#10;    &lt;Box style={{ paddingLeft: 40, paddingRight: 40, paddingTop: 16, height: 520, flexDirection: 'column', gap: 14 }}&gt;&#10;&#10;        &lt;Box style={{ flexDirection: 'row', gap: 14, height: 300 }}&gt;&#10;&#10;            &lt;Box style={{ flex: 1, background: '#F7F9FC', border: '1px solid #D6DCE5', padding: 16, flexDirection: 'column', gap: 10 }}&gt;&#10;                &lt;Box style={{ flexDirection: 'row', alignItems: 'center', gap: 10 }}&gt;&#10;                    &lt;Box style={{ width: 34, height: 34, background: '#1E4FA8', justifyContent: 'center', alignItems: 'center' }}&gt;&#10;                        &lt;Text style={{ fontSize: 17, fontWeight: 'bold', color: '#FFFFFF' }}&gt;1&lt;/Text&gt;&#10;                    &lt;/Box&gt;&#10;                    &lt;Text style={{ fontSize: 24, fontWeight: 'bold', color: '#1A2230' }}&gt;预警发出去了，被问「凭什么」&lt;/Text&gt;&#10;                &lt;/Box&gt;&#10;                &lt;Text style={{ fontSize: 22, color: '#4A5568', lineHeight: 1.45 }}&gt;&#10;                    预警里的数字和原始记录对不上，&#10;                    &lt;span style={{ fontWeight: 'bold', color: '#1A2230' }}&gt;计算链路没有留痕&lt;/span&gt;，&#10;                    事后谁也复述不出来。&#10;                    &lt;br /&gt;&lt;br /&gt;&#10;                    &lt;span style={{ fontWeight: 'bold', color: '#1E4FA8' }}&gt;对应：逐数字证据审计&lt;/span&gt;&#10;                &lt;/Text&gt;&#10;            &lt;/Box&gt;&#10;&#10;            &lt;Box style={{ flex: 1, background: '#F7F9FC', border: '1px solid #D6DCE5', padding: 16, flexDirection: 'column', gap: 10 }}&gt;&#10;                &lt;Box style={{ flexDirection: 'row', alignItems: 'center', gap: 10 }}&gt;&#10;                    &lt;Box style={{ width: 34, height: 34, background: '#1E4FA8', justifyContent: 'center', alignItems: 'center' }}&gt;&#10;                        &lt;Text style={{ fontSize: 17, fontWeight: 'bold', color: '#FFFFFF' }}&gt;2&lt;/Text&gt;&#10;                    &lt;/Box&gt;&#10;                    &lt;Text style={{ fontSize: 24, fontWeight: 'bold', color: '#1A2230' }}&gt;两个来源，两个结论&lt;/Text&gt;&#10;                &lt;/Box&gt;&#10;                &lt;Text style={{ fontSize: 22, color: '#4A5568', lineHeight: 1.45 }}&gt;&#10;                    同一口塘，浮标说水质恶化、人工采样说正常。&#10;                    没有口径说明，无法判定该信谁。&#10;                    &lt;br /&gt;&lt;br /&gt;&#10;                    &lt;span style={{ fontWeight: 'bold', color: '#1E4FA8' }}&gt;对应：忠实度与口径一致性&lt;/span&gt;&#10;                &lt;/Text&gt;&#10;            &lt;/Box&gt;&#10;&#10;            &lt;Box style={{ flex: 1, background: '#FBE9E8', border: '1px solid #D9534F', padding: 16, flexDirection: 'column', gap: 10 }}&gt;&#10;                &lt;Box style={{ flexDirection: 'row', alignItems: 'center', gap: 10 }}&gt;&#10;                    &lt;Box style={{ width: 34, height: 34, background: '#D9534F', justifyContent: 'center', alignItems: 'center' }}&gt;&#10;                        &lt;Text style={{ fontSize: 17, fontWeight: 'bold', color: '#FFFFFF' }}&gt;3&lt;/Text&gt;&#10;                    &lt;/Box&gt;&#10;                    &lt;Text style={{ fontSize: 24, fontWeight: 'bold', color: '#1A2230' }}&gt;结论被用后出了问题&lt;/Text&gt;&#10;                &lt;/Box&gt;&#10;                &lt;Text style={{ fontSize: 22, color: '#4A5568', lineHeight: 1.45 }}&gt;&#10;                    需要回溯：当时依据是什么、&#10;                    假设了什么、谁签的字 —— 而当时&#10;                    &lt;span style={{ fontWeight: 'bold', color: '#D9534F' }}&gt;什么都没记&lt;/span&gt;。&#10;                    &lt;br /&gt;&lt;br /&gt;&#10;                    &lt;span style={{ fontWeight: 'bold', color: '#D9534F' }}&gt;对应：假设台账与问责留痕&lt;/span&gt;&#10;                &lt;/Text&gt;&#10;            &lt;/Box&gt;&#10;&#10;        &lt;/Box&gt;&#10;&#10;        &lt;Box style={{ flexDirection: 'row', gap: 14, height: 190 }}&gt;&#10;&#10;            &lt;Box style={{ flex: 1, background: '#FFFFFF', border: '1px solid #D6DCE5', padding: 16, flexDirection: 'column', gap: 8, justifyContent: 'center' }}&gt;&#10;                &lt;Text style={{ fontSize: 24, fontWeight: 'bold', color: '#1A2230' }}&gt;三个场景有一个共同点&lt;/Text&gt;&#10;                &lt;Text style={{ fontSize: 22, color: '#4A5568', lineHeight: 1.45 }}&gt;&#10;                    它们都不是「模型不够准」的问题，&#10;                    而是&lt;span style={{ fontWeight: 'bold', color: '#1E4FA8' }}&gt;「说不清为什么」&lt;/span&gt;的问题。&#10;                    把模型换得更准，这三件事一件也不会变好。&#10;                &lt;/Text&gt;&#10;            &lt;/Box&gt;&#10;&#10;            &lt;Box style={{ width: 380, background: '#E8EFF8', borderLeft: '4px solid #1E4FA8', padding: 16, flexDirection: 'column', gap: 6, justifyContent: 'center' }}&gt;&#10;                &lt;Text style={{ fontSize: 19, color: '#4A5568' }}&gt;场景来源&lt;/Text&gt;&#10;                &lt;Text style={{ fontSize: 22, color: '#1A2230', lineHeight: 1.4 }}&gt;&#10;                    上一轮《蓝哨》预警系统的&lt;br /&gt;真实失败复盘记录。&#10;                &lt;/Text&gt;&#10;            &lt;/Box&gt;&#10;&#10;        &lt;/Box&gt;&#10;&#10;    &lt;/Box&gt;&#10;&#10;    &lt;Box style={{ paddingLeft: 40, paddingRight: 40, height: 40, flexDirection: 'row', alignItems: 'center', justifyContent: 'space-between' }}&gt;&#10;        &lt;Text style={{ fontSize: 14, color: '#8B97A8' }}&gt;场景为对自身项目失败经历的归纳，未做外部客户访谈；不构成对任何机构现状的陈述&lt;/Text&gt;&#10;        &lt;Text style={{ fontSize: 14, color: '#1E4FA8' }}&gt;08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02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服务谁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需求从哪来：三个真实触发场景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这三个场景来自我们上一轮真实失败项目的复盘，不是假想客户访谈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" y="1476375"/>
            <a:ext cx="3724275" cy="28575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533400" y="162877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47700" y="16954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33450" y="1657350"/>
            <a:ext cx="3019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预警发出去了，被问「凭什么」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33400" y="2047875"/>
            <a:ext cx="3419475" cy="1828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预警里的数字和原始记录对不上，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计算链路没有留痕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事后谁也复述不出来。</a:t>
            </a:r>
            <a:endParaRPr/>
          </a:p>
          <a:p>
            <a:pPr>
              <a:lnSpc>
                <a:spcPct val="145000"/>
              </a:lnSpc>
            </a:pPr>
            <a:r>
              <a:rPr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对应：逐数字证据审计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238625" y="1476375"/>
            <a:ext cx="3714750" cy="28575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4391025" y="162877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505325" y="16954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810125" y="1657350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两个来源，两个结论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391025" y="2047875"/>
            <a:ext cx="3409950" cy="1828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同一口塘，浮标说水质恶化、人工采样说正常。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没有口径说明，无法判定该信谁。</a:t>
            </a:r>
            <a:endParaRPr/>
          </a:p>
          <a:p>
            <a:pPr>
              <a:lnSpc>
                <a:spcPct val="145000"/>
              </a:lnSpc>
            </a:pPr>
            <a:r>
              <a:rPr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对应：忠实度与口径一致性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8086725" y="1476375"/>
            <a:ext cx="3724275" cy="2857500"/>
          </a:xfrm>
          <a:prstGeom prst="rect">
            <a:avLst/>
          </a:prstGeom>
          <a:solidFill>
            <a:srgbClr val="FBE9E8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8239125" y="1628775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53425" y="16954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658225" y="1657350"/>
            <a:ext cx="205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结论被用后出了问题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239125" y="2047875"/>
            <a:ext cx="3419475" cy="1828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需要回溯：当时依据是什么、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假设了什么、谁签的字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而当时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什么都没记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45000"/>
              </a:lnSpc>
            </a:pPr>
            <a:r>
              <a:rPr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对应：假设台账与问责留痕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" y="4467225"/>
            <a:ext cx="767715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33400" y="4829175"/>
            <a:ext cx="7372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三个场景有一个共同点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33400" y="5181600"/>
            <a:ext cx="73723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它们都不是「模型不够准」的问题，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而是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「说不清为什么」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的问题。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把模型换得更准，这三件事一件也不会变好。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8229600" y="4467225"/>
            <a:ext cx="3581400" cy="18097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8191500" y="4467225"/>
            <a:ext cx="3619500" cy="1809750"/>
          </a:xfrm>
          <a:custGeom>
            <a:pathLst>
              <a:path w="380" h="190">
                <a:moveTo>
                  <a:pt x="0" y="0"/>
                </a:moveTo>
                <a:lnTo>
                  <a:pt x="4" y="0"/>
                </a:lnTo>
                <a:lnTo>
                  <a:pt x="4" y="190"/>
                </a:lnTo>
                <a:lnTo>
                  <a:pt x="0" y="19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0" y="4886325"/>
            <a:ext cx="3276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场景来源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0" y="5162550"/>
            <a:ext cx="3276600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上一轮《蓝哨》预警系统的</a:t>
            </a:r>
            <a:endParaRPr/>
          </a:p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真实失败复盘记录。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06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场景为对自身项目失败经历的归纳，未做外部客户访谈；不构成对任何机构现状的陈述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33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3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优势在哪&#10;        &lt;/Text&gt;&#10;        &lt;Text style={{ fontSize: 22, color: '#4A5568', lineHeight: 1.7 }}&gt;&#10;            这一章要回答的是：&lt;span style={{ fontWeight: 'bold', color: '#1E4FA8' }}&gt;凭什么是我们&lt;/span&gt;。&#10;            答案不是「我们更聪明」，而是三件别人要么没动机、要么做不了的事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优势不是「我们有什么」，是「为什么别人不做」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理由必须不是「他们没想到」—— 那随时可被消除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能站住的只有两个结构性错配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优势在哪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这一章要回答的是：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凭什么是我们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答案不是「我们更聪明」，而是三件别人要么没动机、要么做不了的事。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优势不是「我们有什么」，是「为什么别人不做」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428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理由必须不是「他们没想到」——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那随时可被消除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247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能站住的只有两个结构性错配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3 优势在哪&lt;/Text&gt;&#10;        &lt;Text style={{ fontSize: 14, color: '#BFD5EF' }}&gt;水产 AI 可信性工程&lt;/Text&gt;&#10;    &lt;/Box&gt;&#10;&#10;    &lt;Box style={{ paddingLeft: 40, paddingRight: 40, paddingTop: 18, flexDirection: 'column', gap: 4 }}&gt;&#10;        &lt;Text style={{ fontSize: 32, fontWeight: 'bold', color: '#1E4FA8' }}&gt;优势不在算法，在两个「不匹配」&lt;/Text&gt;&#10;        &lt;Text style={{ fontSize: 16, color: '#4A5568' }}&gt;这两个错配不会自动消失 —— 这才是优势能站住的原因&lt;/Text&gt;&#10;    &lt;/Box&gt;&#10;&#10;    &lt;Box style={{ paddingLeft: 40, paddingRight: 40, paddingTop: 14, height: 522, flexDirection: 'row', gap: 20 }}&gt;&#10;&#10;        {/* 左栏：两个不匹配 + 能力对照 */}&#10;        &lt;Box style={{ width: 716, flexDirection: 'column', gap: 12 }}&gt;&#10;&#10;            &lt;Box style={{ height: 136, background: '#F7F9FC', border: '1px solid #D6DCE5', padding: 14, flexDirection: 'column', gap: 6 }}&gt;&#10;                &lt;Box style={{ flexDirection: 'row', alignItems: 'center', gap: 12 }}&gt;&#10;                    &lt;Box style={{ width: 34, height: 34, background: '#1E4FA8', justifyContent: 'center', alignItems: 'center' }}&gt;&#10;                        &lt;Text style={{ fontSize: 17, fontWeight: 'bold', color: '#FFFFFF' }}&gt;1&lt;/Text&gt;&#10;                    &lt;/Box&gt;&#10;                    &lt;Text style={{ fontSize: 24, fontWeight: 'bold', color: '#1A2230' }}&gt;动机不匹配&lt;/Text&gt;&#10;                    &lt;Box style={{ paddingLeft: 12, paddingRight: 12, height: 26, background: '#E8EFF8', borderRadius: 13, justifyContent: 'center' }}&gt;&#10;                        &lt;Text style={{ fontSize: 14, color: '#1E4FA8' }}&gt;不会消失&lt;/Text&gt;&#10;                    &lt;/Box&gt;&#10;                &lt;/Box&gt;&#10;                &lt;Text style={{ fontSize: 22, color: '#4A5568', lineHeight: 1.4 }}&gt;&#10;                    做安全合规的那家，KPI 是&#10;                    &lt;span style={{ fontWeight: 'bold', color: '#1A2230' }}&gt;拦截率与误报率&lt;/span&gt;，&#10;                    不关心「这个数字从哪条数据算出来」。&#10;                &lt;/Text&gt;&#10;            &lt;/Box&gt;&#10;&#10;            &lt;Box style={{ height: 136, background: '#F7F9FC', border: '1px solid #D6DCE5', padding: 14, flexDirection: 'column', gap: 6 }}&gt;&#10;                &lt;Box style={{ flexDirection: 'row', alignItems: 'center', gap: 12 }}&gt;&#10;                    &lt;Box style={{ width: 34, height: 34, background: '#1E4FA8', justifyContent: 'center', alignItems: 'center' }}&gt;&#10;                        &lt;Text style={{ fontSize: 17, fontWeight: 'bold', color: '#FFFFFF' }}&gt;2&lt;/Text&gt;&#10;                    &lt;/Box&gt;&#10;                    &lt;Text style={{ fontSize: 24, fontWeight: 'bold', color: '#1A2230' }}&gt;粒度不匹配&lt;/Text&gt;&#10;                    &lt;Box style={{ paddingLeft: 12, paddingRight: 12, height: 26, background: '#E8EFF8', borderRadius: 13, justifyContent: 'center' }}&gt;&#10;                        &lt;Text style={{ fontSize: 14, color: '#1E4FA8' }}&gt;不会消失&lt;/Text&gt;&#10;                    &lt;/Box&gt;&#10;                &lt;/Box&gt;&#10;                &lt;Text style={{ fontSize: 22, color: '#4A5568', lineHeight: 1.4 }}&gt;&#10;                    通用工具评测的是「问答对」「特征分布」。养殖预警文本的&#10;                    &lt;span style={{ fontWeight: 'bold', color: '#1A2230' }}&gt;领域结构&lt;/span&gt;，通用工具不认识。&#10;                &lt;/Text&gt;&#10;            &lt;/Box&gt;&#10;&#10;            {/* 能力对照 SVG */}&#10;            &lt;Box style={{ flex: 1, background: '#FFFFFF', border: '1px solid #D6DCE5', padding: 14, flexDirection: 'column' }}&gt;&#10;                &lt;Text style={{ fontSize: 18, fontWeight: 'bold', color: '#1E4FA8', marginBottom: 2 }}&gt;能力分层与缺口&lt;/Text&gt;&#10;                &lt;svg width={688} height={160} viewBox='0 0 688 160'&gt;&#10;                    &lt;rect x='0' y='8' width='212' height='62' rx='4' fill='#F0F5FC' stroke='#D6DCE5' strokeWidth='1' /&gt;&#10;                    &lt;text x='106' y='32' fontSize='14' fill='#1A2230' textAnchor='middle' fontWeight='bold'&gt;安全合规层&lt;/text&gt;&#10;                    &lt;text x='106' y='52' fontSize='12' fill='#8B97A8' textAnchor='middle'&gt;拦有害内容 · 查合规风险&lt;/text&gt;&#10;&#10;                    &lt;rect x='238' y='8' width='212' height='62' rx='4' fill='#F0F5FC' stroke='#D6DCE5' strokeWidth='1' /&gt;&#10;                    &lt;text x='344' y='32' fontSize='14' fill='#1A2230' textAnchor='middle' fontWeight='bold'&gt;通用可信层&lt;/text&gt;&#10;                    &lt;text x='344' y='52' fontSize='12' fill='#8B97A8' textAnchor='middle'&gt;问答对 · 特征分布 · 漂移&lt;/text&gt;&#10;&#10;                    &lt;rect x='476' y='4' width='212' height='70' rx='4' fill='#E8EFF8' stroke='#1E4FA8' strokeWidth='2' /&gt;&#10;                    &lt;text x='582' y='30' fontSize='14' fill='#0E3F8C' textAnchor='middle' fontWeight='bold'&gt;事实与问责层&lt;/text&gt;&#10;                    &lt;text x='582' y='50' fontSize='12' fill='#1E4FA8' textAnchor='middle'&gt;逐数字回溯 · 出错定位到环节&lt;/text&gt;&#10;                    &lt;text x='582' y='66' fontSize='12' fill='#D9534F' textAnchor='middle'&gt;← 本项目&lt;/text&gt;&#10;&#10;                    &lt;line x1='218' y1='39' x2='232' y2='39' stroke='#D6DCE5' strokeWidth='2' /&gt;&#10;                    &lt;line x1='456' y1='39' x2='470' y2='39' stroke='#D6DCE5' strokeWidth='2' /&gt;&#10;&#10;                    &lt;rect x='0' y='92' width='688' height='60' rx='4' fill='#0E3F8C' /&gt;&#10;                    &lt;text x='16' y='116' fontSize='14' fill='#FFC107' fontWeight='bold'&gt;关键区别：&lt;/text&gt;&#10;                    &lt;text x='100' y='116' fontSize='14' fill='#FFFFFF'&gt;我们的理由不是「他们没想到」。&lt;/text&gt;&#10;                    &lt;text x='16' y='138' fontSize='14' fill='#BFD5EF'&gt;大厂不缺想到这件事的人，缺的是「为湛江的散户预警文本做问责」这个具体动机。&lt;/text&gt;&#10;                &lt;/svg&gt;&#10;            &lt;/Box&gt;&#10;&#10;        &lt;/Box&gt;&#10;&#10;        {/* 右栏：门槛 + 深蓝实色卡（全篇 2 张之一） */}&#10;        &lt;Box style={{ width: 464, flexDirection: 'column', gap: 12 }}&gt;&#10;&#10;            &lt;Box style={{ height: 268, background: '#0E3F8C', padding: 20, flexDirection: 'column', gap: 10, justifyContent: 'center' }}&gt;&#10;                &lt;Text style={{ fontSize: 24, fontWeight: 'bold', color: '#FFFFFF', lineHeight: 1.35 }}&gt;&#10;                    别人做不了的地方在哪&#10;                &lt;/Text&gt;&#10;                &lt;Text style={{ fontSize: 22, color: '#BFD5EF', lineHeight: 1.45 }}&gt;&#10;                    门槛不在算法，在&#10;                    &lt;span style={{ color: '#FFC107', fontWeight: 'bold' }}&gt;数据的连续性&lt;/span&gt;。&#10;                    &lt;br /&gt;&#10;                    要证明「审计有效」，必须有一批&#10;                    &lt;span style={{ color: '#FFC107', fontWeight: 'bold' }}&gt;真实产生过错误&lt;/span&gt;&#10;                    的预警文本 —— 这类数据只在长期运营的系统里有。&#10;                &lt;/Text&gt;&#10;            &lt;/Box&gt;&#10;&#10;            &lt;Box style={{ flex: 1, background: '#F7F9FC', border: '1px solid #D6DCE5', padding: 16, flexDirection: 'column', gap: 8, justifyContent: 'center' }}&gt;&#10;                &lt;Text style={{ fontSize: 24, fontWeight: 'bold', color: '#1A2230' }}&gt;我们为什么有这批数据&lt;/Text&gt;&#10;                &lt;Text style={{ fontSize: 22, color: '#4A5568', lineHeight: 1.45 }}&gt;&#10;                    上一轮预警系统留下的真实运行记录，&#10;                    连同可复现的评测集与判定口径 ——&#10;                    这是本项目&#10;                    &lt;span style={{ fontWeight: 'bold', color: '#1E4FA8' }}&gt;已经握在手里的东西&lt;/span&gt;。&#10;                &lt;/Text&gt;&#10;            &lt;/Box&gt;&#10;&#10;        &lt;/Box&gt;&#10;    &lt;/Box&gt;&#10;&#10;    &lt;Box style={{ paddingLeft: 40, paddingRight: 40, height: 40, flexDirection: 'row', alignItems: 'center', justifyContent: 'space-between' }}&gt;&#10;        &lt;Text style={{ fontSize: 14, color: '#8B97A8' }}&gt;近邻判定基于 2026-09-20 所及范围内的公开信息；未见披露不等于不存在&lt;/Text&gt;&#10;        &lt;Text style={{ fontSize: 14, color: '#1E4FA8' }}&gt;10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86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03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优势在哪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81000" y="7048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优势不在算法，在两个「不匹配」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81000" y="11144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这两个错配不会自动消失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这才是优势能站住的原因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81000" y="1438275"/>
            <a:ext cx="6819900" cy="1295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514350" y="157162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28650" y="16383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52500" y="160020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动机不匹配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2209800" y="1609725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324100" y="1657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不会消失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14350" y="1952625"/>
            <a:ext cx="65532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做安全合规的那家，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KPI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是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拦截率与误报率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不关心「这个数字从哪条数据算出来」。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81000" y="2847975"/>
            <a:ext cx="6819900" cy="1295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514350" y="2981325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28650" y="30480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52500" y="300990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粒度不匹配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2209800" y="3019425"/>
            <a:ext cx="76200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324100" y="30670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FA8"/>
                </a:solidFill>
                <a:latin typeface="Microsoft YaHei"/>
                <a:ea typeface="Microsoft YaHei"/>
              </a:rPr>
              <a:t>不会消失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14350" y="3362325"/>
            <a:ext cx="65532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通用工具评测的是「问答对」「特征分布」。养殖预警文本的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领域结构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，通用工具不认识。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81000" y="4257675"/>
            <a:ext cx="681990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14350" y="4391025"/>
            <a:ext cx="655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能力分层与缺口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4350" y="4619625"/>
            <a:ext cx="6553200" cy="1524000"/>
          </a:xfrm>
          <a:prstGeom prst="rect">
            <a:avLst/>
          </a:prstGeom>
          <a:ln/>
        </p:spPr>
      </p:pic>
      <p:sp>
        <p:nvSpPr>
          <p:cNvPr id="45" name=""/>
          <p:cNvSpPr/>
          <p:nvPr/>
        </p:nvSpPr>
        <p:spPr>
          <a:xfrm rot="0" flipH="0" flipV="0">
            <a:off x="7391400" y="1438275"/>
            <a:ext cx="4419600" cy="25527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581900" y="1752600"/>
            <a:ext cx="40386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别人做不了的地方在哪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581900" y="2219325"/>
            <a:ext cx="40386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门槛不在算法，在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数据的连续性</a:t>
            </a: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45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要证明「审计有效」，必须有一批</a:t>
            </a:r>
            <a:r>
              <a:rPr lang="zh-CN" sz="1650" b="1">
                <a:solidFill>
                  <a:srgbClr val="FFC107"/>
                </a:solidFill>
                <a:latin typeface="Microsoft YaHei"/>
                <a:ea typeface="Microsoft YaHei"/>
              </a:rPr>
              <a:t>真实产生过错误</a:t>
            </a: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的预警文本</a:t>
            </a:r>
            <a:r>
              <a:rPr lang="en-US" sz="1650">
                <a:solidFill>
                  <a:srgbClr val="BFD5EF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这类数据只在长期运营的系统里有。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391400" y="4105275"/>
            <a:ext cx="4419600" cy="21717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543800" y="4467225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我们为什么有这批数据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543800" y="4819650"/>
            <a:ext cx="4114800" cy="1095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上一轮预警系统留下的真实运行记录，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连同可复现的评测集与判定口径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这是本项目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已经握在手里的东西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4429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近邻判定基于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2026-09-20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所及范围内的公开信息；未见披露不等于不存在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width: 1280, height: 720, background: '#FFFFFF', flexDirection: 'row' }}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解决什么问题&#10;        &lt;/Text&gt;&#10;        &lt;Text style={{ fontSize: 22, color: '#4A5568', lineHeight: 1.7 }}&gt;&#10;            这一章要回答：&lt;span style={{ fontWeight: 'bold', color: '#1E4FA8' }}&gt;具体到一条预警、一个数字，我们解决了什么&lt;/span&gt;。&#10;            问题必须小到可验证，大到值得做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数字对不上源 —— 能回到哪一条记录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措辞冒充依据 —— 忠实度能不能计算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出事查不到 —— 假设有没有被记下来&lt;/Text&gt;&#10;            &lt;/Box&gt;&#10;        &lt;/Box&gt;&#10;    &lt;/Box&gt;&#10;&#10;    &lt;Box style={{ width: 460, height: 720, background: '#F0F5FC', justifyContent: 'center', alignItems: 'center' }}&gt;&#10;        &lt;Text style={{ fontSize: 180, fontWeight: 'bold', color: '#1E4FA8', lineHeight: 1 }}&gt;0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3810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10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这一章要回答：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具体到一条预警、一个数字，我们解决了什么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问题必须小到可验证，大到值得做。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41243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数字对不上源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能回到哪一条记录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810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措辞冒充依据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忠实度能不能计算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81000" y="48768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48101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出事查不到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假设有没有被记下来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781050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9439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6" name="" descr="&lt;Slide style={{ width: 1280, height: 720, background: '#FFFFFF', flexDirection: 'column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4 解决什么问题&lt;/Text&gt;&#10;        &lt;Text style={{ fontSize: 14, color: '#BFD5EF' }}&gt;水产 AI 可信性工程&lt;/Text&gt;&#10;    &lt;/Box&gt;&#10;&#10;    &lt;Box style={{ paddingLeft: 40, paddingRight: 40, paddingTop: 20, flexDirection: 'column', gap: 4 }}&gt;&#10;        &lt;Text style={{ fontSize: 32, fontWeight: 'bold', color: '#1E4FA8' }}&gt;三个问题，和我们的答案&lt;/Text&gt;&#10;        &lt;Text style={{ fontSize: 16, color: '#4A5568' }}&gt;「怎么验证有没有用」这一列，是我们和纯概念方案的区别&lt;/Text&gt;&#10;    &lt;/Box&gt;&#10;&#10;    &lt;Box style={{ paddingLeft: 40, paddingRight: 40, paddingTop: 14, height: 522, flexDirection: 'column', gap: 12 }}&gt;&#10;&#10;        &lt;Table&#10;            style={{ width: '100%', height: 352 }}&#10;            defaultTextStyle={{ fontSize: 17, textAlign: 'left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}}&#10;            cells={[&#10;                [&#10;                    { text: '问题表现', textStyle: { bold: true, color: '#FFFFFF' }, cellStyle: { background: { color: '#1E4FA8' } } },&#10;                    { text: '为什么会发生', textStyle: { bold: true, color: '#FFFFFF' }, cellStyle: { background: { color: '#1E4FA8' } } },&#10;                    { text: '我们怎么处理', textStyle: { bold: true, color: '#FFFFFF' }, cellStyle: { background: { color: '#1E4FA8' } } },&#10;                    { text: '怎么验证有没有用', textStyle: { bold: true, color: '#FFFFFF' }, cellStyle: { background: { color: '#1E4FA8' } } },&#10;                ],&#10;                [&#10;                    { text: '数字对不上源', textStyle: { bold: true } },&#10;                    '结论和原始数据之间没有留痕，谁也算不回去',&#10;                    { text: '逐数字回溯审计，每个数字给出来源与判定', textStyle: { color: '#0E3F8C' } },&#10;                    { text: '在已知含错误的文本集上测判定一致性', textStyle: { color: '#1E4FA8', bold: true } },&#10;                ],&#10;                [&#10;                    { text: '结论被措辞冒充「有支持」', cellStyle: { background: { color: '#F7F9FC' } }, textStyle: { bold: true, color: '#1A2230' } },&#10;                    { text: '忠实度凭阅读判断不出来，只能靠感觉', cellStyle: { background: { color: '#F7F9FC' } } },&#10;                    { text: '把忠实度变成可计算的量，而不是阅读意见', cellStyle: { background: { color: '#F7F9FC' } }, textStyle: { color: '#0E3F8C' } },&#10;                    { text: '构造支持 / 仅措辞相似两类样本测区分度', cellStyle: { background: { color: '#F7F9FC' } }, textStyle: { color: '#1E4FA8', bold: true } },&#10;                ],&#10;                [&#10;                    { text: '出错后无法定位', textStyle: { bold: true } },&#10;                    '识别假设没有被记录，事后无法复述当时的判断条件',&#10;                    { text: '识别假设台账（A1–A6）+ 报告守卫拦截', textStyle: { color: '#0E3F8C' } },&#10;                    { text: '不合格输出被拦截的比例', textStyle: { color: '#1E4FA8', bold: true } },&#10;                ],&#10;            ]}&#10;        /&gt;&#10;&#10;        &lt;Box style={{ flexDirection: 'row', gap: 14, height: 140 }}&gt;&#10;            &lt;Box style={{ flex: 1, background: '#E8EFF8', borderLeft: '4px solid #1E4FA8', padding: 16, flexDirection: 'column', gap: 6, justifyContent: 'center' }}&gt;&#10;                &lt;Text style={{ fontSize: 19, fontWeight: 'bold', color: '#0E3F8C' }}&gt;这三条的验证已经跑通&lt;/Text&gt;&#10;                &lt;Text style={{ fontSize: 22, color: '#4A5568', lineHeight: 1.4 }}&gt;&#10;                    判定项 &lt;b&gt;21/21&lt;/b&gt;、不变量 &lt;b&gt;19/19&lt;/b&gt;。&#10;                    但要说清楚：验证的是「方法有没有用」，&#10;                    &lt;span style={{ fontWeight: 'bold', color: '#D9534F' }}&gt;不是「在真实塘口有没有用」&lt;/span&gt;。&#10;                &lt;/Text&gt;&#10;            &lt;/Box&gt;&#10;            &lt;Box style={{ width: 340, background: '#FFFFFF', border: '1px solid #D6DCE5', padding: 16, flexDirection: 'column', gap: 6, justifyContent: 'center' }}&gt;&#10;                &lt;Text style={{ fontSize: 19, color: '#4A5568' }}&gt;数据性质&lt;/Text&gt;&#10;                &lt;Text style={{ fontSize: 22, color: '#1A2230', lineHeight: 1.4 }}&gt;&#10;                    全部为&lt;b style={{ color: '#1E4FA8' }}&gt;【合成】&lt;/b&gt;数据，真值已知。&#10;                &lt;/Text&gt;&#10;            &lt;/Box&gt;&#10;        &lt;/Box&gt;&#10;&#10;    &lt;/Box&gt;&#10;&#10;    &lt;Box style={{ paddingLeft: 40, paddingRight: 40, height: 40, flexDirection: 'row', alignItems: 'center', justifyContent: 'space-between' }}&gt;&#10;        &lt;Text style={{ fontSize: 14, color: '#8B97A8' }}&gt;判定项与不变量数据见 05-验证/实验与验证报告.md；【合成】数据结论不得外推真实塘口&lt;/Text&gt;&#10;        &lt;Text style={{ fontSize: 14, color: '#1E4FA8' }}&gt;12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17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04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解决什么问题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72390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三个问题，和我们的答案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1133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「怎么验证有没有用」这一列，是我们和纯概念方案的区别</a:t>
            </a:r>
            <a:endParaRPr/>
          </a:p>
        </p:txBody>
      </p:sp>
      <p:graphicFrame>
        <p:nvGraphicFramePr>
          <p:cNvPr id="73" name=""/>
          <p:cNvGraphicFramePr/>
          <p:nvPr/>
        </p:nvGraphicFramePr>
        <p:xfrm rot="0" flipH="0" flipV="0">
          <a:off x="381000" y="1457325"/>
          <a:ext cx="11430000" cy="3352800"/>
        </p:xfrm>
        <a:graphic>
          <a:graphicData uri="http://schemas.openxmlformats.org/drawingml/2006/table">
            <a:tbl>
              <a:tblGrid>
                <a:gridCol w="1930914">
                  <a:extLst>
                    <a:ext uri="{9D8B030D-6E8A-4147-A177-3AD203B41FA5}">
                      <a16:colId val="1"/>
                    </a:ext>
                  </a:extLst>
                </a:gridCol>
                <a:gridCol w="3621368">
                  <a:extLst>
                    <a:ext uri="{9D8B030D-6E8A-4147-A177-3AD203B41FA5}">
                      <a16:colId val="2"/>
                    </a:ext>
                  </a:extLst>
                </a:gridCol>
                <a:gridCol w="3006658">
                  <a:extLst>
                    <a:ext uri="{9D8B030D-6E8A-4147-A177-3AD203B41FA5}">
                      <a16:colId val="3"/>
                    </a:ext>
                  </a:extLst>
                </a:gridCol>
                <a:gridCol w="287106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55136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问题表现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为什么会发生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我们怎么处理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怎么验证有没有用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9338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数字对不上源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结论和原始数据之间没有留痕，谁也算不回去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逐数字回溯审计，每个数字给出来源与判定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在已知含错误的文本集上测判定一致性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9338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结论被措辞冒充「有支持」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忠实度凭阅读判断不出来，只能靠感觉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把忠实度变成可计算的量，而不是阅读意见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构造支持 / 仅措辞相似两类样本测区分度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93381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出错后无法定位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识别假设没有被记录，事后无法复述当时的判断条件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识别假设台账（A1–A6）+ 报告守卫拦截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不合格输出被拦截的比例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74" name=""/>
          <p:cNvSpPr/>
          <p:nvPr/>
        </p:nvSpPr>
        <p:spPr>
          <a:xfrm rot="0" flipH="0" flipV="0">
            <a:off x="419100" y="4924425"/>
            <a:ext cx="8058150" cy="1333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381000" y="4924425"/>
            <a:ext cx="8096250" cy="1333500"/>
          </a:xfrm>
          <a:custGeom>
            <a:pathLst>
              <a:path w="850" h="140">
                <a:moveTo>
                  <a:pt x="0" y="0"/>
                </a:moveTo>
                <a:lnTo>
                  <a:pt x="4" y="0"/>
                </a:lnTo>
                <a:lnTo>
                  <a:pt x="4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71500" y="5105400"/>
            <a:ext cx="771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这三条的验证已经跑通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1500" y="5381625"/>
            <a:ext cx="77152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判定项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21/21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、不变量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19/19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但要说清楚：验证的是「方法有没有用」，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不是「在真实塘口有没有用」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572500" y="4924425"/>
            <a:ext cx="32385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724900" y="5105400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数据性质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724900" y="5381625"/>
            <a:ext cx="29337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全部为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【合成】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数据，真值已知。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81000" y="6410325"/>
            <a:ext cx="536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判定项与不变量数据见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05-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验证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实验与验证报告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.md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；【合成】数据结论不得外推真实塘口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353800" y="64103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style={{ width: 1280, height: 720, background: '#FFFFFF', flexDirection: 'row' }}&gt;&#10;&#10;    &lt;Box style={{ width: 460, height: 720, background: '#F0F5FC', justifyContent: 'center', alignItems: 'center' }}&gt;&#10;        &lt;Text style={{ fontSize: 180, fontWeight: 'bold', color: '#1E4FA8', lineHeight: 1 }}&gt;05&lt;/Text&gt;&#10;    &lt;/Box&gt;&#10;&#10;    &lt;Box style={{ width: 820, height: 720, padding: 40, flexDirection: 'column', justifyContent: 'center', gap: 18 }}&gt;&#10;        &lt;Box style={{ width: 80, height: 4, background: '#FFC107' }} /&gt;&#10;        &lt;Text style={{ fontSize: 60, fontWeight: 'bold', color: '#0E3F8C', lineHeight: 1.2 }}&gt;&#10;            为什么选这个命题&#10;        &lt;/Text&gt;&#10;        &lt;Text style={{ fontSize: 22, color: '#4A5568', lineHeight: 1.7 }}&gt;&#10;            这一章是立项逻辑自述。核心不是「这个方向好」，而是&#10;            &lt;span style={{ fontWeight: 'bold', color: '#1E4FA8' }}&gt;我们做砸过一次，因此知道该怎么选&lt;/span&gt;。&#10;        &lt;/Text&gt;&#10;&#10;        &lt;Box style={{ flexDirection: 'column', gap: 12, marginTop: 6 }}&gt;&#10;            &lt;Box style={{ flexDirection: 'row', alignItems: 'center', gap: 14 }}&gt;&#10;                &lt;Box style={{ width: 10, height: 10, background: '#1E4FA8' }} /&gt;&#10;                &lt;Text style={{ fontSize: 20, color: '#1A2230' }}&gt;上一轮的教训：不能用「没人做」立项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16 个方向过审，只有 3 个站着&lt;/Text&gt;&#10;            &lt;/Box&gt;&#10;            &lt;Box style={{ flexDirection: 'row', alignItems: 'center', gap: 14 }}&gt;&#10;                &lt;Box style={{ width: 10, height: 10, background: '#1E4FA8' }} /&gt;&#10;                &lt;Text style={{ fontSize: 20, color: '#1A2230' }}&gt;承认近邻存在，再指出差异 —— 这是唯一站得住的路&lt;/Text&gt;&#10;            &lt;/Box&gt;&#10;        &lt;/Box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2124075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1E4FA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762500" y="182880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762500" y="2038350"/>
            <a:ext cx="70485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为什么选这个命题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762500" y="3038475"/>
            <a:ext cx="70485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这一章是立项逻辑自述。核心不是「这个方向好」，而是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我们做砸过一次，因此知道该怎么选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762500" y="41910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991100" y="4124325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上一轮的教训：不能用「没人做」立项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762500" y="45339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991100" y="4467225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个方向过审，只有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个站着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762500" y="487680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991100" y="481012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承认近邻存在，再指出差异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这是唯一站得住的路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96" name="" descr="&lt;Slide style={{ width: 1280, height: 720, background: '#FFFFFF', flexDirection: 'column', position: 'relative' }}&gt;&#10;&#10;    &lt;Box style={{ width: 1280, height: 56, background: '#1E4FA8', flexDirection: 'row', alignItems: 'center', justifyContent: 'space-between', paddingLeft: 40, paddingRight: 40 }}&gt;&#10;        &lt;Text style={{ fontSize: 14, color: '#BFD5EF', letterSpacing: 2 }}&gt;05 为什么选这个命题&lt;/Text&gt;&#10;        &lt;Text style={{ fontSize: 14, color: '#BFD5EF' }}&gt;水产 AI 可信性工程&lt;/Text&gt;&#10;    &lt;/Box&gt;&#10;&#10;    &lt;Box style={{ paddingLeft: 40, paddingRight: 40, paddingTop: 18, flexDirection: 'column', gap: 4 }}&gt;&#10;        &lt;Text style={{ fontSize: 32, fontWeight: 'bold', color: '#1E4FA8' }}&gt;立项逻辑，与坦诚的缺口&lt;/Text&gt;&#10;        &lt;Text style={{ fontSize: 16, color: '#4A5568' }}&gt;空白型依据占比 0% —— 这不是修辞，是上一轮失败换来的纪律&lt;/Text&gt;&#10;    &lt;/Box&gt;&#10;&#10;    &lt;Box style={{ paddingLeft: 40, paddingRight: 40, paddingTop: 14, height: 522, flexDirection: 'row', gap: 20 }}&gt;&#10;&#10;        {/* 左：四步立项逻辑 */}&#10;        &lt;Box style={{ width: 716, flexDirection: 'column', gap: 10 }}&gt;&#10;&#10;            &lt;Box style={{ height: 96, background: '#F7F9FC', border: '1px solid #D6DCE5', borderLeft: '4px solid #1E4FA8', paddingLeft: 16, paddingRight: 16, flexDirection: 'row', alignItems: 'center', gap: 16 }}&gt;&#10;                &lt;Text style={{ fontSize: 34, fontWeight: 'bold', color: '#1E4FA8', lineHeight: 1, width: 48 }}&gt;01&lt;/Text&gt;&#10;                &lt;Box style={{ flexDirection: 'column', gap: 4, flex: 1 }}&gt;&#10;                    &lt;Text style={{ fontSize: 24, fontWeight: 'bold', color: '#1A2230' }}&gt;先承认近邻存在&lt;/Text&gt;&#10;                    &lt;Text style={{ fontSize: 22, color: '#4A5568', lineHeight: 1.35 }}&gt;&#10;                        做合规层的、做通用可信性工具的，他们确实在做这件事。&#10;                    &lt;/Text&gt;&#10;                &lt;/Box&gt;&#10;            &lt;/Box&gt;&#10;&#10;            &lt;Box style={{ height: 96, background: '#F7F9FC', border: '1px solid #D6DCE5', borderLeft: '4px solid #1E4FA8', paddingLeft: 16, paddingRight: 16, flexDirection: 'row', alignItems: 'center', gap: 16 }}&gt;&#10;                &lt;Text style={{ fontSize: 34, fontWeight: 'bold', color: '#1E4FA8', lineHeight: 1, width: 48 }}&gt;02&lt;/Text&gt;&#10;                &lt;Box style={{ flexDirection: 'column', gap: 4, flex: 1 }}&gt;&#10;                    &lt;Text style={{ fontSize: 24, fontWeight: 'bold', color: '#1A2230' }}&gt;指出对象差异&lt;/Text&gt;&#10;                    &lt;Text style={{ fontSize: 22, color: '#4A5568', lineHeight: 1.35 }}&gt;&#10;                        事实与问责层，不等于安全合规层。服务的目的不同。&#10;                    &lt;/Text&gt;&#10;                &lt;/Box&gt;&#10;            &lt;/Box&gt;&#10;&#10;            &lt;Box style={{ height: 96, background: '#F7F9FC', border: '1px solid #D6DCE5', borderLeft: '4px solid #1E4FA8', paddingLeft: 16, paddingRight: 16, flexDirection: 'row', alignItems: 'center', gap: 16 }}&gt;&#10;                &lt;Text style={{ fontSize: 34, fontWeight: 'bold', color: '#1E4FA8', lineHeight: 1, width: 48 }}&gt;03&lt;/Text&gt;&#10;                &lt;Box style={{ flexDirection: 'column', gap: 4, flex: 1 }}&gt;&#10;                    &lt;Text style={{ fontSize: 24, fontWeight: 'bold', color: '#1A2230' }}&gt;指出粒度差异&lt;/Text&gt;&#10;                    &lt;Text style={{ fontSize: 22, color: '#4A5568', lineHeight: 1.35 }}&gt;&#10;                        养殖预警文本的领域结构，不等于通用问答对。&#10;                    &lt;/Text&gt;&#10;                &lt;/Box&gt;&#10;            &lt;/Box&gt;&#10;&#10;            &lt;Box style={{ height: 96, background: '#E8EFF8', border: '1px solid #1E4FA8', borderLeft: '4px solid #1E4FA8', paddingLeft: 16, paddingRight: 16, flexDirection: 'row', alignItems: 'center', gap: 16 }}&gt;&#10;                &lt;Text style={{ fontSize: 34, fontWeight: 'bold', color: '#0E3F8C', lineHeight: 1, width: 48 }}&gt;04&lt;/Text&gt;&#10;                &lt;Box style={{ flexDirection: 'column', gap: 4, flex: 1 }}&gt;&#10;                    &lt;Text style={{ fontSize: 24, fontWeight: 'bold', color: '#0E3F8C' }}&gt;用可评测资产作能力证明&lt;/Text&gt;&#10;                    &lt;Text style={{ fontSize: 22, color: '#1A2230', lineHeight: 1.35 }}&gt;&#10;                        上一轮遗留的三件资产，已经实现并跑通过。&#10;                    &lt;/Text&gt;&#10;                &lt;/Box&gt;&#10;            &lt;/Box&gt;&#10;&#10;            &lt;Box style={{ flex: 1, background: '#FFFFFF', border: '1px solid #D6DCE5', paddingLeft: 16, paddingRight: 16, flexDirection: 'row', alignItems: 'center', gap: 14 }}&gt;&#10;                &lt;Text style={{ fontSize: 19, color: '#4A5568', width: 150 }}&gt;为什么必须这样写&lt;/Text&gt;&#10;                &lt;Text style={{ fontSize: 22, color: '#1A2230', lineHeight: 1.35, flex: 1 }}&gt;&#10;                    16 个候选方向里 &lt;b&gt;11 个&lt;/b&gt;产品重复性 ≤3 分 —— 靠「没人做」立项，站不住。&#10;                &lt;/Text&gt;&#10;            &lt;/Box&gt;&#10;&#10;        &lt;/Box&gt;&#10;&#10;        {/* 右：缺口（深蓝实色卡，全篇 2 张之一） */}&#10;        &lt;Box style={{ width: 464, flexDirection: 'column', gap: 12 }}&gt;&#10;&#10;            &lt;Box style={{ flexDirection: 'row', alignItems: 'center', gap: 10, height: 32 }}&gt;&#10;                &lt;Text style={{ fontSize: 22, fontWeight: 'bold', color: '#1A2230' }}&gt;现在还缺什么&lt;/Text&gt;&#10;                &lt;Box style={{ paddingLeft: 12, paddingRight: 12, height: 26, background: '#FBE9E8', borderRadius: 13, justifyContent: 'center' }}&gt;&#10;                    &lt;Text style={{ fontSize: 14, color: '#D9534F' }}&gt;不绕过&lt;/Text&gt;&#10;                &lt;/Box&gt;&#10;            &lt;/Box&gt;&#10;&#10;            &lt;Box style={{ height: 226, background: '#0E3F8C', padding: 18, flexDirection: 'column', gap: 10, justifyContent: 'center' }}&gt;&#10;                &lt;Box style={{ flexDirection: 'column', gap: 4 }}&gt;&#10;                    &lt;Text style={{ fontSize: 21, fontWeight: 'bold', color: '#FFC107' }}&gt;B-1 · 数据通道&lt;/Text&gt;&#10;                    &lt;Text style={{ fontSize: 22, color: '#BFD5EF', lineHeight: 1.35 }}&gt;&#10;                        可用的真实养殖观测数据，或公开可得的数据集。&#10;                    &lt;/Text&gt;&#10;                &lt;/Box&gt;&#10;                &lt;Box style={{ width: '100%', height: 1, background: '#2A5AA0' }} /&gt;&#10;                &lt;Box style={{ flexDirection: 'column', gap: 4 }}&gt;&#10;                    &lt;Text style={{ fontSize: 21, fontWeight: 'bold', color: '#FFC107' }}&gt;B-3 · 评审方&lt;/Text&gt;&#10;                    &lt;Text style={{ fontSize: 22, color: '#BFD5EF', lineHeight: 1.35 }}&gt;&#10;                        愿意对识别假设给反馈的指导老师或真实用户。&#10;                    &lt;/Text&gt;&#10;                &lt;/Box&gt;&#10;            &lt;/Box&gt;&#10;&#10;            &lt;Box style={{ height: 118, background: '#FBE9E8', border: '1px solid #D9534F', padding: 14, flexDirection: 'column', gap: 4, justifyContent: 'center' }}&gt;&#10;                &lt;Text style={{ fontSize: 19, fontWeight: 'bold', color: '#D9534F' }}&gt;我们的选择：不绕过&lt;/Text&gt;&#10;                &lt;Text style={{ fontSize: 22, color: '#4A5568', lineHeight: 1.35 }}&gt;&#10;                    B-1 落实之前，不对外提供任何效应量数字。&#10;                &lt;/Text&gt;&#10;            &lt;/Box&gt;&#10;&#10;        &lt;/Box&gt;&#10;    &lt;/Box&gt;&#10;&#10;    &lt;Box style={{ paddingLeft: 40, paddingRight: 40, height: 40, flexDirection: 'row', alignItems: 'center', justifyContent: 'space-between' }}&gt;&#10;        &lt;Text style={{ fontSize: 14, color: '#8B97A8' }}&gt;立项逻辑四步与阻断项内容见 project/F1/README.md；方向判定见 project/16-方向审查/&lt;/Text&gt;&#10;        &lt;Text style={{ fontSize: 14, color: '#1E4FA8' }}&gt;14 / 1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147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BFD5EF"/>
                </a:solidFill>
                <a:latin typeface="Microsoft YaHei"/>
                <a:ea typeface="Microsoft YaHei"/>
              </a:rPr>
              <a:t>05 </a:t>
            </a:r>
            <a:r>
              <a:rPr lang="zh-CN" sz="1050" spc="150">
                <a:solidFill>
                  <a:srgbClr val="BFD5EF"/>
                </a:solidFill>
                <a:latin typeface="Microsoft YaHei"/>
                <a:ea typeface="Microsoft YaHei"/>
              </a:rPr>
              <a:t>为什么选这个命题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658475" y="19050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水产</a:t>
            </a:r>
            <a:r>
              <a:rPr lang="en-US" sz="1050">
                <a:solidFill>
                  <a:srgbClr val="BFD5E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BFD5EF"/>
                </a:solidFill>
                <a:latin typeface="Microsoft YaHei"/>
                <a:ea typeface="Microsoft YaHei"/>
              </a:rPr>
              <a:t>可信性工程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81000" y="704850"/>
            <a:ext cx="11430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4FA8"/>
                </a:solidFill>
                <a:latin typeface="Microsoft YaHei"/>
                <a:ea typeface="Microsoft YaHei"/>
              </a:rPr>
              <a:t>立项逻辑，与坦诚的缺口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11144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空白型依据占比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0%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这不是修辞，是上一轮失败换来的纪律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19100" y="1438275"/>
            <a:ext cx="6819900" cy="914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381000" y="1438275"/>
            <a:ext cx="6858000" cy="914400"/>
          </a:xfrm>
          <a:custGeom>
            <a:pathLst>
              <a:path w="720" h="96">
                <a:moveTo>
                  <a:pt x="0" y="0"/>
                </a:moveTo>
                <a:lnTo>
                  <a:pt x="4" y="0"/>
                </a:lnTo>
                <a:lnTo>
                  <a:pt x="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1704975"/>
            <a:ext cx="457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81100" y="1571625"/>
            <a:ext cx="586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先承认近邻存在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81100" y="1885950"/>
            <a:ext cx="58674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做合规层的、做通用可信性工具的，他们确实在做这件事。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419100" y="2447925"/>
            <a:ext cx="6819900" cy="914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381000" y="2447925"/>
            <a:ext cx="6858000" cy="914400"/>
          </a:xfrm>
          <a:custGeom>
            <a:pathLst>
              <a:path w="720" h="96">
                <a:moveTo>
                  <a:pt x="0" y="0"/>
                </a:moveTo>
                <a:lnTo>
                  <a:pt x="4" y="0"/>
                </a:lnTo>
                <a:lnTo>
                  <a:pt x="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2714625"/>
            <a:ext cx="457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81100" y="2581275"/>
            <a:ext cx="586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指出对象差异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81100" y="2895600"/>
            <a:ext cx="58674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事实与问责层，不等于安全合规层。服务的目的不同。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19100" y="3457575"/>
            <a:ext cx="6819900" cy="914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381000" y="3457575"/>
            <a:ext cx="6858000" cy="914400"/>
          </a:xfrm>
          <a:custGeom>
            <a:pathLst>
              <a:path w="720" h="96">
                <a:moveTo>
                  <a:pt x="0" y="0"/>
                </a:moveTo>
                <a:lnTo>
                  <a:pt x="4" y="0"/>
                </a:lnTo>
                <a:lnTo>
                  <a:pt x="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3724275"/>
            <a:ext cx="457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81100" y="3590925"/>
            <a:ext cx="586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指出粒度差异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81100" y="3905250"/>
            <a:ext cx="58674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养殖预警文本的领域结构，不等于通用问答对。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419100" y="4467225"/>
            <a:ext cx="6819900" cy="914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381000" y="4467225"/>
            <a:ext cx="6858000" cy="914400"/>
          </a:xfrm>
          <a:custGeom>
            <a:pathLst>
              <a:path w="720" h="96">
                <a:moveTo>
                  <a:pt x="0" y="0"/>
                </a:moveTo>
                <a:lnTo>
                  <a:pt x="4" y="0"/>
                </a:lnTo>
                <a:lnTo>
                  <a:pt x="4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4733925"/>
            <a:ext cx="457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81100" y="4600575"/>
            <a:ext cx="5867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用可评测资产作能力证明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81100" y="4914900"/>
            <a:ext cx="5867400" cy="3429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上一轮遗留的三件资产，已经实现并跑通过。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81000" y="5476875"/>
            <a:ext cx="6819900" cy="80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33400" y="5657850"/>
            <a:ext cx="1428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为什么必须这样写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2095500" y="5534025"/>
            <a:ext cx="4953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16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个候选方向里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11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产品重复性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≤3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靠「没人做」立项，站不住。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391400" y="14668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现在还缺什么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8743950" y="1466850"/>
            <a:ext cx="628650" cy="247650"/>
          </a:xfrm>
          <a:prstGeom prst="roundRect">
            <a:avLst>
              <a:gd name="adj" fmla="val 50000"/>
            </a:avLst>
          </a:prstGeom>
          <a:solidFill>
            <a:srgbClr val="FBE9E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858250" y="15144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9534F"/>
                </a:solidFill>
                <a:latin typeface="Microsoft YaHei"/>
                <a:ea typeface="Microsoft YaHei"/>
              </a:rPr>
              <a:t>不绕过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7391400" y="1857375"/>
            <a:ext cx="4419600" cy="21526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562850" y="186690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B-1 ·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数据通道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562850" y="2152650"/>
            <a:ext cx="4076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可用的真实养殖观测数据，或公开可得的数据集。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7562850" y="2933700"/>
            <a:ext cx="4076700" cy="9525"/>
          </a:xfrm>
          <a:prstGeom prst="rect">
            <a:avLst/>
          </a:prstGeom>
          <a:solidFill>
            <a:srgbClr val="2A5AA0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562850" y="303847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C107"/>
                </a:solidFill>
                <a:latin typeface="Microsoft YaHei"/>
                <a:ea typeface="Microsoft YaHei"/>
              </a:rPr>
              <a:t>B-3 · </a:t>
            </a:r>
            <a:r>
              <a:rPr lang="zh-CN" sz="1575" b="1">
                <a:solidFill>
                  <a:srgbClr val="FFC107"/>
                </a:solidFill>
                <a:latin typeface="Microsoft YaHei"/>
                <a:ea typeface="Microsoft YaHei"/>
              </a:rPr>
              <a:t>评审方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562850" y="3324225"/>
            <a:ext cx="4076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650">
                <a:solidFill>
                  <a:srgbClr val="BFD5EF"/>
                </a:solidFill>
                <a:latin typeface="Microsoft YaHei"/>
                <a:ea typeface="Microsoft YaHei"/>
              </a:rPr>
              <a:t>愿意对识别假设给反馈的指导老师或真实用户。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391400" y="4124325"/>
            <a:ext cx="4419600" cy="1123950"/>
          </a:xfrm>
          <a:prstGeom prst="rect">
            <a:avLst/>
          </a:prstGeom>
          <a:solidFill>
            <a:srgbClr val="FBE9E8"/>
          </a:solidFill>
          <a:ln w="12700">
            <a:solidFill>
              <a:srgbClr val="D9534F"/>
            </a:solidFill>
            <a:prstDash val="solid"/>
          </a:ln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524750" y="4219575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我们的选择：不绕过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524750" y="4476750"/>
            <a:ext cx="41529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B-1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落实之前，不对外提供任何效应量数字。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6391275"/>
            <a:ext cx="5438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立项逻辑四步与阻断项内容见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project/F1/README.md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；方向判定见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project/16-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方向审查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353800" y="63912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2026-09-21T14:20:08Z</dcterms:created>
  <dcterms:modified xsi:type="dcterms:W3CDTF">2026-09-21T14:20:08Z</dcterms:modified>
</cp:coreProperties>
</file>