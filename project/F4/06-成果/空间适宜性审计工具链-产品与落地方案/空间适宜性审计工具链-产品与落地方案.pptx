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 /><Relationship Id="rId5" Type="http://schemas.openxmlformats.org/officeDocument/2006/relationships/slide" Target="slides/slide5.xml" /><Relationship Id="rId0" Type="http://schemas.openxmlformats.org/officeDocument/2006/relationships/slideMaster" Target="slideMasters/slideMaster1.xml" /><Relationship Id="rId14" Type="http://schemas.openxmlformats.org/officeDocument/2006/relationships/slide" Target="slides/slide14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13" Type="http://schemas.openxmlformats.org/officeDocument/2006/relationships/slide" Target="slides/slide13.xml" /><Relationship Id="rId15" Type="http://schemas.openxmlformats.org/officeDocument/2006/relationships/notesMaster" Target="notesMasters/notesMaster1.xml" 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sv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" name="" descr="&lt;Slide style={{ width: 1280, height: 720, background: '#FFFFFF', flexDirection: 'row', position: 'relative' }}&gt;&#10;&#10;    {/* 左侧深蓝色块 500px */}&#10;    &lt;Box style={{ width: 500, height: 720, background: '#0E3F8C', padding: 40, flexDirection: 'column', justifyContent: 'space-between' }}&gt;&#10;        &lt;Box style={{ flexDirection: 'column', gap: 8 }}&gt;&#10;            &lt;Text style={{ fontSize: 14, color: '#8FB4E0', letterSpacing: 2 }}&gt;大学生创新创业训练计划&lt;/Text&gt;&#10;            &lt;Text style={{ fontSize: 14, color: '#8FB4E0', letterSpacing: 2 }}&gt;产品定义与落地方案&lt;/Text&gt;&#10;        &lt;/Box&gt;&#10;&#10;        &lt;Box style={{ flexDirection: 'column', gap: 14 }}&gt;&#10;            &lt;Text style={{ fontSize: 20, color: '#BFD5EF', lineHeight: 1.6 }}&gt;&#10;                不产选址图&#10;            &lt;/Text&gt;&#10;            &lt;Text style={{ fontSize: 20, color: '#BFD5EF', lineHeight: 1.6 }}&gt;&#10;                不产选址结论&#10;            &lt;/Text&gt;&#10;            &lt;Box style={{ width: 64, height: 3, background: '#FFC107', marginTop: 4 }} /&gt;&#10;            &lt;Text style={{ fontSize: 20, color: '#BFD5EF', lineHeight: 1.6, marginTop: 8 }}&gt;&#10;                只审计产图这件事&#10;            &lt;/Text&gt;&#10;            &lt;Text style={{ fontSize: 20, color: '#BFD5EF', lineHeight: 1.6 }}&gt;&#10;                与它的适用范围&#10;            &lt;/Text&gt;&#10;        &lt;/Box&gt;&#10;&#10;        &lt;Box style={{ flexDirection: 'column', gap: 6 }}&gt;&#10;            &lt;Text style={{ fontSize: 14, color: '#8FB4E0' }}&gt;广东海洋大学 · 数学与计算机学院&lt;/Text&gt;&#10;            &lt;Text style={{ fontSize: 14, color: '#8FB4E0' }}&gt;软件工程 · 2026-09&lt;/Text&gt;&#10;        &lt;/Box&gt;&#10;    &lt;/Box&gt;&#10;&#10;    {/* 右侧白色承载标题 */}&#10;    &lt;Box style={{ width: 780, height: 720, padding: 40, flexDirection: 'column', justifyContent: 'center', gap: 20 }}&gt;&#10;        &lt;Text style={{ fontSize: 13, color: '#3D7BD9', letterSpacing: 3 }}&gt;AUDITABILITY OF SPATIAL SUITABILITY MODELS&lt;/Text&gt;&#10;&#10;        &lt;Text style={{ fontSize: 60, fontWeight: 'bold', color: '#0E3F8C', lineHeight: 1.25 }}&gt;&#10;            空间适宜性&#10;        &lt;/Text&gt;&#10;        &lt;Text style={{ fontSize: 60, fontWeight: 'bold', color: '#0E3F8C', lineHeight: 1.25 }}&gt;&#10;            审计工具链&#10;        &lt;/Text&gt;&#10;&#10;        &lt;Box style={{ width: 120, height: 4, background: '#1E4FA8', marginTop: 4 }} /&gt;&#10;&#10;        &lt;Text style={{ fontSize: 22, color: '#4A5568', lineHeight: 1.6 }}&gt;&#10;            让一个空间适宜性结论，能被追溯到它用了什么尺度、什么权重、&#10;            什么样的重分类，并被追问它的适用范围有多大。&#10;        &lt;/Text&gt;&#10;&#10;        {/* 视觉锚点：三个诊断模块 → 一个可核对的审计结论 */}&#10;        &lt;Box style={{ marginTop: 6 }}&gt;&#10;            &lt;svg width={700} height={124} viewBox='0 0 700 124'&gt;&#10;                &lt;rect x='0' y='0' width='218' height='58' rx='4' fill='#F0F5FC' stroke='#D6DCE5' strokeWidth='1' /&gt;&#10;                &lt;text x='109' y='25' fontSize='15' fill='#1E4FA8' textAnchor='middle' fontWeight='bold'&gt;尺度失配诊断&lt;/text&gt;&#10;                &lt;text x='109' y='45' fontSize='12' fill='#8B97A8' textAnchor='middle'&gt;网格粗于池体，代价多大&lt;/text&gt;&#10;&#10;                &lt;rect x='241' y='0' width='218' height='58' rx='4' fill='#F0F5FC' stroke='#D6DCE5' strokeWidth='1' /&gt;&#10;                &lt;text x='350' y='25' fontSize='15' fill='#1E4FA8' textAnchor='middle' fontWeight='bold'&gt;融合账本与误差分解&lt;/text&gt;&#10;                &lt;text x='350' y='45' fontSize='12' fill='#8B97A8' textAnchor='middle'&gt;增益与代价，分开报&lt;/text&gt;&#10;&#10;                &lt;rect x='482' y='0' width='218' height='58' rx='4' fill='#F0F5FC' stroke='#D6DCE5' strokeWidth='1' /&gt;&#10;                &lt;text x='591' y='25' fontSize='15' fill='#1E4FA8' textAnchor='middle' fontWeight='bold'&gt;缺失到后果&lt;/text&gt;&#10;                &lt;text x='591' y='45' fontSize='12' fill='#8B97A8' textAnchor='middle'&gt;少报一项，代价几个位&lt;/text&gt;&#10;&#10;                &lt;line x1='109' y1='60' x2='109' y2='80' stroke='#3D7BD9' strokeWidth='2' /&gt;&#10;                &lt;line x1='350' y1='60' x2='350' y2='80' stroke='#3D7BD9' strokeWidth='2' /&gt;&#10;                &lt;line x1='591' y1='60' x2='591' y2='80' stroke='#3D7BD9' strokeWidth='2' /&gt;&#10;                &lt;line x1='109' y1='80' x2='591' y2='80' stroke='#3D7BD9' strokeWidth='2' /&gt;&#10;&#10;                &lt;rect x='150' y='92' width='400' height='32' rx='4' fill='#E8EFF8' stroke='#1E4FA8' strokeWidth='2' /&gt;&#10;                &lt;line x1='350' y1='80' x2='350' y2='92' stroke='#3D7BD9' strokeWidth='2' /&gt;&#10;                &lt;polygon points='350,92 345,82 355,82' fill='#3D7BD9' /&gt;&#10;                &lt;text x='350' y='113' fontSize='15' fill='#0E3F8C' textAnchor='middle' fontWeight='bold'&gt;每条结论都带口径与适用范围&lt;/text&gt;&#10;            &lt;/svg&gt;&#10;        &lt;/Box&gt;&#10;    &lt;/Box&gt;&#10;&#10;    {/* 校名角标 */}&#10;    &lt;Box style={{ position: 'absolute', right: 40, top: 40, flexDirection: 'row', alignItems: 'center', gap: 8 }}&gt;&#10;        &lt;Box style={{ width: 4, height: 28, background: '#1E4FA8' }} /&gt;&#10;        &lt;Text style={{ fontSize: 14, color: '#8B97A8' }}&gt;广东海洋大学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47625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381000" y="381000"/>
            <a:ext cx="4000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8FB4E0"/>
                </a:solidFill>
                <a:latin typeface="Microsoft YaHei"/>
                <a:ea typeface="Microsoft YaHei"/>
              </a:rPr>
              <a:t>大学生创新创业训练计划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381000" y="619125"/>
            <a:ext cx="4000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8FB4E0"/>
                </a:solidFill>
                <a:latin typeface="Microsoft YaHei"/>
                <a:ea typeface="Microsoft YaHei"/>
              </a:rPr>
              <a:t>产品定义与落地方案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381000" y="2362200"/>
            <a:ext cx="40005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BFD5EF"/>
                </a:solidFill>
                <a:latin typeface="Microsoft YaHei"/>
                <a:ea typeface="Microsoft YaHei"/>
              </a:rPr>
              <a:t>不产选址图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381000" y="2867025"/>
            <a:ext cx="40005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BFD5EF"/>
                </a:solidFill>
                <a:latin typeface="Microsoft YaHei"/>
                <a:ea typeface="Microsoft YaHei"/>
              </a:rPr>
              <a:t>不产选址结论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381000" y="3409950"/>
            <a:ext cx="609600" cy="2857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381000" y="3648075"/>
            <a:ext cx="40005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BFD5EF"/>
                </a:solidFill>
                <a:latin typeface="Microsoft YaHei"/>
                <a:ea typeface="Microsoft YaHei"/>
              </a:rPr>
              <a:t>只审计产图这件事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381000" y="4152900"/>
            <a:ext cx="40005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BFD5EF"/>
                </a:solidFill>
                <a:latin typeface="Microsoft YaHei"/>
                <a:ea typeface="Microsoft YaHei"/>
              </a:rPr>
              <a:t>与它的适用范围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381000" y="6096000"/>
            <a:ext cx="4000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B4E0"/>
                </a:solidFill>
                <a:latin typeface="Microsoft YaHei"/>
                <a:ea typeface="Microsoft YaHei"/>
              </a:rPr>
              <a:t>广东海洋大学</a:t>
            </a:r>
            <a:r>
              <a:rPr lang="en-US" sz="1050">
                <a:solidFill>
                  <a:srgbClr val="8FB4E0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FB4E0"/>
                </a:solidFill>
                <a:latin typeface="Microsoft YaHei"/>
                <a:ea typeface="Microsoft YaHei"/>
              </a:rPr>
              <a:t>数学与计算机学院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381000" y="6315075"/>
            <a:ext cx="4000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B4E0"/>
                </a:solidFill>
                <a:latin typeface="Microsoft YaHei"/>
                <a:ea typeface="Microsoft YaHei"/>
              </a:rPr>
              <a:t>软件工程</a:t>
            </a:r>
            <a:r>
              <a:rPr lang="en-US" sz="1050">
                <a:solidFill>
                  <a:srgbClr val="8FB4E0"/>
                </a:solidFill>
                <a:latin typeface="Microsoft YaHei"/>
                <a:ea typeface="Microsoft YaHei"/>
              </a:rPr>
              <a:t> · 2026-09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5143500" y="962025"/>
            <a:ext cx="666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3D7BD9"/>
                </a:solidFill>
                <a:latin typeface="Microsoft YaHei"/>
                <a:ea typeface="Microsoft YaHei"/>
              </a:rPr>
              <a:t>AUDITABILITY OF SPATIAL SUITABILITY MODELS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5143500" y="1304925"/>
            <a:ext cx="6667500" cy="8572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500" b="1">
                <a:solidFill>
                  <a:srgbClr val="0E3F8C"/>
                </a:solidFill>
                <a:latin typeface="Microsoft YaHei"/>
                <a:ea typeface="Microsoft YaHei"/>
              </a:rPr>
              <a:t>空间适宜性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5143500" y="2352675"/>
            <a:ext cx="6667500" cy="8572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500" b="1">
                <a:solidFill>
                  <a:srgbClr val="0E3F8C"/>
                </a:solidFill>
                <a:latin typeface="Microsoft YaHei"/>
                <a:ea typeface="Microsoft YaHei"/>
              </a:rPr>
              <a:t>审计工具链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5143500" y="3438525"/>
            <a:ext cx="1143000" cy="381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5143500" y="3667125"/>
            <a:ext cx="6667500" cy="809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让一个空间适宜性结论，能被追溯到它用了什么尺度、什么权重、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什么样的重分类，并被追问它的适用范围有多大。</a:t>
            </a:r>
            <a:endParaRPr/>
          </a:p>
        </p:txBody>
      </p:sp>
      <p:pic>
        <p:nvPicPr>
          <p:cNvPr id="1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143500" y="4724400"/>
            <a:ext cx="6667500" cy="1181100"/>
          </a:xfrm>
          <a:prstGeom prst="rect">
            <a:avLst/>
          </a:prstGeom>
          <a:ln/>
        </p:spPr>
      </p:pic>
      <p:sp>
        <p:nvSpPr>
          <p:cNvPr id="19" name=""/>
          <p:cNvSpPr/>
          <p:nvPr/>
        </p:nvSpPr>
        <p:spPr>
          <a:xfrm rot="0" flipH="0" flipV="0">
            <a:off x="10896600" y="381000"/>
            <a:ext cx="38100" cy="2667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1010900" y="43815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广东海洋大学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43" name="" descr="&lt;Slide style={{ width: 1280, height: 720, background: '#FFFFFF', flexDirection: 'row' }}&gt;&#10;&#10;    {/* 左：目录标识 */}&#10;    &lt;Box style={{ width: 420, height: 720, background: '#0E3F8C', padding: 40, flexDirection: 'column', justifyContent: 'space-between' }}&gt;&#10;        &lt;Box style={{ flexDirection: 'column', gap: 10 }}&gt;&#10;            &lt;Text style={{ fontSize: 13, color: '#8FB4E0', letterSpacing: 3 }}&gt;CONTENTS&lt;/Text&gt;&#10;            &lt;Text style={{ fontSize: 48, fontWeight: 'bold', color: '#FFFFFF', lineHeight: 1.2 }}&gt;&#10;                目录&#10;            &lt;/Text&gt;&#10;            &lt;Box style={{ width: 80, height: 4, background: '#FFC107', marginTop: 6 }} /&gt;&#10;        &lt;/Box&gt;&#10;&#10;        &lt;Box style={{ flexDirection: 'column', gap: 12 }}&gt;&#10;            &lt;Text style={{ fontSize: 20, color: '#BFD5EF', lineHeight: 1.6 }}&gt;&#10;                五章分别回答：&#10;            &lt;/Text&gt;&#10;            &lt;Text style={{ fontSize: 20, color: '#BFD5EF', lineHeight: 1.6 }}&gt;&#10;                做什么 · 给谁用 · 凭什么&#10;            &lt;/Text&gt;&#10;            &lt;Text style={{ fontSize: 20, color: '#BFD5EF', lineHeight: 1.6 }}&gt;&#10;                解决什么 · 为什么是它&#10;            &lt;/Text&gt;&#10;        &lt;/Box&gt;&#10;&#10;        &lt;Text style={{ fontSize: 14, color: '#8FB4E0' }}&gt;空间适宜性审计工具链 · 产品与落地方案&lt;/Text&gt;&#10;    &lt;/Box&gt;&#10;&#10;    {/* 右：五章列表 */}&#10;    &lt;Box style={{ width: 860, height: 720, paddingLeft: 40, paddingRight: 40, paddingTop: 36, paddingBottom: 36, flexDirection: 'column', justifyContent: 'center', gap: 14 }}&gt;&#10;&#10;        &lt;Box style={{ flexDirection: 'row', alignItems: 'center', gap: 20, height: 104, border: '1px solid #D6DCE5', background: '#F7F9FC', padding: 16 }}&gt;&#10;            &lt;Text style={{ fontSize: 34, fontWeight: 'bold', color: '#1E4FA8', width: 62 }}&gt;01&lt;/Text&gt;&#10;            &lt;Box style={{ width: 3, height: 56, background: '#1E4FA8' }} /&gt;&#10;            &lt;Box style={{ flexDirection: 'column', gap: 4 }}&gt;&#10;                &lt;Text style={{ fontSize: 24, fontWeight: 'bold', color: '#1A2230' }}&gt;这是什么产品&lt;/Text&gt;&#10;                &lt;Text style={{ fontSize: 22, color: '#4A5568' }}&gt;一套审计工具链：三个诊断器，只回答&quot;这个结论站不站得住&quot;&lt;/Text&gt;&#10;            &lt;/Box&gt;&#10;        &lt;/Box&gt;&#10;&#10;        &lt;Box style={{ flexDirection: 'row', alignItems: 'center', gap: 20, height: 104, border: '1px solid #D6DCE5', background: '#F7F9FC', padding: 16 }}&gt;&#10;            &lt;Text style={{ fontSize: 34, fontWeight: 'bold', color: '#1E4FA8', width: 62 }}&gt;02&lt;/Text&gt;&#10;            &lt;Box style={{ width: 3, height: 56, background: '#1E4FA8' }} /&gt;&#10;            &lt;Box style={{ flexDirection: 'column', gap: 4 }}&gt;&#10;                &lt;Text style={{ fontSize: 24, fontWeight: 'bold', color: '#1A2230' }}&gt;服务谁&lt;/Text&gt;&#10;                &lt;Text style={{ fontSize: 22, color: '#4A5568' }}&gt;四类目标对象：研究者、评审、下游使用者、后续接手的人&lt;/Text&gt;&#10;            &lt;/Box&gt;&#10;        &lt;/Box&gt;&#10;&#10;        &lt;Box style={{ flexDirection: 'row', alignItems: 'center', gap: 20, height: 104, border: '1px solid #D6DCE5', background: '#F7F9FC', padding: 16 }}&gt;&#10;            &lt;Text style={{ fontSize: 34, fontWeight: 'bold', color: '#1E4FA8', width: 62 }}&gt;03&lt;/Text&gt;&#10;            &lt;Box style={{ width: 3, height: 56, background: '#1E4FA8' }} /&gt;&#10;            &lt;Box style={{ flexDirection: 'column', gap: 4 }}&gt;&#10;                &lt;Text style={{ fontSize: 24, fontWeight: 'bold', color: '#1A2230' }}&gt;优势在哪&lt;/Text&gt;&#10;                &lt;Text style={{ fontSize: 22, color: '#4A5568' }}&gt;不在算法：我们把&quot;可分解、可扰动、可复现&quot;当成产品能力&lt;/Text&gt;&#10;            &lt;/Box&gt;&#10;        &lt;/Box&gt;&#10;&#10;        &lt;Box style={{ flexDirection: 'row', alignItems: 'center', gap: 20, height: 104, border: '1px solid #D6DCE5', background: '#F7F9FC', padding: 16 }}&gt;&#10;            &lt;Text style={{ fontSize: 34, fontWeight: 'bold', color: '#1E4FA8', width: 62 }}&gt;04&lt;/Text&gt;&#10;            &lt;Box style={{ width: 3, height: 56, background: '#1E4FA8' }} /&gt;&#10;            &lt;Box style={{ flexDirection: 'column', gap: 4 }}&gt;&#10;                &lt;Text style={{ fontSize: 24, fontWeight: 'bold', color: '#1A2230' }}&gt;解决什么问题&lt;/Text&gt;&#10;                &lt;Text style={{ fontSize: 22, color: '#4A5568' }}&gt;三个可计算的答案，每个都带样本量与方法名&lt;/Text&gt;&#10;            &lt;/Box&gt;&#10;        &lt;/Box&gt;&#10;&#10;        &lt;Box style={{ flexDirection: 'row', alignItems: 'center', gap: 20, height: 104, border: '1px solid #D6DCE5', background: '#F7F9FC', padding: 16 }}&gt;&#10;            &lt;Text style={{ fontSize: 34, fontWeight: 'bold', color: '#1E4FA8', width: 62 }}&gt;05&lt;/Text&gt;&#10;            &lt;Box style={{ width: 3, height: 56, background: '#1E4FA8' }} /&gt;&#10;            &lt;Box style={{ flexDirection: 'column', gap: 4 }}&gt;&#10;                &lt;Text style={{ fontSize: 24, fontWeight: 'bold', color: '#1A2230' }}&gt;为什么选这个命题&lt;/Text&gt;&#10;                &lt;Text style={{ fontSize: 22, color: '#4A5568' }}&gt;粒度不匹配与动机不匹配 —— 以及它现在缺什么&lt;/Text&gt;&#10;            &lt;/Box&gt;&#10;        &lt;/Box&gt;&#10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5" name=""/>
          <p:cNvSpPr/>
          <p:nvPr/>
        </p:nvSpPr>
        <p:spPr>
          <a:xfrm rot="0" flipH="0" flipV="0">
            <a:off x="0" y="0"/>
            <a:ext cx="40005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381000" y="381000"/>
            <a:ext cx="3238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8FB4E0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381000" y="628650"/>
            <a:ext cx="3238500" cy="6667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600" b="1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381000" y="1447800"/>
            <a:ext cx="7620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381000" y="3228975"/>
            <a:ext cx="32385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BFD5EF"/>
                </a:solidFill>
                <a:latin typeface="Microsoft YaHei"/>
                <a:ea typeface="Microsoft YaHei"/>
              </a:rPr>
              <a:t>五章分别回答：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381000" y="3714750"/>
            <a:ext cx="32385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BFD5EF"/>
                </a:solidFill>
                <a:latin typeface="Microsoft YaHei"/>
                <a:ea typeface="Microsoft YaHei"/>
              </a:rPr>
              <a:t>做什么</a:t>
            </a:r>
            <a:r>
              <a:rPr lang="en-US" sz="1500">
                <a:solidFill>
                  <a:srgbClr val="BFD5EF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BFD5EF"/>
                </a:solidFill>
                <a:latin typeface="Microsoft YaHei"/>
                <a:ea typeface="Microsoft YaHei"/>
              </a:rPr>
              <a:t>给谁用</a:t>
            </a:r>
            <a:r>
              <a:rPr lang="en-US" sz="1500">
                <a:solidFill>
                  <a:srgbClr val="BFD5EF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BFD5EF"/>
                </a:solidFill>
                <a:latin typeface="Microsoft YaHei"/>
                <a:ea typeface="Microsoft YaHei"/>
              </a:rPr>
              <a:t>凭什么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381000" y="4200525"/>
            <a:ext cx="32385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BFD5EF"/>
                </a:solidFill>
                <a:latin typeface="Microsoft YaHei"/>
                <a:ea typeface="Microsoft YaHei"/>
              </a:rPr>
              <a:t>解决什么</a:t>
            </a:r>
            <a:r>
              <a:rPr lang="en-US" sz="1500">
                <a:solidFill>
                  <a:srgbClr val="BFD5EF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BFD5EF"/>
                </a:solidFill>
                <a:latin typeface="Microsoft YaHei"/>
                <a:ea typeface="Microsoft YaHei"/>
              </a:rPr>
              <a:t>为什么是它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381000" y="63150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B4E0"/>
                </a:solidFill>
                <a:latin typeface="Microsoft YaHei"/>
                <a:ea typeface="Microsoft YaHei"/>
              </a:rPr>
              <a:t>空间适宜性审计工具链</a:t>
            </a:r>
            <a:r>
              <a:rPr lang="en-US" sz="1050">
                <a:solidFill>
                  <a:srgbClr val="8FB4E0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FB4E0"/>
                </a:solidFill>
                <a:latin typeface="Microsoft YaHei"/>
                <a:ea typeface="Microsoft YaHei"/>
              </a:rPr>
              <a:t>产品与落地方案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4381500" y="685800"/>
            <a:ext cx="7429500" cy="9906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4533900" y="990600"/>
            <a:ext cx="5905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4FA8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5314950" y="914400"/>
            <a:ext cx="28575" cy="533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5534025" y="895350"/>
            <a:ext cx="5638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这是什么产品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5534025" y="1209675"/>
            <a:ext cx="5638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一套审计工具链：三个诊断器，只回答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这个结论站不站得住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4381500" y="1809750"/>
            <a:ext cx="7429500" cy="9906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4533900" y="2114550"/>
            <a:ext cx="5905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4FA8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5314950" y="2038350"/>
            <a:ext cx="28575" cy="533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5534025" y="2019300"/>
            <a:ext cx="5448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服务谁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5534025" y="2333625"/>
            <a:ext cx="5448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四类目标对象：研究者、评审、下游使用者、后续接手的人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4381500" y="2933700"/>
            <a:ext cx="7429500" cy="9906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4533900" y="3238500"/>
            <a:ext cx="5905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4FA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5314950" y="3162300"/>
            <a:ext cx="28575" cy="533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5534025" y="3143250"/>
            <a:ext cx="5429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优势在哪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5534025" y="3457575"/>
            <a:ext cx="5429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不在算法：我们把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可分解、可扰动、可复现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当成产品能力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4381500" y="4057650"/>
            <a:ext cx="7429500" cy="9906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4533900" y="4362450"/>
            <a:ext cx="5905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4FA8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5314950" y="4286250"/>
            <a:ext cx="28575" cy="533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5534025" y="4267200"/>
            <a:ext cx="4191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解决什么问题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5534025" y="4581525"/>
            <a:ext cx="4191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三个可计算的答案，每个都带样本量与方法名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4381500" y="5181600"/>
            <a:ext cx="7429500" cy="9906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4533900" y="5486400"/>
            <a:ext cx="5905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4FA8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5314950" y="5410200"/>
            <a:ext cx="28575" cy="533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5534025" y="5391150"/>
            <a:ext cx="45624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为什么选这个命题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5534025" y="5705475"/>
            <a:ext cx="45624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粒度不匹配与动机不匹配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——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以及它现在缺什么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78" name="" descr="&lt;Slide style={{ width: 1280, height: 720, background: '#FFFFFF', flexDirection: 'row' }}&gt;&#10;&#10;    &lt;Box style={{ width: 460, height: 720, background: '#F0F5FC', justifyContent: 'center', alignItems: 'center' }}&gt;&#10;        &lt;Text style={{ fontSize: 180, fontWeight: 'bold', color: '#1E4FA8', lineHeight: 1 }}&gt;01&lt;/Text&gt;&#10;    &lt;/Box&gt;&#10;&#10;    &lt;Box style={{ width: 820, height: 720, padding: 40, flexDirection: 'column', justifyContent: 'center', gap: 18 }}&gt;&#10;        &lt;Box style={{ width: 80, height: 4, background: '#FFC107' }} /&gt;&#10;        &lt;Text style={{ fontSize: 60, fontWeight: 'bold', color: '#0E3F8C', lineHeight: 1.2 }}&gt;&#10;            这是什么产品&#10;        &lt;/Text&gt;&#10;        &lt;Text style={{ fontSize: 22, color: '#4A5568', lineHeight: 1.7 }}&gt;&#10;            它不是又一个选址系统，也不产出任何选址结论。它把&#10;            &lt;span style={{ fontWeight: 'bold', color: '#1E4FA8' }}&gt;产图这件事本身&lt;/span&gt;&#10;            拆开，算出每一步选择各自带来多大后果。&#10;        &lt;/Text&gt;&#10;&#10;        &lt;Box style={{ flexDirection: 'column', gap: 12, marginTop: 6 }}&gt;&#10;            &lt;Box style={{ flexDirection: 'row', alignItems: 'center', gap: 14 }}&gt;&#10;                &lt;Box style={{ width: 10, height: 10, background: '#1E4FA8' }} /&gt;&#10;                &lt;Text style={{ fontSize: 20, color: '#1A2230' }}&gt;形态：可分解、可扰动、可复现的审计工具链&lt;/Text&gt;&#10;            &lt;/Box&gt;&#10;            &lt;Box style={{ flexDirection: 'row', alignItems: 'center', gap: 14 }}&gt;&#10;                &lt;Box style={{ width: 10, height: 10, background: '#1E4FA8' }} /&gt;&#10;                &lt;Text style={{ fontSize: 20, color: '#1A2230' }}&gt;交付：审计报告 · 原始结果 · 修正记录 · 一键复现入口&lt;/Text&gt;&#10;            &lt;/Box&gt;&#10;            &lt;Box style={{ flexDirection: 'row', alignItems: 'center', gap: 14 }}&gt;&#10;                &lt;Box style={{ width: 10, height: 10, background: '#D9534F' }} /&gt;&#10;                &lt;Text style={{ fontSize: 20, color: '#1A2230' }}&gt;不做：不产选址图、不给选址建议、不作政策建议&lt;/Text&gt;&#10;            &lt;/Box&gt;&#10;        &lt;/Box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0" name=""/>
          <p:cNvSpPr/>
          <p:nvPr/>
        </p:nvSpPr>
        <p:spPr>
          <a:xfrm rot="0" flipH="0" flipV="0">
            <a:off x="0" y="0"/>
            <a:ext cx="4381500" cy="68580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1133475" y="2400300"/>
            <a:ext cx="2124075" cy="2057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0" b="1">
                <a:solidFill>
                  <a:srgbClr val="1E4FA8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4762500" y="1828800"/>
            <a:ext cx="7620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4762500" y="2038350"/>
            <a:ext cx="7048500" cy="828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500" b="1">
                <a:solidFill>
                  <a:srgbClr val="0E3F8C"/>
                </a:solidFill>
                <a:latin typeface="Microsoft YaHei"/>
                <a:ea typeface="Microsoft YaHei"/>
              </a:rPr>
              <a:t>这是什么产品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4762500" y="3038475"/>
            <a:ext cx="704850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它不是又一个选址系统，也不产出任何选址结论。它把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产图这件事本身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拆开，算出每一步选择各自带来多大后果。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4762500" y="4191000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4991100" y="4124325"/>
            <a:ext cx="3810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形态：可分解、可扰动、可复现的审计工具链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4762500" y="4533900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4991100" y="4467225"/>
            <a:ext cx="4476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交付：审计报告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原始结果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修正记录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一键复现入口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4762500" y="4876800"/>
            <a:ext cx="95250" cy="952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4991100" y="4810125"/>
            <a:ext cx="419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不做：不产选址图、不给选址建议、不作政策建议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91" name="" descr="&lt;Slide style={{ width: 1280, height: 720, background: '#FFFFFF', flexDirection: 'column' }}&gt;&#10;&#10;    &lt;Box style={{ width: 1280, height: 56, background: '#1E4FA8', flexDirection: 'row', alignItems: 'center', justifyContent: 'space-between', paddingLeft: 40, paddingRight: 40 }}&gt;&#10;        &lt;Text style={{ fontSize: 14, color: '#BFD5EF', letterSpacing: 2 }}&gt;01 这是什么产品&lt;/Text&gt;&#10;        &lt;Text style={{ fontSize: 14, color: '#BFD5EF' }}&gt;空间适宜性审计工具链&lt;/Text&gt;&#10;    &lt;/Box&gt;&#10;&#10;    &lt;Box style={{ paddingLeft: 40, paddingRight: 40, paddingTop: 20, flexDirection: 'column', gap: 4 }}&gt;&#10;        &lt;Text style={{ fontSize: 32, fontWeight: 'bold', color: '#1E4FA8' }}&gt;产品做哪三件事&lt;/Text&gt;&#10;        &lt;Text style={{ fontSize: 16, color: '#4A5568' }}&gt;三件事都在&quot;算后果&quot;，不在&quot;算适宜性&quot; —— 这是它和选址系统的分界线&lt;/Text&gt;&#10;    &lt;/Box&gt;&#10;&#10;    &lt;Box style={{ paddingLeft: 40, paddingRight: 40, paddingTop: 16, height: 520, flexDirection: 'row', gap: 22 }}&gt;&#10;&#10;        {/* 左：三件事 */}&#10;        &lt;Box style={{ width: 700, flexDirection: 'column', gap: 10 }}&gt;&#10;&#10;            &lt;Box style={{ height: 156, background: '#F7F9FC', border: '1px solid #D6DCE5', padding: 14, flexDirection: 'column', gap: 6 }}&gt;&#10;                &lt;Box style={{ flexDirection: 'row', alignItems: 'center', gap: 12 }}&gt;&#10;                    &lt;Box style={{ width: 36, height: 36, background: '#1E4FA8', justifyContent: 'center', alignItems: 'center' }}&gt;&#10;                        &lt;Text style={{ fontSize: 18, fontWeight: 'bold', color: '#FFFFFF' }}&gt;1&lt;/Text&gt;&#10;                    &lt;/Box&gt;&#10;                    &lt;Text style={{ fontSize: 24, fontWeight: 'bold', color: '#1A2230' }}&gt;尺度失配诊断&lt;/Text&gt;&#10;                    &lt;Box style={{ paddingLeft: 12, paddingRight: 12, height: 26, background: '#E8EFF8', borderRadius: 13, justifyContent: 'center' }}&gt;&#10;                        &lt;Text style={{ fontSize: 14, color: '#1E4FA8' }}&gt;已交付&lt;/Text&gt;&#10;                    &lt;/Box&gt;&#10;                &lt;/Box&gt;&#10;                &lt;Text style={{ fontSize: 22, color: '#4A5568', lineHeight: 1.45 }}&gt;&#10;                    输出网格粗于池体时，把后果拆成&#10;                    &lt;span style={{ fontWeight: 'bold', color: '#1A2230' }}&gt;信息量保留率&lt;/span&gt;与&#10;                    &lt;span style={{ fontWeight: 'bold', color: '#1A2230' }}&gt;决策一致性&lt;/span&gt;两个量，分开报。&#10;                &lt;/Text&gt;&#10;            &lt;/Box&gt;&#10;&#10;            &lt;Box style={{ height: 156, background: '#F7F9FC', border: '1px solid #D6DCE5', padding: 14, flexDirection: 'column', gap: 6 }}&gt;&#10;                &lt;Box style={{ flexDirection: 'row', alignItems: 'center', gap: 12 }}&gt;&#10;                    &lt;Box style={{ width: 36, height: 36, background: '#1E4FA8', justifyContent: 'center', alignItems: 'center' }}&gt;&#10;                        &lt;Text style={{ fontSize: 18, fontWeight: 'bold', color: '#FFFFFF' }}&gt;2&lt;/Text&gt;&#10;                    &lt;/Box&gt;&#10;                    &lt;Text style={{ fontSize: 24, fontWeight: 'bold', color: '#1A2230' }}&gt;融合账本与误差三分解&lt;/Text&gt;&#10;                    &lt;Box style={{ paddingLeft: 12, paddingRight: 12, height: 26, background: '#E8EFF8', borderRadius: 13, justifyContent: 'center' }}&gt;&#10;                        &lt;Text style={{ fontSize: 14, color: '#1E4FA8' }}&gt;已交付&lt;/Text&gt;&#10;                    &lt;/Box&gt;&#10;                &lt;/Box&gt;&#10;                &lt;Text style={{ fontSize: 22, color: '#4A5568', lineHeight: 1.45 }}&gt;&#10;                    偏差、方差、总误差分开报，再做一次&#10;                    &lt;span style={{ fontWeight: 'bold', color: '#1A2230' }}&gt;仿射标定&lt;/span&gt;，&#10;                    把结构误差与尺度误差分开。&#10;                &lt;/Text&gt;&#10;            &lt;/Box&gt;&#10;&#10;            &lt;Box style={{ height: 156, background: '#F7F9FC', border: '1px solid #D6DCE5', padding: 14, flexDirection: 'column', gap: 6 }}&gt;&#10;                &lt;Box style={{ flexDirection: 'row', alignItems: 'center', gap: 12 }}&gt;&#10;                    &lt;Box style={{ width: 36, height: 36, background: '#1E4FA8', justifyContent: 'center', alignItems: 'center' }}&gt;&#10;                        &lt;Text style={{ fontSize: 18, fontWeight: 'bold', color: '#FFFFFF' }}&gt;3&lt;/Text&gt;&#10;                    &lt;/Box&gt;&#10;                    &lt;Text style={{ fontSize: 24, fontWeight: 'bold', color: '#1A2230' }}&gt;缺失到可计算后果&lt;/Text&gt;&#10;                    &lt;Box style={{ paddingLeft: 12, paddingRight: 12, height: 26, background: '#E8EFF8', borderRadius: 13, justifyContent: 'center' }}&gt;&#10;                        &lt;Text style={{ fontSize: 14, color: '#1E4FA8' }}&gt;已交付&lt;/Text&gt;&#10;                    &lt;/Box&gt;&#10;                &lt;/Box&gt;&#10;                &lt;Text style={{ fontSize: 22, color: '#4A5568', lineHeight: 1.45 }}&gt;&#10;                    把&quot;未报权重&quot;从一句计数，变成&#10;                    &lt;span style={{ fontWeight: 'bold', color: '#1A2230' }}&gt;前 10% 推荐集换掉几个&lt;/span&gt;&#10;                    这样一个可核对的数字。&#10;                &lt;/Text&gt;&#10;            &lt;/Box&gt;&#10;&#10;        &lt;/Box&gt;&#10;&#10;        {/* 右：审计链路 SVG + 交付物 */}&#10;        &lt;Box style={{ width: 478, flexDirection: 'column', gap: 18 }}&gt;&#10;&#10;            &lt;Box style={{ height: 254, background: '#FFFFFF', border: '1px solid #D6DCE5', padding: 14, flexDirection: 'column' }}&gt;&#10;                &lt;Text style={{ fontSize: 18, fontWeight: 'bold', color: '#1E4FA8', marginBottom: 4 }}&gt;审计链路&lt;/Text&gt;&#10;                &lt;svg width={442} height={196} viewBox='0 0 442 196'&gt;&#10;                    &lt;rect x='0' y='4' width='442' height='42' rx='4' fill='#F0F5FC' stroke='#D6DCE5' strokeWidth='1' /&gt;&#10;                    &lt;text x='14' y='22' fontSize='13' fill='#8B97A8'&gt;输入&lt;/text&gt;&#10;                    &lt;text x='14' y='39' fontSize='14' fill='#1A2230'&gt;一套 GIS-MCE 适宜性评估流程（栅格 + 权重 + 重分类）&lt;/text&gt;&#10;&#10;                    &lt;line x1='221' y1='50' x2='221' y2='70' stroke='#3D7BD9' strokeWidth='2' /&gt;&#10;                    &lt;polygon points='221,72 216,62 226,62' fill='#3D7BD9' /&gt;&#10;&#10;                    &lt;rect x='0' y='76' width='442' height='42' rx='4' fill='#E8EFF8' stroke='#1E4FA8' strokeWidth='1' /&gt;&#10;                    &lt;text x='14' y='94' fontSize='13' fill='#1E4FA8'&gt;逐项拆开，单项扰动&lt;/text&gt;&#10;                    &lt;text x='14' y='111' fontSize='14' fill='#1A2230'&gt;尺度 · 权重 · 重分类 · 分辨率&lt;/text&gt;&#10;&#10;                    &lt;line x1='221' y1='122' x2='221' y2='142' stroke='#3D7BD9' strokeWidth='2' /&gt;&#10;                    &lt;polygon points='221,144 216,134 226,134' fill='#3D7BD9' /&gt;&#10;&#10;                    &lt;rect x='0' y='148' width='442' height='42' rx='4' fill='#FFFFFF' stroke='#D6DCE5' strokeWidth='1' /&gt;&#10;                    &lt;text x='14' y='166' fontSize='13' fill='#8B97A8'&gt;输出&lt;/text&gt;&#10;                    &lt;text x='14' y='183' fontSize='14' fill='#1A2230'&gt;每一项选择各自带来多大后果（带样本量）&lt;/text&gt;&#10;                &lt;/svg&gt;&#10;            &lt;/Box&gt;&#10;&#10;            &lt;Box style={{ flex: 1, background: '#F7F9FC', border: '1px solid #D6DCE5', padding: 16, flexDirection: 'column', gap: 8, justifyContent: 'center' }}&gt;&#10;                &lt;Text style={{ fontSize: 24, fontWeight: 'bold', color: '#1A2230' }}&gt;交付什么&lt;/Text&gt;&#10;                &lt;Text style={{ fontSize: 22, color: '#4A5568', lineHeight: 1.45 }}&gt;&#10;                    ① 实验与验证报告（含 14 条局限）&lt;br /&gt;&#10;                    ② 修正记录（24 条，只增不删）&lt;br /&gt;&#10;                    ③ 原始结果 JSON + 一键复现入口&#10;                &lt;/Text&gt;&#10;            &lt;/Box&gt;&#10;&#10;        &lt;/Box&gt;&#10;    &lt;/Box&gt;&#10;&#10;    &lt;Box style={{ paddingLeft: 40, paddingRight: 40, height: 40, flexDirection: 'row', alignItems: 'center', justifyContent: 'space-between' }}&gt;&#10;        &lt;Text style={{ fontSize: 14, color: '#8B97A8' }}&gt;三个诊断器都已在本地实现并跑通，不是概念稿&lt;/Text&gt;&#10;        &lt;Text style={{ fontSize: 14, color: '#1E4FA8' }}&gt;04 / 1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3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381000" y="190500"/>
            <a:ext cx="1171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BFD5EF"/>
                </a:solidFill>
                <a:latin typeface="Microsoft YaHei"/>
                <a:ea typeface="Microsoft YaHei"/>
              </a:rPr>
              <a:t>01 </a:t>
            </a:r>
            <a:r>
              <a:rPr lang="zh-CN" sz="1050" spc="150">
                <a:solidFill>
                  <a:srgbClr val="BFD5EF"/>
                </a:solidFill>
                <a:latin typeface="Microsoft YaHei"/>
                <a:ea typeface="Microsoft YaHei"/>
              </a:rPr>
              <a:t>这是什么产品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10477500" y="19050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FD5EF"/>
                </a:solidFill>
                <a:latin typeface="Microsoft YaHei"/>
                <a:ea typeface="Microsoft YaHei"/>
              </a:rPr>
              <a:t>空间适宜性审计工具链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381000" y="723900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E4FA8"/>
                </a:solidFill>
                <a:latin typeface="Microsoft YaHei"/>
                <a:ea typeface="Microsoft YaHei"/>
              </a:rPr>
              <a:t>产品做哪三件事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381000" y="1133475"/>
            <a:ext cx="1143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三件事都在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算后果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，不在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算适宜性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 ——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这是它和选址系统的分界线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381000" y="1476375"/>
            <a:ext cx="6667500" cy="14859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99" name=""/>
          <p:cNvSpPr/>
          <p:nvPr/>
        </p:nvSpPr>
        <p:spPr>
          <a:xfrm rot="0" flipH="0" flipV="0">
            <a:off x="514350" y="1609725"/>
            <a:ext cx="342900" cy="3429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628650" y="167640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971550" y="1647825"/>
            <a:ext cx="1371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尺度失配诊断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2457450" y="1657350"/>
            <a:ext cx="628650" cy="2476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2571750" y="170497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E4FA8"/>
                </a:solidFill>
                <a:latin typeface="Microsoft YaHei"/>
                <a:ea typeface="Microsoft YaHei"/>
              </a:rPr>
              <a:t>已交付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514350" y="2009775"/>
            <a:ext cx="640080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输出网格粗于池体时，把后果拆成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信息量保留率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与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决策一致性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两个量，分开报。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381000" y="3057525"/>
            <a:ext cx="6667500" cy="14859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06" name=""/>
          <p:cNvSpPr/>
          <p:nvPr/>
        </p:nvSpPr>
        <p:spPr>
          <a:xfrm rot="0" flipH="0" flipV="0">
            <a:off x="514350" y="3190875"/>
            <a:ext cx="342900" cy="3429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628650" y="325755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971550" y="3228975"/>
            <a:ext cx="2286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融合账本与误差三分解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3371850" y="3238500"/>
            <a:ext cx="628650" cy="2476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3486150" y="32861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E4FA8"/>
                </a:solidFill>
                <a:latin typeface="Microsoft YaHei"/>
                <a:ea typeface="Microsoft YaHei"/>
              </a:rPr>
              <a:t>已交付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514350" y="3590925"/>
            <a:ext cx="640080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偏差、方差、总误差分开报，再做一次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仿射标定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，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把结构误差与尺度误差分开。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381000" y="4638675"/>
            <a:ext cx="6667500" cy="14859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13" name=""/>
          <p:cNvSpPr/>
          <p:nvPr/>
        </p:nvSpPr>
        <p:spPr>
          <a:xfrm rot="0" flipH="0" flipV="0">
            <a:off x="514350" y="4772025"/>
            <a:ext cx="342900" cy="3429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628650" y="483870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971550" y="4810125"/>
            <a:ext cx="1828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缺失到可计算后果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2914650" y="4819650"/>
            <a:ext cx="628650" cy="2476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3028950" y="486727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E4FA8"/>
                </a:solidFill>
                <a:latin typeface="Microsoft YaHei"/>
                <a:ea typeface="Microsoft YaHei"/>
              </a:rPr>
              <a:t>已交付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514350" y="5172075"/>
            <a:ext cx="640080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把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未报权重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从一句计数，变成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前</a:t>
            </a: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 10% 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推荐集换掉几个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这样一个可核对的数字。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7258050" y="1476375"/>
            <a:ext cx="4552950" cy="24193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7391400" y="1609725"/>
            <a:ext cx="4286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审计链路</a:t>
            </a:r>
            <a:endParaRPr/>
          </a:p>
        </p:txBody>
      </p:sp>
      <p:pic>
        <p:nvPicPr>
          <p:cNvPr id="2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391400" y="1857375"/>
            <a:ext cx="4210050" cy="1866900"/>
          </a:xfrm>
          <a:prstGeom prst="rect">
            <a:avLst/>
          </a:prstGeom>
          <a:ln/>
        </p:spPr>
      </p:pic>
      <p:sp>
        <p:nvSpPr>
          <p:cNvPr id="222" name=""/>
          <p:cNvSpPr/>
          <p:nvPr/>
        </p:nvSpPr>
        <p:spPr>
          <a:xfrm rot="0" flipH="0" flipV="0">
            <a:off x="7258050" y="4067175"/>
            <a:ext cx="4552950" cy="22098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7410450" y="4448175"/>
            <a:ext cx="42481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交付什么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7410450" y="4800600"/>
            <a:ext cx="4248150" cy="10953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①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实验与验证报告（含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14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条局限）</a:t>
            </a:r>
            <a:endParaRPr/>
          </a:p>
          <a:p>
            <a:pPr>
              <a:lnSpc>
                <a:spcPct val="145000"/>
              </a:lnSpc>
            </a:pP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②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修正记录（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24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条，只增不删）</a:t>
            </a:r>
            <a:endParaRPr/>
          </a:p>
          <a:p>
            <a:pPr>
              <a:lnSpc>
                <a:spcPct val="145000"/>
              </a:lnSpc>
            </a:pP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③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原始结果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JSON +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一键复现入口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381000" y="6391275"/>
            <a:ext cx="2800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三个诊断器都已在本地实现并跑通，不是概念稿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11353800" y="63912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04 / 14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227" name="" descr="&lt;Slide style={{ width: 1280, height: 720, background: '#FFFFFF', flexDirection: 'column' }}&gt;&#13;&#10;&#13;&#10;    &lt;Box style={{ width: 1280, height: 56, background: '#1E4FA8', flexDirection: 'row', alignItems: 'center', justifyContent: 'space-between', paddingLeft: 40, paddingRight: 40 }}&gt;&#13;&#10;        &lt;Text style={{ fontSize: 14, color: '#BFD5EF', letterSpacing: 2 }}&gt;01 这是什么产品&lt;/Text&gt;&#13;&#10;        &lt;Text style={{ fontSize: 14, color: '#BFD5EF' }}&gt;空间适宜性审计工具链&lt;/Text&gt;&#13;&#10;    &lt;/Box&gt;&#13;&#10;&#13;&#10;    &lt;Box style={{ paddingLeft: 40, paddingRight: 40, paddingTop: 24, flexDirection: 'column', gap: 6 }}&gt;&#13;&#10;        &lt;Text style={{ fontSize: 32, fontWeight: 'bold', color: '#1E4FA8' }}&gt;产品形态：一个可被独立复现的工具链&lt;/Text&gt;&#13;&#10;        &lt;Text style={{ fontSize: 16, color: '#4A5568' }}&gt;不追求&quot;更大&quot;，追求&quot;每个数字都能被第三方重跑出来&quot;&lt;/Text&gt;&#13;&#10;    &lt;/Box&gt;&#13;&#10;&#13;&#10;    {/* 形态声明条 */}&#13;&#10;    &lt;Box style={{ marginLeft: 40, marginRight: 40, marginTop: 20, height: 150, background: '#F0F5FC', borderLeft: '6px solid #1E4FA8', padding: 20, flexDirection: 'column', gap: 10, justifyContent: 'center' }}&gt;&#13;&#10;        &lt;Text style={{ fontSize: 30, fontWeight: 'bold', color: '#0E3F8C', lineHeight: 1.35 }}&gt;&#13;&#10;            只依赖 numpy · 无网络请求 · 可完全离线运行&#13;&#10;        &lt;/Text&gt;&#13;&#10;        &lt;Text style={{ fontSize: 22, color: '#4A5568', lineHeight: 1.45 }}&gt;&#13;&#10;            秩相关、AHP 特征向量、块平均全部用显式线性代数重实现，不调 GIS 库 ——&#13;&#10;            因为现成库把每一步封装成黑箱，无法在&quot;权重变化 0.01 时排序变了几个&quot;这一粒度上测量。&#13;&#10;        &lt;/Text&gt;&#13;&#10;    &lt;/Box&gt;&#13;&#10;&#13;&#10;    {/* 四个度量卡 */}&#13;&#10;    &lt;Box style={{ paddingLeft: 40, paddingRight: 40, paddingTop: 20, height: 210, flexDirection: 'row', gap: 18 }}&gt;&#13;&#10;&#13;&#10;        &lt;Box style={{ flex: 1, background: '#FFFFFF', border: '1px solid #D6DCE5', borderTop: '4px solid #1E4FA8', padding: 16, flexDirection: 'column', gap: 8, justifyContent: 'center' }}&gt;&#13;&#10;            &lt;Text style={{ fontSize: 44, fontWeight: 'bold', color: '#1E4FA8', lineHeight: 1 }}&gt;3,010&lt;/Text&gt;&#13;&#10;            &lt;Text style={{ fontSize: 24, fontWeight: 'bold', color: '#1A2230' }}&gt;代码行&lt;/Text&gt;&#13;&#10;            &lt;Text style={{ fontSize: 22, color: '#4A5568', lineHeight: 1.4 }}&gt;15 个文件&lt;/Text&gt;&#13;&#10;        &lt;/Box&gt;&#13;&#10;&#13;&#10;        &lt;Box style={{ flex: 1, background: '#FFFFFF', border: '1px solid #D6DCE5', borderTop: '4px solid #1E4FA8', padding: 16, flexDirection: 'column', gap: 8, justifyContent: 'center' }}&gt;&#13;&#10;            &lt;Text style={{ fontSize: 44, fontWeight: 'bold', color: '#1E4FA8', lineHeight: 1 }}&gt;25&lt;/Text&gt;&#13;&#10;            &lt;Text style={{ fontSize: 24, fontWeight: 'bold', color: '#1A2230' }}&gt;公开接口&lt;/Text&gt;&#13;&#10;            &lt;Text style={{ fontSize: 22, color: '#4A5568', lineHeight: 1.4 }}&gt;4 个模块&lt;/Text&gt;&#13;&#10;        &lt;/Box&gt;&#13;&#10;&#13;&#10;        &lt;Box style={{ flex: 1, background: '#FFFFFF', border: '1px solid #D6DCE5', borderTop: '4px solid #1E4FA8', padding: 16, flexDirection: 'column', gap: 8, justifyContent: 'center' }}&gt;&#13;&#10;            &lt;Text style={{ fontSize: 44, fontWeight: 'bold', color: '#1E4FA8', lineHeight: 1 }}&gt;140+31&lt;/Text&gt;&#13;&#10;            &lt;Text style={{ fontSize: 24, fontWeight: 'bold', color: '#1A2230' }}&gt;断言与判据&lt;/Text&gt;&#13;&#10;            &lt;Text style={{ fontSize: 22, color: '#4A5568', lineHeight: 1.4 }}&gt;140 与 31&lt;/Text&gt;&#13;&#10;        &lt;/Box&gt;&#13;&#10;&#13;&#10;        &lt;Box style={{ flex: 1, background: '#FFFFFF', border: '1px solid #D6DCE5', borderTop: '4px solid #FFC107', padding: 16, flexDirection: 'column', gap: 8, justifyContent: 'center' }}&gt;&#13;&#10;            &lt;Text style={{ fontSize: 44, fontWeight: 'bold', color: '#1E4FA8', lineHeight: 1 }}&gt;5 / 5&lt;/Text&gt;&#13;&#10;            &lt;Text style={{ fontSize: 24, fontWeight: 'bold', color: '#1A2230' }}&gt;门禁全通过&lt;/Text&gt;&#13;&#10;            &lt;Text style={{ fontSize: 22, color: '#4A5568', lineHeight: 1.4 }}&gt;退出码 0&lt;/Text&gt;&#13;&#10;        &lt;/Box&gt;&#13;&#10;&#13;&#10;    &lt;/Box&gt;&#13;&#10;&#13;&#10;    {/* 交付物（单条横向清单，避免四卡各自换行） */}&#13;&#10;    &lt;Box style={{ marginLeft: 40, marginRight: 40, marginTop: 18, height: 108, background: '#F7F9FC', border: '1px solid #D6DCE5', padding: 14, flexDirection: 'column', gap: 6, justifyContent: 'center' }}&gt;&#13;&#10;        &lt;Text style={{ fontSize: 24, fontWeight: 'bold', color: '#1A2230' }}&gt;交付什么&lt;/Text&gt;&#13;&#10;        &lt;Text style={{ fontSize: 22, color: '#4A5568', lineHeight: 1.4 }}&gt;&#13;&#10;            审计报告（含 14 条局限）　·　修正记录 26 条　·　原始结果 JSON 4 份　·　一键复现入口&#13;&#10;        &lt;/Text&gt;&#13;&#10;    &lt;/Box&gt;&#13;&#10;&#13;&#10;    &lt;Box style={{ paddingLeft: 40, paddingRight: 40, height: 40, flexDirection: 'row', alignItems: 'center', justifyContent: 'space-between' }}&gt;&#13;&#10;        &lt;Text style={{ fontSize: 14, color: '#8B97A8' }}&gt;全部【合成】真值已知；接口 4 模块均由脚本抽取核对；同种子逐位可复现&lt;/Text&gt;&#13;&#10;        &lt;Text style={{ fontSize: 14, color: '#1E4FA8' }}&gt;05 / 14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9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381000" y="190500"/>
            <a:ext cx="1171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BFD5EF"/>
                </a:solidFill>
                <a:latin typeface="Microsoft YaHei"/>
                <a:ea typeface="Microsoft YaHei"/>
              </a:rPr>
              <a:t>01 </a:t>
            </a:r>
            <a:r>
              <a:rPr lang="zh-CN" sz="1050" spc="150">
                <a:solidFill>
                  <a:srgbClr val="BFD5EF"/>
                </a:solidFill>
                <a:latin typeface="Microsoft YaHei"/>
                <a:ea typeface="Microsoft YaHei"/>
              </a:rPr>
              <a:t>这是什么产品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10477500" y="19050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FD5EF"/>
                </a:solidFill>
                <a:latin typeface="Microsoft YaHei"/>
                <a:ea typeface="Microsoft YaHei"/>
              </a:rPr>
              <a:t>空间适宜性审计工具链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381000" y="762000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E4FA8"/>
                </a:solidFill>
                <a:latin typeface="Microsoft YaHei"/>
                <a:ea typeface="Microsoft YaHei"/>
              </a:rPr>
              <a:t>产品形态：一个可被独立复现的工具链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381000" y="1190625"/>
            <a:ext cx="1143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不追求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更大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，追求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每个数字都能被第三方重跑出来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438150" y="1571625"/>
            <a:ext cx="11430000" cy="142875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35" name=""/>
          <p:cNvSpPr/>
          <p:nvPr/>
        </p:nvSpPr>
        <p:spPr>
          <a:xfrm rot="0" flipH="0" flipV="0">
            <a:off x="381000" y="1571625"/>
            <a:ext cx="11487150" cy="1428750"/>
          </a:xfrm>
          <a:custGeom>
            <a:pathLst>
              <a:path w="1206" h="150">
                <a:moveTo>
                  <a:pt x="0" y="0"/>
                </a:moveTo>
                <a:lnTo>
                  <a:pt x="6" y="0"/>
                </a:lnTo>
                <a:lnTo>
                  <a:pt x="6" y="150"/>
                </a:lnTo>
                <a:lnTo>
                  <a:pt x="0" y="15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628650" y="1638300"/>
            <a:ext cx="10991850" cy="4667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2250" b="1">
                <a:solidFill>
                  <a:srgbClr val="0E3F8C"/>
                </a:solidFill>
                <a:latin typeface="Microsoft YaHei"/>
                <a:ea typeface="Microsoft YaHei"/>
              </a:rPr>
              <a:t>只依赖</a:t>
            </a:r>
            <a:r>
              <a:rPr lang="en-US" sz="2250" b="1">
                <a:solidFill>
                  <a:srgbClr val="0E3F8C"/>
                </a:solidFill>
                <a:latin typeface="Microsoft YaHei"/>
                <a:ea typeface="Microsoft YaHei"/>
              </a:rPr>
              <a:t> numpy · </a:t>
            </a:r>
            <a:r>
              <a:rPr lang="zh-CN" sz="2250" b="1">
                <a:solidFill>
                  <a:srgbClr val="0E3F8C"/>
                </a:solidFill>
                <a:latin typeface="Microsoft YaHei"/>
                <a:ea typeface="Microsoft YaHei"/>
              </a:rPr>
              <a:t>无网络请求</a:t>
            </a:r>
            <a:r>
              <a:rPr lang="en-US" sz="2250" b="1">
                <a:solidFill>
                  <a:srgbClr val="0E3F8C"/>
                </a:solidFill>
                <a:latin typeface="Microsoft YaHei"/>
                <a:ea typeface="Microsoft YaHei"/>
              </a:rPr>
              <a:t> · </a:t>
            </a:r>
            <a:r>
              <a:rPr lang="zh-CN" sz="2250" b="1">
                <a:solidFill>
                  <a:srgbClr val="0E3F8C"/>
                </a:solidFill>
                <a:latin typeface="Microsoft YaHei"/>
                <a:ea typeface="Microsoft YaHei"/>
              </a:rPr>
              <a:t>可完全离线运行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628650" y="2200275"/>
            <a:ext cx="1099185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秩相关、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AHP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特征向量、块平均全部用显式线性代数重实现，不调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GIS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库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——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因为现成库把每一步封装成黑箱，无法在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权重变化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0.01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时排序变了几个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这一粒度上测量。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381000" y="3228975"/>
            <a:ext cx="2733675" cy="18097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9" name=""/>
          <p:cNvSpPr/>
          <p:nvPr/>
        </p:nvSpPr>
        <p:spPr>
          <a:xfrm rot="0" flipH="0" flipV="0">
            <a:off x="381000" y="3190875"/>
            <a:ext cx="2733675" cy="1847850"/>
          </a:xfrm>
          <a:custGeom>
            <a:pathLst>
              <a:path w="287" h="194">
                <a:moveTo>
                  <a:pt x="0" y="0"/>
                </a:moveTo>
                <a:lnTo>
                  <a:pt x="287" y="0"/>
                </a:lnTo>
                <a:lnTo>
                  <a:pt x="287" y="4"/>
                </a:lnTo>
                <a:lnTo>
                  <a:pt x="0" y="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533400" y="3476625"/>
            <a:ext cx="24288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1E4FA8"/>
                </a:solidFill>
                <a:latin typeface="Microsoft YaHei"/>
                <a:ea typeface="Microsoft YaHei"/>
              </a:rPr>
              <a:t>3,010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533400" y="4057650"/>
            <a:ext cx="24288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代码行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533400" y="4410075"/>
            <a:ext cx="2428875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15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个文件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3286125" y="3228975"/>
            <a:ext cx="2724150" cy="18097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4" name=""/>
          <p:cNvSpPr/>
          <p:nvPr/>
        </p:nvSpPr>
        <p:spPr>
          <a:xfrm rot="0" flipH="0" flipV="0">
            <a:off x="3286125" y="3190875"/>
            <a:ext cx="2724150" cy="1847850"/>
          </a:xfrm>
          <a:custGeom>
            <a:pathLst>
              <a:path w="286" h="194">
                <a:moveTo>
                  <a:pt x="0" y="0"/>
                </a:moveTo>
                <a:lnTo>
                  <a:pt x="286" y="0"/>
                </a:lnTo>
                <a:lnTo>
                  <a:pt x="286" y="4"/>
                </a:lnTo>
                <a:lnTo>
                  <a:pt x="0" y="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3438525" y="3476625"/>
            <a:ext cx="241935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1E4FA8"/>
                </a:solidFill>
                <a:latin typeface="Microsoft YaHei"/>
                <a:ea typeface="Microsoft YaHei"/>
              </a:rPr>
              <a:t>25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3438525" y="4057650"/>
            <a:ext cx="24193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公开接口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3438525" y="4410075"/>
            <a:ext cx="2419350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4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个模块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6181725" y="3228975"/>
            <a:ext cx="2733675" cy="18097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9" name=""/>
          <p:cNvSpPr/>
          <p:nvPr/>
        </p:nvSpPr>
        <p:spPr>
          <a:xfrm rot="0" flipH="0" flipV="0">
            <a:off x="6181725" y="3190875"/>
            <a:ext cx="2733675" cy="1847850"/>
          </a:xfrm>
          <a:custGeom>
            <a:pathLst>
              <a:path w="287" h="194">
                <a:moveTo>
                  <a:pt x="0" y="0"/>
                </a:moveTo>
                <a:lnTo>
                  <a:pt x="287" y="0"/>
                </a:lnTo>
                <a:lnTo>
                  <a:pt x="287" y="4"/>
                </a:lnTo>
                <a:lnTo>
                  <a:pt x="0" y="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6334125" y="3476625"/>
            <a:ext cx="24288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1E4FA8"/>
                </a:solidFill>
                <a:latin typeface="Microsoft YaHei"/>
                <a:ea typeface="Microsoft YaHei"/>
              </a:rPr>
              <a:t>140+31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6334125" y="4057650"/>
            <a:ext cx="24288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断言与判据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6334125" y="4410075"/>
            <a:ext cx="2428875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140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与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31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9086850" y="3228975"/>
            <a:ext cx="2724150" cy="18097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4" name=""/>
          <p:cNvSpPr/>
          <p:nvPr/>
        </p:nvSpPr>
        <p:spPr>
          <a:xfrm rot="0" flipH="0" flipV="0">
            <a:off x="9086850" y="3190875"/>
            <a:ext cx="2724150" cy="1847850"/>
          </a:xfrm>
          <a:custGeom>
            <a:pathLst>
              <a:path w="286" h="194">
                <a:moveTo>
                  <a:pt x="0" y="0"/>
                </a:moveTo>
                <a:lnTo>
                  <a:pt x="286" y="0"/>
                </a:lnTo>
                <a:lnTo>
                  <a:pt x="286" y="4"/>
                </a:lnTo>
                <a:lnTo>
                  <a:pt x="0" y="4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9239250" y="3476625"/>
            <a:ext cx="241935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1E4FA8"/>
                </a:solidFill>
                <a:latin typeface="Microsoft YaHei"/>
                <a:ea typeface="Microsoft YaHei"/>
              </a:rPr>
              <a:t>5 / 5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9239250" y="4057650"/>
            <a:ext cx="24193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门禁全通过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9239250" y="4410075"/>
            <a:ext cx="2419350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退出码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0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381000" y="5172075"/>
            <a:ext cx="11430000" cy="10287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514350" y="5343525"/>
            <a:ext cx="11163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交付什么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514350" y="5676900"/>
            <a:ext cx="11163300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审计报告（含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14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条局限）　·　修正记录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26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条　·　原始结果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JSON 4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份　·　一键复现入口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381000" y="6315075"/>
            <a:ext cx="4429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全部【合成】真值已知；接口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4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模块均由脚本抽取核对；同种子逐位可复现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11353800" y="63150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05 / 14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263" name="" descr="&lt;Slide style={{ width: 1280, height: 720, background: '#FFFFFF', flexDirection: 'row' }}&gt;&#10;&#10;    &lt;Box style={{ width: 460, height: 720, background: '#F0F5FC', justifyContent: 'center', alignItems: 'center' }}&gt;&#10;        &lt;Text style={{ fontSize: 180, fontWeight: 'bold', color: '#1E4FA8', lineHeight: 1 }}&gt;02&lt;/Text&gt;&#10;    &lt;/Box&gt;&#10;&#10;    &lt;Box style={{ width: 820, height: 720, padding: 40, flexDirection: 'column', justifyContent: 'center', gap: 18 }}&gt;&#10;        &lt;Box style={{ width: 80, height: 4, background: '#FFC107' }} /&gt;&#10;        &lt;Text style={{ fontSize: 60, fontWeight: 'bold', color: '#0E3F8C', lineHeight: 1.2 }}&gt;&#10;            服务谁&#10;        &lt;/Text&gt;&#10;        &lt;Text style={{ fontSize: 22, color: '#4A5568', lineHeight: 1.7 }}&gt;&#10;            我们不说&quot;面向养殖行业&quot;。四类对象各有各的具体问题，&#10;            而它们的共同点是——&#10;            &lt;span style={{ fontWeight: 'bold', color: '#1E4FA8' }}&gt;都需要知道一个结论的适用范围有多大&lt;/span&gt;。&#10;        &lt;/Text&gt;&#10;&#10;        &lt;Box style={{ flexDirection: 'column', gap: 12, marginTop: 6 }}&gt;&#10;            &lt;Box style={{ flexDirection: 'row', alignItems: 'center', gap: 14 }}&gt;&#10;                &lt;Box style={{ width: 10, height: 10, background: '#1E4FA8' }} /&gt;&#10;                &lt;Text style={{ fontSize: 20, color: '#1A2230' }}&gt;对象：研究者 · 评审 · 下游数据使用者 · 方法接手人&lt;/Text&gt;&#10;            &lt;/Box&gt;&#10;            &lt;Box style={{ flexDirection: 'row', alignItems: 'center', gap: 14 }}&gt;&#10;                &lt;Box style={{ width: 10, height: 10, background: '#1E4FA8' }} /&gt;&#10;                &lt;Text style={{ fontSize: 20, color: '#1A2230' }}&gt;共同需求：这个结论我能用到多细、多稳&lt;/Text&gt;&#10;            &lt;/Box&gt;&#10;            &lt;Box style={{ flexDirection: 'row', alignItems: 'center', gap: 14 }}&gt;&#10;                &lt;Box style={{ width: 10, height: 10, background: '#D9534F' }} /&gt;&#10;                &lt;Text style={{ fontSize: 20, color: '#1A2230' }}&gt;边界：以下都是目标对象，不是客户名单&lt;/Text&gt;&#10;            &lt;/Box&gt;&#10;        &lt;/Box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5" name=""/>
          <p:cNvSpPr/>
          <p:nvPr/>
        </p:nvSpPr>
        <p:spPr>
          <a:xfrm rot="0" flipH="0" flipV="0">
            <a:off x="0" y="0"/>
            <a:ext cx="4381500" cy="68580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1133475" y="2400300"/>
            <a:ext cx="2124075" cy="2057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0" b="1">
                <a:solidFill>
                  <a:srgbClr val="1E4FA8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4762500" y="1828800"/>
            <a:ext cx="7620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4762500" y="2038350"/>
            <a:ext cx="7048500" cy="828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500" b="1">
                <a:solidFill>
                  <a:srgbClr val="0E3F8C"/>
                </a:solidFill>
                <a:latin typeface="Microsoft YaHei"/>
                <a:ea typeface="Microsoft YaHei"/>
              </a:rPr>
              <a:t>服务谁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4762500" y="3038475"/>
            <a:ext cx="704850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我们不说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面向养殖行业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。四类对象各有各的具体问题，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而它们的共同点是——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都需要知道一个结论的适用范围有多大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4762500" y="4191000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4991100" y="4124325"/>
            <a:ext cx="4286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对象：研究者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评审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下游数据使用者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方法接手人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4762500" y="4533900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4991100" y="4467225"/>
            <a:ext cx="3429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共同需求：这个结论我能用到多细、多稳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4762500" y="4876800"/>
            <a:ext cx="95250" cy="952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4991100" y="4810125"/>
            <a:ext cx="3429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边界：以下都是目标对象，不是客户名单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276" name="" descr="&lt;Slide style={{ width: 1280, height: 720, background: '#FFFFFF', flexDirection: 'column' }}&gt;&#13;&#10;&#13;&#10;    &lt;Box style={{ width: 1280, height: 56, background: '#1E4FA8', flexDirection: 'row', alignItems: 'center', justifyContent: 'space-between', paddingLeft: 40, paddingRight: 40 }}&gt;&#13;&#10;        &lt;Text style={{ fontSize: 14, color: '#BFD5EF', letterSpacing: 2 }}&gt;02 服务谁&lt;/Text&gt;&#13;&#10;        &lt;Text style={{ fontSize: 14, color: '#BFD5EF' }}&gt;空间适宜性审计工具链&lt;/Text&gt;&#13;&#10;    &lt;/Box&gt;&#13;&#10;&#13;&#10;    &lt;Box style={{ paddingLeft: 40, paddingRight: 40, paddingTop: 20, flexDirection: 'column', gap: 4 }}&gt;&#13;&#10;        &lt;Text style={{ fontSize: 32, fontWeight: 'bold', color: '#1E4FA8' }}&gt;四类目标对象，四类具体问题&lt;/Text&gt;&#13;&#10;        &lt;Text style={{ fontSize: 16, color: '#4A5568' }}&gt;每一类都不是&quot;缺一个选址工具&quot;，而是缺一个&quot;能追问自己结论的人&quot;&lt;/Text&gt;&#13;&#10;    &lt;/Box&gt;&#13;&#10;&#13;&#10;    &lt;Box style={{ paddingLeft: 40, paddingRight: 40, paddingTop: 16, height: 520, flexDirection: 'row', gap: 18 }}&gt;&#13;&#10;&#13;&#10;        &lt;Box style={{ flex: 1, flexDirection: 'column', gap: 18 }}&gt;&#13;&#10;&#13;&#10;            &lt;Box style={{ flex: 1, background: '#FFFFFF', border: '1px solid #D6DCE5', borderTop: '4px solid #1E4FA8', padding: 16, flexDirection: 'column', gap: 8 }}&gt;&#13;&#10;                &lt;Text style={{ fontSize: 24, fontWeight: 'bold', color: '#1A2230' }}&gt;做适宜性评估的研究者&lt;/Text&gt;&#13;&#10;                &lt;Text style={{ fontSize: 22, color: '#4A5568', lineHeight: 1.4 }}&gt;&#13;&#10;                    &lt;span style={{ fontWeight: 'bold', color: '#1E4FA8' }}&gt;问题：&lt;/span&gt;结论在什么尺度下还站得住，说不清&#13;&#10;                &lt;/Text&gt;&#13;&#10;                &lt;Text style={{ fontSize: 22, color: '#4A5568', lineHeight: 1.4 }}&gt;&#13;&#10;                    &lt;span style={{ fontWeight: 'bold', color: '#1E4FA8' }}&gt;拿到：&lt;/span&gt;适用范围边界（如&quot;仅适用 ≤4 倍决策单元&quot;）&#13;&#10;                &lt;/Text&gt;&#13;&#10;            &lt;/Box&gt;&#13;&#10;&#13;&#10;            &lt;Box style={{ flex: 1, background: '#FFFFFF', border: '1px solid #D6DCE5', borderTop: '4px solid #1E4FA8', padding: 16, flexDirection: 'column', gap: 8 }}&gt;&#13;&#10;                &lt;Text style={{ fontSize: 24, fontWeight: 'bold', color: '#1A2230' }}&gt;期刊审稿人与项目评审&lt;/Text&gt;&#13;&#10;                &lt;Text style={{ fontSize: 22, color: '#4A5568', lineHeight: 1.4 }}&gt;&#13;&#10;                    &lt;span style={{ fontWeight: 'bold', color: '#1E4FA8' }}&gt;问题：&lt;/span&gt;报告缺了什么，缺的后果有多大，无从判断&#13;&#10;                &lt;/Text&gt;&#13;&#10;                &lt;Text style={{ fontSize: 22, color: '#4A5568', lineHeight: 1.4 }}&gt;&#13;&#10;                    &lt;span style={{ fontWeight: 'bold', color: '#1E4FA8' }}&gt;拿到：&lt;/span&gt;三条缺失各自对应的可核对数字&#13;&#10;                &lt;/Text&gt;&#13;&#10;            &lt;/Box&gt;&#13;&#10;&#13;&#10;        &lt;/Box&gt;&#13;&#10;&#13;&#10;        &lt;Box style={{ flex: 1, flexDirection: 'column', gap: 18 }}&gt;&#13;&#10;&#13;&#10;            &lt;Box style={{ flex: 1, background: '#FFFFFF', border: '1px solid #D6DCE5', borderTop: '4px solid #1E4FA8', padding: 16, flexDirection: 'column', gap: 8 }}&gt;&#13;&#10;                &lt;Text style={{ fontSize: 24, fontWeight: 'bold', color: '#1A2230' }}&gt;下游数据使用者&lt;/Text&gt;&#13;&#10;                &lt;Text style={{ fontSize: 22, color: '#4A5568', lineHeight: 1.4 }}&gt;&#13;&#10;                    &lt;span style={{ fontWeight: 'bold', color: '#1E4FA8' }}&gt;问题：&lt;/span&gt;这个网格我能用到多细，会不会已经粗过我要决策的对象&#13;&#10;                &lt;/Text&gt;&#13;&#10;                &lt;Text style={{ fontSize: 22, color: '#4A5568', lineHeight: 1.4 }}&gt;&#13;&#10;                    &lt;span style={{ fontWeight: 'bold', color: '#1E4FA8' }}&gt;拿到：&lt;/span&gt;纯几何换算（100 m 网格每格约 2.78 口池）&#13;&#10;                &lt;/Text&gt;&#13;&#10;            &lt;/Box&gt;&#13;&#10;&#13;&#10;            &lt;Box style={{ flex: 1, background: '#FFFFFF', border: '1px solid #D6DCE5', borderTop: '4px solid #FFC107', padding: 16, flexDirection: 'column', gap: 8 }}&gt;&#13;&#10;                &lt;Text style={{ fontSize: 24, fontWeight: 'bold', color: '#1A2230' }}&gt;后续接手这套方法的人&lt;/Text&gt;&#13;&#10;                &lt;Text style={{ fontSize: 22, color: '#4A5568', lineHeight: 1.4 }}&gt;&#13;&#10;                    &lt;span style={{ fontWeight: 'bold', color: '#1E4FA8' }}&gt;问题：&lt;/span&gt;判据怎么写才不自欺 —— 这条最难自学&#13;&#10;                &lt;/Text&gt;&#13;&#10;                &lt;Text style={{ fontSize: 22, color: '#4A5568', lineHeight: 1.4 }}&gt;&#13;&#10;                    &lt;span style={{ fontWeight: 'bold', color: '#1E4FA8' }}&gt;拿到：&lt;/span&gt;八项判据自检清单与 24 条错误实录&#13;&#10;                &lt;/Text&gt;&#13;&#10;            &lt;/Box&gt;&#13;&#10;&#13;&#10;        &lt;/Box&gt;&#13;&#10;&#13;&#10;    &lt;/Box&gt;&#13;&#10;&#13;&#10;    &lt;Box style={{ paddingLeft: 40, paddingRight: 40, height: 40, flexDirection: 'row', alignItems: 'center', justifyContent: 'space-between' }}&gt;&#13;&#10;        &lt;Text style={{ fontSize: 14, color: '#8B97A8' }}&gt;以上都是目标对象，不是客户名单；本项目未接受任何委托&lt;/Text&gt;&#13;&#10;        &lt;Text style={{ fontSize: 14, color: '#1E4FA8' }}&gt;07 / 14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8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381000" y="190500"/>
            <a:ext cx="714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BFD5EF"/>
                </a:solidFill>
                <a:latin typeface="Microsoft YaHei"/>
                <a:ea typeface="Microsoft YaHei"/>
              </a:rPr>
              <a:t>02 </a:t>
            </a:r>
            <a:r>
              <a:rPr lang="zh-CN" sz="1050" spc="150">
                <a:solidFill>
                  <a:srgbClr val="BFD5EF"/>
                </a:solidFill>
                <a:latin typeface="Microsoft YaHei"/>
                <a:ea typeface="Microsoft YaHei"/>
              </a:rPr>
              <a:t>服务谁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10477500" y="19050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FD5EF"/>
                </a:solidFill>
                <a:latin typeface="Microsoft YaHei"/>
                <a:ea typeface="Microsoft YaHei"/>
              </a:rPr>
              <a:t>空间适宜性审计工具链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381000" y="723900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E4FA8"/>
                </a:solidFill>
                <a:latin typeface="Microsoft YaHei"/>
                <a:ea typeface="Microsoft YaHei"/>
              </a:rPr>
              <a:t>四类目标对象，四类具体问题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381000" y="1133475"/>
            <a:ext cx="1143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每一类都不是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缺一个选址工具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，而是缺一个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能追问自己结论的人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381000" y="1514475"/>
            <a:ext cx="5629275" cy="23145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4" name=""/>
          <p:cNvSpPr/>
          <p:nvPr/>
        </p:nvSpPr>
        <p:spPr>
          <a:xfrm rot="0" flipH="0" flipV="0">
            <a:off x="381000" y="1476375"/>
            <a:ext cx="5629275" cy="2352675"/>
          </a:xfrm>
          <a:custGeom>
            <a:pathLst>
              <a:path w="591" h="247">
                <a:moveTo>
                  <a:pt x="0" y="0"/>
                </a:moveTo>
                <a:lnTo>
                  <a:pt x="591" y="0"/>
                </a:lnTo>
                <a:lnTo>
                  <a:pt x="591" y="4"/>
                </a:lnTo>
                <a:lnTo>
                  <a:pt x="0" y="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533400" y="1666875"/>
            <a:ext cx="53244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做适宜性评估的研究者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533400" y="2019300"/>
            <a:ext cx="5324475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问题：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结论在什么尺度下还站得住，说不清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533400" y="2447925"/>
            <a:ext cx="5324475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拿到：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适用范围边界（如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仅适用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≤4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倍决策单元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381000" y="4000500"/>
            <a:ext cx="5629275" cy="23145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9" name=""/>
          <p:cNvSpPr/>
          <p:nvPr/>
        </p:nvSpPr>
        <p:spPr>
          <a:xfrm rot="0" flipH="0" flipV="0">
            <a:off x="381000" y="3962400"/>
            <a:ext cx="5629275" cy="2352675"/>
          </a:xfrm>
          <a:custGeom>
            <a:pathLst>
              <a:path w="591" h="247">
                <a:moveTo>
                  <a:pt x="0" y="0"/>
                </a:moveTo>
                <a:lnTo>
                  <a:pt x="591" y="0"/>
                </a:lnTo>
                <a:lnTo>
                  <a:pt x="591" y="4"/>
                </a:lnTo>
                <a:lnTo>
                  <a:pt x="0" y="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533400" y="4152900"/>
            <a:ext cx="53244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期刊审稿人与项目评审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533400" y="4505325"/>
            <a:ext cx="5324475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问题：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报告缺了什么，缺的后果有多大，无从判断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533400" y="4933950"/>
            <a:ext cx="5324475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拿到：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三条缺失各自对应的可核对数字</a:t>
            </a:r>
            <a:endParaRPr/>
          </a:p>
        </p:txBody>
      </p:sp>
      <p:sp>
        <p:nvSpPr>
          <p:cNvPr id="293" name=""/>
          <p:cNvSpPr/>
          <p:nvPr/>
        </p:nvSpPr>
        <p:spPr>
          <a:xfrm rot="0" flipH="0" flipV="0">
            <a:off x="6181725" y="1514475"/>
            <a:ext cx="5629275" cy="2495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4" name=""/>
          <p:cNvSpPr/>
          <p:nvPr/>
        </p:nvSpPr>
        <p:spPr>
          <a:xfrm rot="0" flipH="0" flipV="0">
            <a:off x="6181725" y="1476375"/>
            <a:ext cx="5629275" cy="2533650"/>
          </a:xfrm>
          <a:custGeom>
            <a:pathLst>
              <a:path w="591" h="266">
                <a:moveTo>
                  <a:pt x="0" y="0"/>
                </a:moveTo>
                <a:lnTo>
                  <a:pt x="591" y="0"/>
                </a:lnTo>
                <a:lnTo>
                  <a:pt x="591" y="4"/>
                </a:lnTo>
                <a:lnTo>
                  <a:pt x="0" y="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6334125" y="1666875"/>
            <a:ext cx="53244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下游数据使用者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6334125" y="2019300"/>
            <a:ext cx="5324475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问题：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这个网格我能用到多细，会不会已经粗过我要决策的对象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6334125" y="2800350"/>
            <a:ext cx="5324475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拿到：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纯几何换算（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100 m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网格每格约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2.78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口池）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6181725" y="4181475"/>
            <a:ext cx="5629275" cy="2133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9" name=""/>
          <p:cNvSpPr/>
          <p:nvPr/>
        </p:nvSpPr>
        <p:spPr>
          <a:xfrm rot="0" flipH="0" flipV="0">
            <a:off x="6181725" y="4143375"/>
            <a:ext cx="5629275" cy="2171700"/>
          </a:xfrm>
          <a:custGeom>
            <a:pathLst>
              <a:path w="591" h="228">
                <a:moveTo>
                  <a:pt x="0" y="0"/>
                </a:moveTo>
                <a:lnTo>
                  <a:pt x="591" y="0"/>
                </a:lnTo>
                <a:lnTo>
                  <a:pt x="591" y="4"/>
                </a:lnTo>
                <a:lnTo>
                  <a:pt x="0" y="4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6334125" y="4333875"/>
            <a:ext cx="53244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后续接手这套方法的人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6334125" y="4686300"/>
            <a:ext cx="5324475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问题：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判据怎么写才不自欺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——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这条最难自学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6334125" y="5114925"/>
            <a:ext cx="5324475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拿到：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八项判据自检清单与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24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条错误实录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381000" y="6391275"/>
            <a:ext cx="3467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以上都是目标对象，不是客户名单；本项目未接受任何委托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11353800" y="63912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07 / 14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305" name="" descr="&lt;Slide style={{ width: 1280, height: 720, background: '#FFFFFF', flexDirection: 'row' }}&gt;&#10;&#10;    &lt;Box style={{ width: 460, height: 720, background: '#F0F5FC', justifyContent: 'center', alignItems: 'center' }}&gt;&#10;        &lt;Text style={{ fontSize: 180, fontWeight: 'bold', color: '#1E4FA8', lineHeight: 1 }}&gt;03&lt;/Text&gt;&#10;    &lt;/Box&gt;&#10;&#10;    &lt;Box style={{ width: 820, height: 720, padding: 40, flexDirection: 'column', justifyContent: 'center', gap: 18 }}&gt;&#10;        &lt;Box style={{ width: 80, height: 4, background: '#FFC107' }} /&gt;&#10;        &lt;Text style={{ fontSize: 60, fontWeight: 'bold', color: '#0E3F8C', lineHeight: 1.2 }}&gt;&#10;            优势在哪&#10;        &lt;/Text&gt;&#10;        &lt;Text style={{ fontSize: 22, color: '#4A5568', lineHeight: 1.7 }}&gt;&#10;            我们不把 WLC 和 AHP 说成创新 —— 那是 2000 年以来这个领域的标准配方。&#10;            优势来自&#10;            &lt;span style={{ fontWeight: 'bold', color: '#1E4FA8' }}&gt;我们站在什么位置、以及把什么当成了产品能力&lt;/span&gt;。&#10;        &lt;/Text&gt;&#10;&#10;        &lt;Box style={{ flexDirection: 'column', gap: 12, marginTop: 6 }}&gt;&#10;            &lt;Box style={{ flexDirection: 'row', alignItems: 'center', gap: 14 }}&gt;&#10;                &lt;Box style={{ width: 10, height: 10, background: '#1E4FA8' }} /&gt;&#10;                &lt;Text style={{ fontSize: 20, color: '#1A2230' }}&gt;优势来源：两个「不匹配」 —— 粒度与动机&lt;/Text&gt;&#10;            &lt;/Box&gt;&#10;            &lt;Box style={{ flexDirection: 'row', alignItems: 'center', gap: 14 }}&gt;&#10;                &lt;Box style={{ width: 10, height: 10, background: '#1E4FA8' }} /&gt;&#10;                &lt;Text style={{ fontSize: 20, color: '#1A2230' }}&gt;产品能力：可分解 · 可扰动 · 可复现&lt;/Text&gt;&#10;            &lt;/Box&gt;&#10;            &lt;Box style={{ flexDirection: 'row', alignItems: 'center', gap: 14 }}&gt;&#10;                &lt;Box style={{ width: 10, height: 10, background: '#D9534F' }} /&gt;&#10;                &lt;Text style={{ fontSize: 20, color: '#1A2230' }}&gt;不声称：不在方法上有任何创新&lt;/Text&gt;&#10;            &lt;/Box&gt;&#10;        &lt;/Box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7" name=""/>
          <p:cNvSpPr/>
          <p:nvPr/>
        </p:nvSpPr>
        <p:spPr>
          <a:xfrm rot="0" flipH="0" flipV="0">
            <a:off x="0" y="0"/>
            <a:ext cx="4381500" cy="68580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1133475" y="2400300"/>
            <a:ext cx="2124075" cy="2057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0" b="1">
                <a:solidFill>
                  <a:srgbClr val="1E4FA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4762500" y="1828800"/>
            <a:ext cx="7620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4762500" y="2038350"/>
            <a:ext cx="7048500" cy="828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500" b="1">
                <a:solidFill>
                  <a:srgbClr val="0E3F8C"/>
                </a:solidFill>
                <a:latin typeface="Microsoft YaHei"/>
                <a:ea typeface="Microsoft YaHei"/>
              </a:rPr>
              <a:t>优势在哪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4762500" y="3038475"/>
            <a:ext cx="704850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我们不把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WLC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和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AHP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说成创新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——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那是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2000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年以来这个领域的标准配方。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优势来自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我们站在什么位置、以及把什么当成了产品能力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4762500" y="4191000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4991100" y="4124325"/>
            <a:ext cx="3771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优势来源：两个「不匹配」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——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粒度与动机</a:t>
            </a:r>
            <a:endParaRPr/>
          </a:p>
        </p:txBody>
      </p:sp>
      <p:sp>
        <p:nvSpPr>
          <p:cNvPr id="314" name=""/>
          <p:cNvSpPr/>
          <p:nvPr/>
        </p:nvSpPr>
        <p:spPr>
          <a:xfrm rot="0" flipH="0" flipV="0">
            <a:off x="4762500" y="4533900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4991100" y="4467225"/>
            <a:ext cx="2990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产品能力：可分解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可扰动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可复现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4762500" y="4876800"/>
            <a:ext cx="95250" cy="952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4991100" y="4810125"/>
            <a:ext cx="2667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不声称：不在方法上有任何创新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18" name="" descr="&lt;Slide style={{ width: 1280, height: 720, background: '#FFFFFF', flexDirection: 'column' }}&gt;&#10;&#10;    &lt;Box style={{ width: 1280, height: 56, background: '#1E4FA8', flexDirection: 'row', alignItems: 'center', justifyContent: 'space-between', paddingLeft: 40, paddingRight: 40 }}&gt;&#10;        &lt;Text style={{ fontSize: 14, color: '#BFD5EF', letterSpacing: 2 }}&gt;03 优势在哪&lt;/Text&gt;&#10;        &lt;Text style={{ fontSize: 14, color: '#BFD5EF' }}&gt;空间适宜性审计工具链&lt;/Text&gt;&#10;    &lt;/Box&gt;&#10;&#10;    &lt;Box style={{ paddingLeft: 40, paddingRight: 40, paddingTop: 20, flexDirection: 'column', gap: 4 }}&gt;&#10;        &lt;Text style={{ fontSize: 32, fontWeight: 'bold', color: '#1E4FA8' }}&gt;优势不在算法，在两个「不匹配」&lt;/Text&gt;&#10;        &lt;Text style={{ fontSize: 16, color: '#4A5568' }}&gt;这两个不匹配是结构性的，不是&quot;别人没想到&quot; —— 两篇关键文献都已公开承认这些缺口&lt;/Text&gt;&#10;    &lt;/Box&gt;&#10;&#10;    &lt;Box style={{ paddingLeft: 40, paddingRight: 40, paddingTop: 16, height: 520, flexDirection: 'row', gap: 22 }}&gt;&#10;&#10;        {/* 左：两个不匹配 */}&#10;        &lt;Box style={{ width: 700, flexDirection: 'column', gap: 12 }}&gt;&#10;&#10;            &lt;Box style={{ height: 236, background: '#FFFFFF', border: '1px solid #D6DCE5', borderLeft: '6px solid #1E4FA8', padding: 16, flexDirection: 'column', gap: 8 }}&gt;&#10;                &lt;Box style={{ flexDirection: 'row', alignItems: 'center', gap: 12 }}&gt;&#10;                    &lt;Text style={{ fontSize: 24, fontWeight: 'bold', color: '#1A2230' }}&gt;一 · 粒度不匹配&lt;/Text&gt;&#10;                    &lt;Box style={{ paddingLeft: 12, paddingRight: 12, height: 26, background: '#E8EFF8', borderRadius: 13, justifyContent: 'center' }}&gt;&#10;                        &lt;Text style={{ fontSize: 14, color: '#1E4FA8' }}&gt;结构性&lt;/Text&gt;&#10;                    &lt;/Box&gt;&#10;                &lt;/Box&gt;&#10;                &lt;Text style={{ fontSize: 22, color: '#4A5568', lineHeight: 1.45 }}&gt;&#10;                    主流 GIS-MCE 面向海湾、河口级，栅格常为 30 m – 1 km；&#10;                    高位池的决策单元约 50 m。&#10;                &lt;/Text&gt;&#10;                &lt;Text style={{ fontSize: 22, color: '#4A5568', lineHeight: 1.45 }}&gt;&#10;                    做海湾选址的团队&#10;                    &lt;span style={{ fontWeight: 'bold', color: '#1A2230' }}&gt;动机上不需要&lt;/span&gt;&#10;                    解决&quot;输出网格粗于决策单元&quot;这件事。&#10;                &lt;/Text&gt;&#10;            &lt;/Box&gt;&#10;&#10;            &lt;Box style={{ height: 236, background: '#FFFFFF', border: '1px solid #D6DCE5', borderLeft: '6px solid #1E4FA8', padding: 16, flexDirection: 'column', gap: 8 }}&gt;&#10;                &lt;Box style={{ flexDirection: 'row', alignItems: 'center', gap: 12 }}&gt;&#10;                    &lt;Text style={{ fontSize: 24, fontWeight: 'bold', color: '#1A2230' }}&gt;二 · 动机不匹配&lt;/Text&gt;&#10;                    &lt;Box style={{ paddingLeft: 12, paddingRight: 12, height: 26, background: '#E8EFF8', borderRadius: 13, justifyContent: 'center' }}&gt;&#10;                        &lt;Text style={{ fontSize: 14, color: '#1E4FA8' }}&gt;结构性&lt;/Text&gt;&#10;                    &lt;/Box&gt;&#10;                &lt;/Box&gt;&#10;                &lt;Text style={{ fontSize: 22, color: '#4A5568', lineHeight: 1.45 }}&gt;&#10;                    遥感团队要的是&lt;span style={{ fontWeight: 'bold', color: '#1A2230' }}&gt;反演精度&lt;/span&gt;；&#10;                    我们要的是&lt;span style={{ fontWeight: 'bold', color: '#1A2230' }}&gt;决策可审计性&lt;/span&gt;。&#10;                &lt;/Text&gt;&#10;                &lt;Text style={{ fontSize: 22, color: '#4A5568', lineHeight: 1.45 }}&gt;&#10;                    &quot;高分辨率&quot;与&quot;高精度&quot;是两件事，&#10;                    数据更细不会自动让决策更好。&#10;                &lt;/Text&gt;&#10;            &lt;/Box&gt;&#10;&#10;        &lt;/Box&gt;&#10;&#10;        {/* 右：几何证据 + 可分解性 */}&#10;        &lt;Box style={{ width: 478, flexDirection: 'column', gap: 16 }}&gt;&#10;&#10;            &lt;Box style={{ height: 262, background: '#F7F9FC', border: '1px solid #D6DCE5', padding: 14, flexDirection: 'column' }}&gt;&#10;                &lt;Box style={{ flexDirection: 'row', alignItems: 'center', justifyContent: 'space-between', marginBottom: 6 }}&gt;&#10;                    &lt;Text style={{ fontSize: 18, fontWeight: 'bold', color: '#1E4FA8' }}&gt;粒度差距的几何换算&lt;/Text&gt;&#10;                    &lt;Box style={{ paddingLeft: 10, paddingRight: 10, height: 24, background: '#FFFFFF', borderRadius: 12, justifyContent: 'center' }}&gt;&#10;                        &lt;Text style={{ fontSize: 14, color: '#8B97A8' }}&gt;纯几何&lt;/Text&gt;&#10;                    &lt;/Box&gt;&#10;                &lt;/Box&gt;&#10;                &lt;svg width={442} height={216} viewBox='0 0 442 216'&gt;&#10;                    &lt;text x='0' y='16' fontSize='14' fill='#8B97A8'&gt;海湾级决策单元：一个栅格 ≫ 决策对象&lt;/text&gt;&#10;                    &lt;rect x='0' y='26' width='442' height='26' rx='3' fill='#D6DCE5' /&gt;&#10;                    &lt;line x1='221' y1='26' x2='221' y2='52' stroke='#FFFFFF' strokeWidth='2' /&gt;&#10;                    &lt;text x='228' y='44' fontSize='13' fill='#4A5568'&gt;1 km 栅格&lt;/text&gt;&#10;                    &lt;rect x='0' y='26' width='22' height='26' rx='3' fill='#8B97A8' /&gt;&#10;&#10;                    &lt;text x='0' y='86' fontSize='14' fill='#8B97A8'&gt;高位池决策单元：栅格远大于决策对象&lt;/text&gt;&#10;                    &lt;rect x='0' y='96' width='22' height='26' rx='3' fill='#1E4FA8' /&gt;&#10;                    &lt;text x='32' y='114' fontSize='13' fill='#1E4FA8' fontWeight='bold'&gt;50 m 单池&lt;/text&gt;&#10;                    &lt;text x='126' y='114' fontSize='13' fill='#8B97A8'&gt;← 决策真正作用的对象&lt;/text&gt;&#10;&#10;                    &lt;rect x='0' y='136' width='442' height='26' rx='3' fill='#F0F5FC' stroke='#D6DCE5' strokeWidth='1' /&gt;&#10;                    &lt;text x='10' y='154' fontSize='13' fill='#4A5568'&gt;同一张 1 km 栅格：对前者合适，对后者每格约覆盖 278 口池&lt;/text&gt;&#10;&#10;                    &lt;rect x='0' y='176' width='442' height='34' rx='3' fill='#E8EFF8' stroke='#1E4FA8' strokeWidth='1' /&gt;&#10;                    &lt;text x='12' y='198' fontSize='14' fill='#1E4FA8' fontWeight='bold'&gt;100 m 网格：每格约 2.78 口池　｜　200 m：约 11.11 口&lt;/text&gt;&#10;                &lt;/svg&gt;&#10;            &lt;/Box&gt;&#10;&#10;            &lt;Box style={{ flex: 1, background: '#FFFFFF', border: '1px solid #D6DCE5', borderTop: '4px solid #FFC107', padding: 16, flexDirection: 'column', gap: 8, justifyContent: 'center' }}&gt;&#10;                &lt;Text style={{ fontSize: 24, fontWeight: 'bold', color: '#1A2230' }}&gt;第二重优势：可分解性&lt;/Text&gt;&#10;                &lt;Text style={{ fontSize: 22, color: '#4A5568', lineHeight: 1.45 }}&gt;&#10;                    不调 GIS 库，是因为现成库把每一步封装成黑箱 ——&#10;                    我们要能在&quot;权重变化 0.01 时排序变了几个&quot;这一粒度上测量。&#10;                &lt;/Text&gt;&#10;            &lt;/Box&gt;&#10;&#10;        &lt;/Box&gt;&#10;    &lt;/Box&gt;&#10;&#10;    &lt;Box style={{ paddingLeft: 40, paddingRight: 40, height: 40, flexDirection: 'row', alignItems: 'center', justifyContent: 'space-between' }}&gt;&#10;        &lt;Text style={{ fontSize: 14, color: '#8B97A8' }}&gt;几何换算不依赖任何数据，是本组结论中最稳的一个；278 口/格由 1 km ÷ 60 m 池距换算&lt;/Text&gt;&#10;        &lt;Text style={{ fontSize: 14, color: '#1E4FA8' }}&gt;09 / 1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0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381000" y="190500"/>
            <a:ext cx="866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BFD5EF"/>
                </a:solidFill>
                <a:latin typeface="Microsoft YaHei"/>
                <a:ea typeface="Microsoft YaHei"/>
              </a:rPr>
              <a:t>03 </a:t>
            </a:r>
            <a:r>
              <a:rPr lang="zh-CN" sz="1050" spc="150">
                <a:solidFill>
                  <a:srgbClr val="BFD5EF"/>
                </a:solidFill>
                <a:latin typeface="Microsoft YaHei"/>
                <a:ea typeface="Microsoft YaHei"/>
              </a:rPr>
              <a:t>优势在哪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10477500" y="19050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FD5EF"/>
                </a:solidFill>
                <a:latin typeface="Microsoft YaHei"/>
                <a:ea typeface="Microsoft YaHei"/>
              </a:rPr>
              <a:t>空间适宜性审计工具链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381000" y="723900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E4FA8"/>
                </a:solidFill>
                <a:latin typeface="Microsoft YaHei"/>
                <a:ea typeface="Microsoft YaHei"/>
              </a:rPr>
              <a:t>优势不在算法，在两个「不匹配」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381000" y="1133475"/>
            <a:ext cx="1143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这两个不匹配是结构性的，不是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别人没想到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 ——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两篇关键文献都已公开承认这些缺口</a:t>
            </a:r>
            <a:endParaRPr/>
          </a:p>
        </p:txBody>
      </p:sp>
      <p:sp>
        <p:nvSpPr>
          <p:cNvPr id="325" name=""/>
          <p:cNvSpPr/>
          <p:nvPr/>
        </p:nvSpPr>
        <p:spPr>
          <a:xfrm rot="0" flipH="0" flipV="0">
            <a:off x="438150" y="1476375"/>
            <a:ext cx="6667500" cy="2247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6" name=""/>
          <p:cNvSpPr/>
          <p:nvPr/>
        </p:nvSpPr>
        <p:spPr>
          <a:xfrm rot="0" flipH="0" flipV="0">
            <a:off x="381000" y="1476375"/>
            <a:ext cx="6724650" cy="2247900"/>
          </a:xfrm>
          <a:custGeom>
            <a:pathLst>
              <a:path w="706" h="236">
                <a:moveTo>
                  <a:pt x="0" y="0"/>
                </a:moveTo>
                <a:lnTo>
                  <a:pt x="6" y="0"/>
                </a:lnTo>
                <a:lnTo>
                  <a:pt x="6" y="236"/>
                </a:lnTo>
                <a:lnTo>
                  <a:pt x="0" y="236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590550" y="1628775"/>
            <a:ext cx="1609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一</a:t>
            </a: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粒度不匹配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2314575" y="1647825"/>
            <a:ext cx="628650" cy="2476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2428875" y="169545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E4FA8"/>
                </a:solidFill>
                <a:latin typeface="Microsoft YaHei"/>
                <a:ea typeface="Microsoft YaHei"/>
              </a:rPr>
              <a:t>结构性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590550" y="1981200"/>
            <a:ext cx="630555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主流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GIS-MCE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面向海湾、河口级，栅格常为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30 m – 1 km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；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高位池的决策单元约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50 m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590550" y="2790825"/>
            <a:ext cx="630555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做海湾选址的团队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动机上不需要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解决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输出网格粗于决策单元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这件事。</a:t>
            </a:r>
            <a:endParaRPr/>
          </a:p>
        </p:txBody>
      </p:sp>
      <p:sp>
        <p:nvSpPr>
          <p:cNvPr id="332" name=""/>
          <p:cNvSpPr/>
          <p:nvPr/>
        </p:nvSpPr>
        <p:spPr>
          <a:xfrm rot="0" flipH="0" flipV="0">
            <a:off x="438150" y="3838575"/>
            <a:ext cx="6667500" cy="2247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3" name=""/>
          <p:cNvSpPr/>
          <p:nvPr/>
        </p:nvSpPr>
        <p:spPr>
          <a:xfrm rot="0" flipH="0" flipV="0">
            <a:off x="381000" y="3838575"/>
            <a:ext cx="6724650" cy="2247900"/>
          </a:xfrm>
          <a:custGeom>
            <a:pathLst>
              <a:path w="706" h="236">
                <a:moveTo>
                  <a:pt x="0" y="0"/>
                </a:moveTo>
                <a:lnTo>
                  <a:pt x="6" y="0"/>
                </a:lnTo>
                <a:lnTo>
                  <a:pt x="6" y="236"/>
                </a:lnTo>
                <a:lnTo>
                  <a:pt x="0" y="236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590550" y="3990975"/>
            <a:ext cx="1609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二</a:t>
            </a: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动机不匹配</a:t>
            </a:r>
            <a:endParaRPr/>
          </a:p>
        </p:txBody>
      </p:sp>
      <p:sp>
        <p:nvSpPr>
          <p:cNvPr id="335" name=""/>
          <p:cNvSpPr/>
          <p:nvPr/>
        </p:nvSpPr>
        <p:spPr>
          <a:xfrm rot="0" flipH="0" flipV="0">
            <a:off x="2314575" y="4010025"/>
            <a:ext cx="628650" cy="2476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2428875" y="405765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E4FA8"/>
                </a:solidFill>
                <a:latin typeface="Microsoft YaHei"/>
                <a:ea typeface="Microsoft YaHei"/>
              </a:rPr>
              <a:t>结构性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590550" y="4343400"/>
            <a:ext cx="6305550" cy="3714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遥感团队要的是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反演精度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；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我们要的是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决策可审计性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590550" y="4791075"/>
            <a:ext cx="6305550" cy="3714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高分辨率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与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高精度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是两件事，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数据更细不会自动让决策更好。</a:t>
            </a:r>
            <a:endParaRPr/>
          </a:p>
        </p:txBody>
      </p:sp>
      <p:sp>
        <p:nvSpPr>
          <p:cNvPr id="339" name=""/>
          <p:cNvSpPr/>
          <p:nvPr/>
        </p:nvSpPr>
        <p:spPr>
          <a:xfrm rot="0" flipH="0" flipV="0">
            <a:off x="7258050" y="1476375"/>
            <a:ext cx="4552950" cy="24955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7391400" y="1619250"/>
            <a:ext cx="1543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粒度差距的几何换算</a:t>
            </a:r>
            <a:endParaRPr/>
          </a:p>
        </p:txBody>
      </p:sp>
      <p:sp>
        <p:nvSpPr>
          <p:cNvPr id="341" name=""/>
          <p:cNvSpPr/>
          <p:nvPr/>
        </p:nvSpPr>
        <p:spPr>
          <a:xfrm rot="0" flipH="0" flipV="0">
            <a:off x="11087100" y="1609725"/>
            <a:ext cx="59055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11182350" y="16478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纯几何</a:t>
            </a:r>
            <a:endParaRPr/>
          </a:p>
        </p:txBody>
      </p:sp>
      <p:pic>
        <p:nvPicPr>
          <p:cNvPr id="34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391400" y="1895475"/>
            <a:ext cx="4210050" cy="2057400"/>
          </a:xfrm>
          <a:prstGeom prst="rect">
            <a:avLst/>
          </a:prstGeom>
          <a:ln/>
        </p:spPr>
      </p:pic>
      <p:sp>
        <p:nvSpPr>
          <p:cNvPr id="344" name=""/>
          <p:cNvSpPr/>
          <p:nvPr/>
        </p:nvSpPr>
        <p:spPr>
          <a:xfrm rot="0" flipH="0" flipV="0">
            <a:off x="7258050" y="4162425"/>
            <a:ext cx="4552950" cy="2152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5" name=""/>
          <p:cNvSpPr/>
          <p:nvPr/>
        </p:nvSpPr>
        <p:spPr>
          <a:xfrm rot="0" flipH="0" flipV="0">
            <a:off x="7258050" y="4124325"/>
            <a:ext cx="4552950" cy="2190750"/>
          </a:xfrm>
          <a:custGeom>
            <a:pathLst>
              <a:path w="478" h="230">
                <a:moveTo>
                  <a:pt x="0" y="0"/>
                </a:moveTo>
                <a:lnTo>
                  <a:pt x="478" y="0"/>
                </a:lnTo>
                <a:lnTo>
                  <a:pt x="478" y="4"/>
                </a:lnTo>
                <a:lnTo>
                  <a:pt x="0" y="4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7410450" y="4495800"/>
            <a:ext cx="42481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第二重优势：可分解性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7410450" y="4848225"/>
            <a:ext cx="4248150" cy="1095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不调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GIS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库，是因为现成库把每一步封装成黑箱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——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我们要能在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权重变化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0.01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时排序变了几个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这一粒度上测量。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381000" y="6391275"/>
            <a:ext cx="5362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几何换算不依赖任何数据，是本组结论中最稳的一个；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278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口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格由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1 km ÷ 60 m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池距换算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11353800" y="63912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09 / 14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21" name="" descr="&lt;Slide style={{ width: 1280, height: 720, background: '#FFFFFF', flexDirection: 'row' }}&gt;&#10;&#10;    &lt;Box style={{ width: 460, height: 720, background: '#F0F5FC', justifyContent: 'center', alignItems: 'center' }}&gt;&#10;        &lt;Text style={{ fontSize: 180, fontWeight: 'bold', color: '#1E4FA8', lineHeight: 1 }}&gt;04&lt;/Text&gt;&#10;    &lt;/Box&gt;&#10;&#10;    &lt;Box style={{ width: 820, height: 720, padding: 40, flexDirection: 'column', justifyContent: 'center', gap: 18 }}&gt;&#10;        &lt;Box style={{ width: 80, height: 4, background: '#FFC107' }} /&gt;&#10;        &lt;Text style={{ fontSize: 60, fontWeight: 'bold', color: '#0E3F8C', lineHeight: 1.2 }}&gt;&#10;            解决什么问题&#10;        &lt;/Text&gt;&#10;        &lt;Text style={{ fontSize: 22, color: '#4A5568', lineHeight: 1.7 }}&gt;&#10;            三个问题都来自已有文献指出、但尚未被转成数字的缺口。&#10;            每个答案都带&#10;            &lt;span style={{ fontWeight: 'bold', color: '#1E4FA8' }}&gt;样本量、方法名与适用范围&lt;/span&gt;。&#10;        &lt;/Text&gt;&#10;&#10;        &lt;Box style={{ flexDirection: 'column', gap: 12, marginTop: 6 }}&gt;&#10;            &lt;Box style={{ flexDirection: 'row', alignItems: 'center', gap: 14 }}&gt;&#10;                &lt;Box style={{ width: 10, height: 10, background: '#1E4FA8' }} /&gt;&#10;                &lt;Text style={{ fontSize: 20, color: '#1A2230' }}&gt;问题一：融合换来多少精度、多少代价&lt;/Text&gt;&#10;            &lt;/Box&gt;&#10;            &lt;Box style={{ flexDirection: 'row', alignItems: 'center', gap: 14 }}&gt;&#10;                &lt;Box style={{ width: 10, height: 10, background: '#1E4FA8' }} /&gt;&#10;                &lt;Text style={{ fontSize: 20, color: '#1A2230' }}&gt;问题二：网格粗于池体时，精度还成立吗&lt;/Text&gt;&#10;            &lt;/Box&gt;&#10;            &lt;Box style={{ flexDirection: 'row', alignItems: 'center', gap: 14 }}&gt;&#10;                &lt;Box style={{ width: 10, height: 10, background: '#1E4FA8' }} /&gt;&#10;                &lt;Text style={{ fontSize: 20, color: '#1A2230' }}&gt;问题三：报告少写一项，后果有多大&lt;/Text&gt;&#10;            &lt;/Box&gt;&#10;        &lt;/Box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" name=""/>
          <p:cNvSpPr/>
          <p:nvPr/>
        </p:nvSpPr>
        <p:spPr>
          <a:xfrm rot="0" flipH="0" flipV="0">
            <a:off x="0" y="0"/>
            <a:ext cx="4381500" cy="68580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1133475" y="2400300"/>
            <a:ext cx="2124075" cy="2057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0" b="1">
                <a:solidFill>
                  <a:srgbClr val="1E4FA8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4762500" y="1828800"/>
            <a:ext cx="7620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4762500" y="2038350"/>
            <a:ext cx="7048500" cy="828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500" b="1">
                <a:solidFill>
                  <a:srgbClr val="0E3F8C"/>
                </a:solidFill>
                <a:latin typeface="Microsoft YaHei"/>
                <a:ea typeface="Microsoft YaHei"/>
              </a:rPr>
              <a:t>解决什么问题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4762500" y="3038475"/>
            <a:ext cx="704850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三个问题都来自已有文献指出、但尚未被转成数字的缺口。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每个答案都带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样本量、方法名与适用范围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4762500" y="4191000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4991100" y="4124325"/>
            <a:ext cx="3238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问题一：融合换来多少精度、多少代价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4762500" y="4533900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4991100" y="4467225"/>
            <a:ext cx="3429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问题二：网格粗于池体时，精度还成立吗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4762500" y="4876800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4991100" y="4810125"/>
            <a:ext cx="3048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问题三：报告少写一项，后果有多大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34" name="" descr="&lt;Slide style={{ width: 1280, height: 720, background: '#FFFFFF', flexDirection: 'column' }}&gt;&#13;&#10;&#13;&#10;    &lt;Box style={{ width: 1280, height: 56, background: '#1E4FA8', flexDirection: 'row', alignItems: 'center', justifyContent: 'space-between', paddingLeft: 40, paddingRight: 40 }}&gt;&#13;&#10;        &lt;Text style={{ fontSize: 14, color: '#BFD5EF', letterSpacing: 2 }}&gt;04 解决什么问题&lt;/Text&gt;&#13;&#10;        &lt;Text style={{ fontSize: 14, color: '#BFD5EF' }}&gt;空间适宜性审计工具链&lt;/Text&gt;&#13;&#10;    &lt;/Box&gt;&#13;&#10;&#13;&#10;    &lt;Box style={{ paddingLeft: 40, paddingRight: 40, paddingTop: 12, flexDirection: 'column', gap: 4 }}&gt;&#13;&#10;        &lt;Text style={{ fontSize: 32, fontWeight: 'bold', color: '#1E4FA8' }}&gt;三个问题，和我们的答案&lt;/Text&gt;&#13;&#10;    &lt;/Box&gt;&#13;&#10;&#13;&#10;    &lt;Box style={{ marginLeft: 40, marginRight: 40, marginTop: 8, height: 552, flexDirection: 'column', gap: 12 }}&gt;&#13;&#10;&#13;&#10;        &lt;Box style={{ height: 176, background: '#FFFFFF', border: '1px solid #D6DCE5', borderLeft: '6px solid #1E4FA8', padding: 16, flexDirection: 'row', alignItems: 'center', gap: 18 }}&gt;&#13;&#10;            &lt;Box style={{ width: 216, flexDirection: 'column', gap: 4 }}&gt;&#13;&#10;                &lt;Text style={{ fontSize: 14, color: '#8B97A8' }}&gt;问题一&lt;/Text&gt;&#13;&#10;                &lt;Text style={{ fontSize: 24, fontWeight: 'bold', color: '#1A2230', lineHeight: 1.3 }}&gt;融合换来多少精度&lt;/Text&gt;&#13;&#10;            &lt;/Box&gt;&#13;&#10;            &lt;Box style={{ width: 3, height: 110, background: '#D6DCE5' }} /&gt;&#13;&#10;            &lt;Box style={{ flex: 1, flexDirection: 'column', gap: 6 }}&gt;&#13;&#10;                &lt;Text style={{ fontSize: 22, color: '#4A5568', lineHeight: 1.4 }}&gt;&#13;&#10;                    答案：&lt;span style={{ fontWeight: 'bold', color: '#1A2230' }}&gt;取决于用哪个量衡量&lt;/span&gt;，而不是&quot;提高了吗&quot;。&#13;&#10;                &lt;/Text&gt;&#13;&#10;                &lt;Text style={{ fontSize: 22, color: '#4A5568', lineHeight: 1.4 }}&gt;&#13;&#10;                    单一精度数字会把结论的符号搞反。&#13;&#10;                &lt;/Text&gt;&#13;&#10;            &lt;/Box&gt;&#13;&#10;            &lt;Box style={{ width: 320, background: '#F0F5FC', padding: 12, flexDirection: 'column', gap: 4 }}&gt;&#13;&#10;                &lt;Text style={{ fontSize: 22, color: '#1E4FA8', fontWeight: 'bold' }}&gt;未标定误差 +0.0488&lt;/Text&gt;&#13;&#10;                &lt;Text style={{ fontSize: 22, color: '#1E4FA8', fontWeight: 'bold' }}&gt;判别力 → 0.9961&lt;/Text&gt;&#13;&#10;                &lt;Text style={{ fontSize: 22, color: '#1E4FA8', fontWeight: 'bold' }}&gt;标定后 −0.3271&lt;/Text&gt;&#13;&#10;            &lt;/Box&gt;&#13;&#10;        &lt;/Box&gt;&#13;&#10;&#13;&#10;        &lt;Box style={{ height: 176, background: '#FFFFFF', border: '1px solid #D6DCE5', borderLeft: '6px solid #1E4FA8', padding: 16, flexDirection: 'row', alignItems: 'center', gap: 18 }}&gt;&#13;&#10;            &lt;Box style={{ width: 216, flexDirection: 'column', gap: 4 }}&gt;&#13;&#10;                &lt;Text style={{ fontSize: 14, color: '#8B97A8' }}&gt;问题二&lt;/Text&gt;&#13;&#10;                &lt;Text style={{ fontSize: 24, fontWeight: 'bold', color: '#1A2230', lineHeight: 1.3 }}&gt;网格粗于池体时&lt;/Text&gt;&#13;&#10;            &lt;/Box&gt;&#13;&#10;            &lt;Box style={{ width: 3, height: 110, background: '#D6DCE5' }} /&gt;&#13;&#10;            &lt;Box style={{ flex: 1, flexDirection: 'column', gap: 6 }}&gt;&#13;&#10;                &lt;Text style={{ fontSize: 22, color: '#4A5568', lineHeight: 1.4 }}&gt;&#13;&#10;                    答案：&lt;span style={{ fontWeight: 'bold', color: '#1A2230' }}&gt;决策的相对损失严格大于信息的相对损失&lt;/span&gt;。&#13;&#10;                &lt;/Text&gt;&#13;&#10;                &lt;Text style={{ fontSize: 22, color: '#4A5568', lineHeight: 1.4 }}&gt;&#13;&#10;                    &quot;保留了多少方差&quot;不能代理&quot;决策还准不准&quot;。&#13;&#10;                &lt;/Text&gt;&#13;&#10;            &lt;/Box&gt;&#13;&#10;            &lt;Box style={{ width: 320, background: '#F0F5FC', padding: 12, flexDirection: 'column', gap: 4 }}&gt;&#13;&#10;                &lt;Text style={{ fontSize: 22, color: '#1E4FA8', fontWeight: 'bold' }}&gt;比值 2.291（50 m）&lt;/Text&gt;&#13;&#10;                &lt;Text style={{ fontSize: 22, color: '#1E4FA8', fontWeight: 'bold' }}&gt;12/12 个种子成立&lt;/Text&gt;&#13;&#10;                &lt;Text style={{ fontSize: 22, color: '#1E4FA8', fontWeight: 'bold' }}&gt;适用 ≤4 倍决策单元&lt;/Text&gt;&#13;&#10;            &lt;/Box&gt;&#13;&#10;        &lt;/Box&gt;&#13;&#10;&#13;&#10;        &lt;Box style={{ height: 176, background: '#FFFFFF', border: '1px solid #D6DCE5', borderLeft: '6px solid #1E4FA8', padding: 16, flexDirection: 'row', alignItems: 'center', gap: 18 }}&gt;&#13;&#10;            &lt;Box style={{ width: 216, flexDirection: 'column', gap: 4 }}&gt;&#13;&#10;                &lt;Text style={{ fontSize: 14, color: '#8B97A8' }}&gt;问题三&lt;/Text&gt;&#13;&#10;                &lt;Text style={{ fontSize: 24, fontWeight: 'bold', color: '#1A2230', lineHeight: 1.3 }}&gt;少写一项的后果&lt;/Text&gt;&#13;&#10;            &lt;/Box&gt;&#13;&#10;            &lt;Box style={{ width: 3, height: 110, background: '#D6DCE5' }} /&gt;&#13;&#10;            &lt;Box style={{ flex: 1, flexDirection: 'column', gap: 6 }}&gt;&#13;&#10;                &lt;Text style={{ fontSize: 22, color: '#4A5568', lineHeight: 1.4 }}&gt;&#13;&#10;                    答案：&lt;span style={{ fontWeight: 'bold', color: '#1A2230' }}&gt;后果与缺失计数不成比例&lt;/span&gt;，审计要看杠杆率。&#13;&#10;                &lt;/Text&gt;&#13;&#10;                &lt;Text style={{ fontSize: 22, color: '#4A5568', lineHeight: 1.4 }}&gt;&#13;&#10;                    缺得多的那一项，后果未必更大。&#13;&#10;                &lt;/Text&gt;&#13;&#10;            &lt;/Box&gt;&#13;&#10;            &lt;Box style={{ width: 320, background: '#F0F5FC', padding: 12, flexDirection: 'column', gap: 4 }}&gt;&#13;&#10;                &lt;Text style={{ fontSize: 22, color: '#1E4FA8', fontWeight: 'bold' }}&gt;重分类 489/1124&lt;/Text&gt;&#13;&#10;                &lt;Text style={{ fontSize: 22, color: '#1E4FA8', fontWeight: 'bold' }}&gt;权重 131.5/1124&lt;/Text&gt;&#13;&#10;                &lt;Text style={{ fontSize: 22, color: '#1E4FA8', fontWeight: 'bold' }}&gt;计数比 1.85 → 后果 3.7&lt;/Text&gt;&#13;&#10;            &lt;/Box&gt;&#13;&#10;        &lt;/Box&gt;&#13;&#10;&#13;&#10;    &lt;/Box&gt;&#13;&#10;&#13;&#10;    &lt;Box style={{ paddingLeft: 40, paddingRight: 40, height: 40, flexDirection: 'row', alignItems: 'center', justifyContent: 'space-between' }}&gt;&#13;&#10;        &lt;Text style={{ fontSize: 14, color: '#8B97A8' }}&gt;样本 11,236 池体像元（2,809 口池）；方法：尺度失配曲线 · 融合账本 · 缺失到后果映射；全部【合成】&lt;/Text&gt;&#13;&#10;        &lt;Text style={{ fontSize: 14, color: '#1E4FA8' }}&gt;11 / 14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381000" y="190500"/>
            <a:ext cx="1171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BFD5EF"/>
                </a:solidFill>
                <a:latin typeface="Microsoft YaHei"/>
                <a:ea typeface="Microsoft YaHei"/>
              </a:rPr>
              <a:t>04 </a:t>
            </a:r>
            <a:r>
              <a:rPr lang="zh-CN" sz="1050" spc="150">
                <a:solidFill>
                  <a:srgbClr val="BFD5EF"/>
                </a:solidFill>
                <a:latin typeface="Microsoft YaHei"/>
                <a:ea typeface="Microsoft YaHei"/>
              </a:rPr>
              <a:t>解决什么问题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10477500" y="19050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FD5EF"/>
                </a:solidFill>
                <a:latin typeface="Microsoft YaHei"/>
                <a:ea typeface="Microsoft YaHei"/>
              </a:rPr>
              <a:t>空间适宜性审计工具链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381000" y="647700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E4FA8"/>
                </a:solidFill>
                <a:latin typeface="Microsoft YaHei"/>
                <a:ea typeface="Microsoft YaHei"/>
              </a:rPr>
              <a:t>三个问题，和我们的答案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438150" y="1095375"/>
            <a:ext cx="11430000" cy="1676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" name=""/>
          <p:cNvSpPr/>
          <p:nvPr/>
        </p:nvSpPr>
        <p:spPr>
          <a:xfrm rot="0" flipH="0" flipV="0">
            <a:off x="381000" y="1095375"/>
            <a:ext cx="11487150" cy="1676400"/>
          </a:xfrm>
          <a:custGeom>
            <a:pathLst>
              <a:path w="1206" h="176">
                <a:moveTo>
                  <a:pt x="0" y="0"/>
                </a:moveTo>
                <a:lnTo>
                  <a:pt x="6" y="0"/>
                </a:lnTo>
                <a:lnTo>
                  <a:pt x="6" y="176"/>
                </a:lnTo>
                <a:lnTo>
                  <a:pt x="0" y="176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590550" y="1657350"/>
            <a:ext cx="2057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问题一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590550" y="1857375"/>
            <a:ext cx="2057400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融合换来多少精度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2819400" y="1409700"/>
            <a:ext cx="28575" cy="10477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3019425" y="1552575"/>
            <a:ext cx="5419725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答案：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取决于用哪个量衡量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，而不是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提高了吗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3019425" y="1962150"/>
            <a:ext cx="5419725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单一精度数字会把结论的符号搞反。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8610600" y="1400175"/>
            <a:ext cx="3048000" cy="1076325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8724900" y="1514475"/>
            <a:ext cx="2819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未标定误差</a:t>
            </a: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 +0.0488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8724900" y="1809750"/>
            <a:ext cx="2819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判别力</a:t>
            </a: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 → 0.9961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8724900" y="2105025"/>
            <a:ext cx="2819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标定后</a:t>
            </a: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 −0.3271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438150" y="2886075"/>
            <a:ext cx="11430000" cy="1676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"/>
          <p:cNvSpPr/>
          <p:nvPr/>
        </p:nvSpPr>
        <p:spPr>
          <a:xfrm rot="0" flipH="0" flipV="0">
            <a:off x="381000" y="2886075"/>
            <a:ext cx="11487150" cy="1676400"/>
          </a:xfrm>
          <a:custGeom>
            <a:pathLst>
              <a:path w="1206" h="176">
                <a:moveTo>
                  <a:pt x="0" y="0"/>
                </a:moveTo>
                <a:lnTo>
                  <a:pt x="6" y="0"/>
                </a:lnTo>
                <a:lnTo>
                  <a:pt x="6" y="176"/>
                </a:lnTo>
                <a:lnTo>
                  <a:pt x="0" y="176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590550" y="3448050"/>
            <a:ext cx="2057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问题二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590550" y="3648075"/>
            <a:ext cx="2057400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网格粗于池体时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2819400" y="3200400"/>
            <a:ext cx="28575" cy="10477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3019425" y="3343275"/>
            <a:ext cx="5419725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答案：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决策的相对损失严格大于信息的相对损失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3019425" y="3752850"/>
            <a:ext cx="5419725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保留了多少方差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不能代理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决策还准不准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8610600" y="3190875"/>
            <a:ext cx="3048000" cy="1076325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8724900" y="3305175"/>
            <a:ext cx="2819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比值</a:t>
            </a: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 2.291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（</a:t>
            </a: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50 m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8724900" y="3600450"/>
            <a:ext cx="2819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12/12 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个种子成立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8724900" y="3895725"/>
            <a:ext cx="2819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适用</a:t>
            </a: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 ≤4 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倍决策单元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438150" y="4676775"/>
            <a:ext cx="11430000" cy="1676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" name=""/>
          <p:cNvSpPr/>
          <p:nvPr/>
        </p:nvSpPr>
        <p:spPr>
          <a:xfrm rot="0" flipH="0" flipV="0">
            <a:off x="381000" y="4676775"/>
            <a:ext cx="11487150" cy="1676400"/>
          </a:xfrm>
          <a:custGeom>
            <a:pathLst>
              <a:path w="1206" h="176">
                <a:moveTo>
                  <a:pt x="0" y="0"/>
                </a:moveTo>
                <a:lnTo>
                  <a:pt x="6" y="0"/>
                </a:lnTo>
                <a:lnTo>
                  <a:pt x="6" y="176"/>
                </a:lnTo>
                <a:lnTo>
                  <a:pt x="0" y="176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590550" y="5238750"/>
            <a:ext cx="2057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问题三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590550" y="5438775"/>
            <a:ext cx="2057400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少写一项的后果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2819400" y="4991100"/>
            <a:ext cx="28575" cy="10477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3019425" y="5133975"/>
            <a:ext cx="5419725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答案：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后果与缺失计数不成比例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，审计要看杠杆率。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3019425" y="5543550"/>
            <a:ext cx="5419725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缺得多的那一项，后果未必更大。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8610600" y="4981575"/>
            <a:ext cx="3048000" cy="1076325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8724900" y="5095875"/>
            <a:ext cx="2819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重分类</a:t>
            </a: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 489/1124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8724900" y="5391150"/>
            <a:ext cx="2819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权重</a:t>
            </a: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 131.5/1124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8724900" y="5686425"/>
            <a:ext cx="2819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计数比</a:t>
            </a: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 1.85 → 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后果</a:t>
            </a: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 3.7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381000" y="6467475"/>
            <a:ext cx="6181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样本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11,236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池体像元（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2,809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口池）；方法：尺度失配曲线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融合账本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缺失到后果映射；全部【合成】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11353800" y="6467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11 / 14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75" name="" descr="&lt;Slide style={{ width: 1280, height: 720, background: '#FFFFFF', flexDirection: 'row' }}&gt;&#10;&#10;    &lt;Box style={{ width: 460, height: 720, background: '#F0F5FC', justifyContent: 'center', alignItems: 'center' }}&gt;&#10;        &lt;Text style={{ fontSize: 180, fontWeight: 'bold', color: '#1E4FA8', lineHeight: 1 }}&gt;05&lt;/Text&gt;&#10;    &lt;/Box&gt;&#10;&#10;    &lt;Box style={{ width: 820, height: 720, padding: 40, flexDirection: 'column', justifyContent: 'center', gap: 18 }}&gt;&#10;        &lt;Box style={{ width: 80, height: 4, background: '#FFC107' }} /&gt;&#10;        &lt;Text style={{ fontSize: 60, fontWeight: 'bold', color: '#0E3F8C', lineHeight: 1.2 }}&gt;&#10;            为什么选这个命题&#10;        &lt;/Text&gt;&#10;        &lt;Text style={{ fontSize: 22, color: '#4A5568', lineHeight: 1.7 }}&gt;&#10;            我们不以&quot;没人做过&quot;立项。恰恰相反 ——&#10;            这个领域很成熟，两篇关键文献都已&#10;            &lt;span style={{ fontWeight: 'bold', color: '#1E4FA8' }}&gt;公开承认&lt;/span&gt;&#10;            我们关注的那些缺口。&#10;        &lt;/Text&gt;&#10;&#10;        &lt;Box style={{ flexDirection: 'column', gap: 12, marginTop: 6 }}&gt;&#10;            &lt;Box style={{ flexDirection: 'row', alignItems: 'center', gap: 14 }}&gt;&#10;                &lt;Box style={{ width: 10, height: 10, background: '#1E4FA8' }} /&gt;&#10;                &lt;Text style={{ fontSize: 20, color: '#1A2230' }}&gt;依据构成：8 条，空白型占比 0%&lt;/Text&gt;&#10;            &lt;/Box&gt;&#10;            &lt;Box style={{ flexDirection: 'row', alignItems: 'center', gap: 14 }}&gt;&#10;                &lt;Box style={{ width: 10, height: 10, background: '#1E4FA8' }} /&gt;&#10;                &lt;Text style={{ fontSize: 20, color: '#1A2230' }}&gt;差异性质：粒度不匹配 + 动机不匹配&lt;/Text&gt;&#10;            &lt;/Box&gt;&#10;            &lt;Box style={{ flexDirection: 'row', alignItems: 'center', gap: 14 }}&gt;&#10;                &lt;Box style={{ width: 10, height: 10, background: '#D9534F' }} /&gt;&#10;                &lt;Text style={{ fontSize: 20, color: '#1A2230' }}&gt;明确排除：不是&quot;他们没想到&quot;&lt;/Text&gt;&#10;            &lt;/Box&gt;&#10;        &lt;/Box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7" name=""/>
          <p:cNvSpPr/>
          <p:nvPr/>
        </p:nvSpPr>
        <p:spPr>
          <a:xfrm rot="0" flipH="0" flipV="0">
            <a:off x="0" y="0"/>
            <a:ext cx="4381500" cy="68580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1133475" y="2400300"/>
            <a:ext cx="2124075" cy="2057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0" b="1">
                <a:solidFill>
                  <a:srgbClr val="1E4FA8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4762500" y="1828800"/>
            <a:ext cx="7620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4762500" y="2038350"/>
            <a:ext cx="7048500" cy="828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500" b="1">
                <a:solidFill>
                  <a:srgbClr val="0E3F8C"/>
                </a:solidFill>
                <a:latin typeface="Microsoft YaHei"/>
                <a:ea typeface="Microsoft YaHei"/>
              </a:rPr>
              <a:t>为什么选这个命题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4762500" y="3038475"/>
            <a:ext cx="704850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我们不以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没人做过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立项。恰恰相反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——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这个领域很成熟，两篇关键文献都已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公开承认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我们关注的那些缺口。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4762500" y="4191000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4991100" y="4124325"/>
            <a:ext cx="2800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依据构成：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8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条，空白型占比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0%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4762500" y="4533900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4991100" y="4467225"/>
            <a:ext cx="3114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差异性质：粒度不匹配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+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动机不匹配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4762500" y="4876800"/>
            <a:ext cx="95250" cy="952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4991100" y="4810125"/>
            <a:ext cx="2457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明确排除：不是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他们没想到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88" name="" descr="&lt;Slide style={{ width: 1280, height: 720, background: '#FFFFFF', flexDirection: 'column' }}&gt;&#13;&#10;&#13;&#10;    &lt;Box style={{ width: 1280, height: 56, background: '#1E4FA8', flexDirection: 'row', alignItems: 'center', justifyContent: 'space-between', paddingLeft: 40, paddingRight: 40 }}&gt;&#13;&#10;        &lt;Text style={{ fontSize: 14, color: '#BFD5EF', letterSpacing: 2 }}&gt;05 为什么选这个命题&lt;/Text&gt;&#13;&#10;        &lt;Text style={{ fontSize: 14, color: '#BFD5EF' }}&gt;空间适宜性审计工具链&lt;/Text&gt;&#13;&#10;    &lt;/Box&gt;&#13;&#10;&#13;&#10;    &lt;Box style={{ paddingLeft: 40, paddingRight: 40, paddingTop: 16, flexDirection: 'column', gap: 4 }}&gt;&#13;&#10;        &lt;Text style={{ fontSize: 32, fontWeight: 'bold', color: '#1E4FA8' }}&gt;立项逻辑，与我们坦诚的边界&lt;/Text&gt;&#13;&#10;        &lt;Text style={{ fontSize: 16, color: '#4A5568' }}&gt;能站住的立项，前提是说清自己站不住的地方&lt;/Text&gt;&#13;&#10;    &lt;/Box&gt;&#13;&#10;&#13;&#10;    &lt;Box style={{ paddingLeft: 40, paddingRight: 40, paddingTop: 16, height: 520, flexDirection: 'row', gap: 22 }}&gt;&#13;&#10;&#13;&#10;        {/* 左：立项逻辑 */}&#13;&#10;        &lt;Box style={{ width: 700, flexDirection: 'column', gap: 12 }}&gt;&#13;&#10;&#13;&#10;            &lt;Box style={{ height: 156, background: '#FFFFFF', border: '1px solid #D6DCE5', borderLeft: '6px solid #1E4FA8', padding: 14, flexDirection: 'column', gap: 6 }}&gt;&#13;&#10;                &lt;Text style={{ fontSize: 24, fontWeight: 'bold', color: '#1A2230' }}&gt;一 · 依据全部是方法缺口型&lt;/Text&gt;&#13;&#10;                &lt;Text style={{ fontSize: 22, color: '#4A5568', lineHeight: 1.45 }}&gt;&#13;&#10;                    8 条依据中空白型占比 0%。每一条都是&quot;领域已承认的问题尚未被转成可计算方法&quot;，&#13;&#10;                    没有一条依赖&quot;没人做过适宜性评估&quot;。&#13;&#10;                &lt;/Text&gt;&#13;&#10;            &lt;/Box&gt;&#13;&#10;&#13;&#10;            &lt;Box style={{ height: 156, background: '#FFFFFF', border: '1px solid #D6DCE5', borderLeft: '6px solid #1E4FA8', padding: 14, flexDirection: 'column', gap: 6 }}&gt;&#13;&#10;                &lt;Text style={{ fontSize: 24, fontWeight: 'bold', color: '#1A2230' }}&gt;二 · 两篇关键文献已原文通读&lt;/Text&gt;&#13;&#10;                &lt;Text style={{ fontSize: 22, color: '#4A5568', lineHeight: 1.45 }}&gt;&#13;&#10;                    其一综述 31 篇（2000–2022）；其二分析 71 篇，&#13;&#10;                    统计出 49 篇未报告空间分辨率、13 篇未报权重、24 篇未报重分类。&#13;&#10;                &lt;/Text&gt;&#13;&#10;            &lt;/Box&gt;&#13;&#10;&#13;&#10;            &lt;Box style={{ height: 156, background: '#FFFFFF', border: '1px solid #D6DCE5', borderLeft: '6px solid #1E4FA8', padding: 14, flexDirection: 'column', gap: 6 }}&gt;&#13;&#10;                &lt;Text style={{ fontSize: 24, fontWeight: 'bold', color: '#1A2230' }}&gt;三 · 差异是结构性的&lt;/Text&gt;&#13;&#10;                &lt;Text style={{ fontSize: 22, color: '#4A5568', lineHeight: 1.45 }}&gt;&#13;&#10;                    两篇文献都已公开写出这些缺口，所以我们的理由不能是&quot;他们没想到&quot; ——&#13;&#10;                    只能是&lt;span style={{ fontWeight: 'bold', color: '#1A2230' }}&gt;粒度与动机不匹配&lt;/span&gt;。&#13;&#10;                &lt;/Text&gt;&#13;&#10;            &lt;/Box&gt;&#13;&#10;&#13;&#10;        &lt;/Box&gt;&#13;&#10;&#13;&#10;        {/* 右：反证排除 + 边界 */}&#13;&#10;        &lt;Box style={{ width: 478, flexDirection: 'column', gap: 14 }}&gt;&#13;&#10;&#13;&#10;            &lt;Box style={{ height: 244, background: '#F0F5FC', border: '1px solid #1E4FA8', padding: 14, flexDirection: 'column', gap: 8 }}&gt;&#13;&#10;                &lt;Text style={{ fontSize: 18, fontWeight: 'bold', color: '#1E4FA8' }}&gt;组织级反证：已显式排除&lt;/Text&gt;&#13;&#10;                &lt;Text style={{ fontSize: 22, color: '#4A5568', lineHeight: 1.4 }}&gt;&#13;&#10;                    同源挑战赛提供 200+ 养殖场历史实测数据、在 20 个已知真值池塘上评测，&#13;&#10;                    169 个模型无一达到运营可用精度门槛。&#13;&#10;                &lt;/Text&gt;&#13;&#10;                &lt;Text style={{ fontSize: 22, color: '#4A5568', lineHeight: 1.4 }}&gt;&#13;&#10;                    它证伪的是&quot;&lt;span style={{ fontWeight: 'bold', color: '#1A2230' }}&gt;能否算得准&lt;/span&gt;&quot;；&#13;&#10;                    本工具&lt;span style={{ fontWeight: 'bold', color: '#1A2230' }}&gt;不承诺任何反演精度&lt;/span&gt;，&#13;&#10;                    结论在已知真值上取得。&#13;&#10;                &lt;/Text&gt;&#13;&#10;            &lt;/Box&gt;&#13;&#10;&#13;&#10;            &lt;Box style={{ flex: 1, background: '#FBE9E8', border: '1px solid #D9534F', padding: 14, flexDirection: 'column', gap: 7, justifyContent: 'center' }}&gt;&#13;&#10;                &lt;Text style={{ fontSize: 24, fontWeight: 'bold', color: '#1A2230' }}&gt;我们坦诚的边界&lt;/Text&gt;&#13;&#10;                &lt;Text style={{ fontSize: 22, color: '#4A5568', lineHeight: 1.4 }}&gt;&#13;&#10;                    ① 全部为合成数据，不存在&quot;实测准确率&quot;&lt;br /&gt;&#13;&#10;                    ② 效应量只可报方向与相对量级&lt;br /&gt;&#13;&#10;                    ③ 未覆盖中文期刊与专利库，结论强度降一级&lt;br /&gt;&#13;&#10;                    ④ 单池边长来自文献换算，标【待核实】&#13;&#10;                &lt;/Text&gt;&#13;&#10;            &lt;/Box&gt;&#13;&#10;&#13;&#10;        &lt;/Box&gt;&#13;&#10;    &lt;/Box&gt;&#13;&#10;&#13;&#10;    &lt;Box style={{ paddingLeft: 40, paddingRight: 40, height: 40, flexDirection: 'row', alignItems: 'center', justifyContent: 'space-between' }}&gt;&#13;&#10;        &lt;Text style={{ fontSize: 14, color: '#8B97A8' }}&gt;修正记录 26 条公开；该竞赛数据为二手转述，标【待核实】&lt;/Text&gt;&#13;&#10;        &lt;Text style={{ fontSize: 14, color: '#1E4FA8' }}&gt;13 / 14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0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381000" y="190500"/>
            <a:ext cx="1476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BFD5EF"/>
                </a:solidFill>
                <a:latin typeface="Microsoft YaHei"/>
                <a:ea typeface="Microsoft YaHei"/>
              </a:rPr>
              <a:t>05 </a:t>
            </a:r>
            <a:r>
              <a:rPr lang="zh-CN" sz="1050" spc="150">
                <a:solidFill>
                  <a:srgbClr val="BFD5EF"/>
                </a:solidFill>
                <a:latin typeface="Microsoft YaHei"/>
                <a:ea typeface="Microsoft YaHei"/>
              </a:rPr>
              <a:t>为什么选这个命题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10477500" y="19050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FD5EF"/>
                </a:solidFill>
                <a:latin typeface="Microsoft YaHei"/>
                <a:ea typeface="Microsoft YaHei"/>
              </a:rPr>
              <a:t>空间适宜性审计工具链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381000" y="685800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E4FA8"/>
                </a:solidFill>
                <a:latin typeface="Microsoft YaHei"/>
                <a:ea typeface="Microsoft YaHei"/>
              </a:rPr>
              <a:t>立项逻辑，与我们坦诚的边界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381000" y="1095375"/>
            <a:ext cx="1143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能站住的立项，前提是说清自己站不住的地方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438150" y="1438275"/>
            <a:ext cx="6667500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6" name=""/>
          <p:cNvSpPr/>
          <p:nvPr/>
        </p:nvSpPr>
        <p:spPr>
          <a:xfrm rot="0" flipH="0" flipV="0">
            <a:off x="381000" y="1438275"/>
            <a:ext cx="6724650" cy="1485900"/>
          </a:xfrm>
          <a:custGeom>
            <a:pathLst>
              <a:path w="706" h="156">
                <a:moveTo>
                  <a:pt x="0" y="0"/>
                </a:moveTo>
                <a:lnTo>
                  <a:pt x="6" y="0"/>
                </a:lnTo>
                <a:lnTo>
                  <a:pt x="6" y="156"/>
                </a:lnTo>
                <a:lnTo>
                  <a:pt x="0" y="156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571500" y="1571625"/>
            <a:ext cx="63436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一</a:t>
            </a: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依据全部是方法缺口型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571500" y="1905000"/>
            <a:ext cx="634365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8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条依据中空白型占比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0%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。每一条都是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领域已承认的问题尚未被转成可计算方法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，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没有一条依赖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没人做过适宜性评估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438150" y="3038475"/>
            <a:ext cx="6667500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0" name=""/>
          <p:cNvSpPr/>
          <p:nvPr/>
        </p:nvSpPr>
        <p:spPr>
          <a:xfrm rot="0" flipH="0" flipV="0">
            <a:off x="381000" y="3038475"/>
            <a:ext cx="6724650" cy="1485900"/>
          </a:xfrm>
          <a:custGeom>
            <a:pathLst>
              <a:path w="706" h="156">
                <a:moveTo>
                  <a:pt x="0" y="0"/>
                </a:moveTo>
                <a:lnTo>
                  <a:pt x="6" y="0"/>
                </a:lnTo>
                <a:lnTo>
                  <a:pt x="6" y="156"/>
                </a:lnTo>
                <a:lnTo>
                  <a:pt x="0" y="156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571500" y="3171825"/>
            <a:ext cx="63436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二</a:t>
            </a: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两篇关键文献已原文通读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571500" y="3505200"/>
            <a:ext cx="634365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其一综述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31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篇（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2000–2022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）；其二分析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71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篇，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统计出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49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篇未报告空间分辨率、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13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篇未报权重、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24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篇未报重分类。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438150" y="4638675"/>
            <a:ext cx="6667500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4" name=""/>
          <p:cNvSpPr/>
          <p:nvPr/>
        </p:nvSpPr>
        <p:spPr>
          <a:xfrm rot="0" flipH="0" flipV="0">
            <a:off x="381000" y="4638675"/>
            <a:ext cx="6724650" cy="1485900"/>
          </a:xfrm>
          <a:custGeom>
            <a:pathLst>
              <a:path w="706" h="156">
                <a:moveTo>
                  <a:pt x="0" y="0"/>
                </a:moveTo>
                <a:lnTo>
                  <a:pt x="6" y="0"/>
                </a:lnTo>
                <a:lnTo>
                  <a:pt x="6" y="156"/>
                </a:lnTo>
                <a:lnTo>
                  <a:pt x="0" y="156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571500" y="4772025"/>
            <a:ext cx="63436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三</a:t>
            </a: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差异是结构性的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571500" y="5105400"/>
            <a:ext cx="634365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两篇文献都已公开写出这些缺口，所以我们的理由不能是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他们没想到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 ——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只能是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粒度与动机不匹配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7258050" y="1438275"/>
            <a:ext cx="4552950" cy="2324100"/>
          </a:xfrm>
          <a:prstGeom prst="rect">
            <a:avLst/>
          </a:prstGeom>
          <a:solidFill>
            <a:srgbClr val="F0F5FC"/>
          </a:solidFill>
          <a:ln w="127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7391400" y="1571625"/>
            <a:ext cx="4286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组织级反证：已显式排除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7391400" y="1857375"/>
            <a:ext cx="4286250" cy="1057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同源挑战赛提供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200+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养殖场历史实测数据、在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20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个已知真值池塘上评测，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169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个模型无一达到运营可用精度门槛。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7391400" y="2990850"/>
            <a:ext cx="428625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它证伪的是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能否算得准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；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本工具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不承诺任何反演精度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，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结论在已知真值上取得。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7258050" y="3895725"/>
            <a:ext cx="4552950" cy="2343150"/>
          </a:xfrm>
          <a:prstGeom prst="rect">
            <a:avLst/>
          </a:prstGeom>
          <a:solidFill>
            <a:srgbClr val="FBE9E8"/>
          </a:solidFill>
          <a:ln w="12700">
            <a:solidFill>
              <a:srgbClr val="D9534F"/>
            </a:solidFill>
            <a:prstDash val="solid"/>
          </a:ln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7391400" y="4191000"/>
            <a:ext cx="4286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我们坦诚的边界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7391400" y="4533900"/>
            <a:ext cx="4286250" cy="14097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①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全部为合成数据，不存在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实测准确率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endParaRPr/>
          </a:p>
          <a:p>
            <a:pPr>
              <a:lnSpc>
                <a:spcPct val="140000"/>
              </a:lnSpc>
            </a:pP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②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效应量只可报方向与相对量级</a:t>
            </a:r>
            <a:endParaRPr/>
          </a:p>
          <a:p>
            <a:pPr>
              <a:lnSpc>
                <a:spcPct val="140000"/>
              </a:lnSpc>
            </a:pP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③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未覆盖中文期刊与专利库，结论强度降一级</a:t>
            </a:r>
            <a:endParaRPr/>
          </a:p>
          <a:p>
            <a:pPr>
              <a:lnSpc>
                <a:spcPct val="140000"/>
              </a:lnSpc>
            </a:pP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④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单池边长来自文献换算，标【待核实】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381000" y="6353175"/>
            <a:ext cx="3571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修正记录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26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条公开；该竞赛数据为二手转述，标【待核实】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11353800" y="63531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13 / 14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16" name="" descr="&lt;Slide style={{ width: 1280, height: 720, background: '#FFFFFF', flexDirection: 'row', position: 'relative' }}&gt;&#13;&#10;&#13;&#10;    {/* 左侧深蓝结语块 */}&#13;&#10;    &lt;Box style={{ width: 460, height: 720, background: '#0E3F8C', padding: 40, flexDirection: 'column', justifyContent: 'space-between' }}&gt;&#13;&#10;        &lt;Box style={{ flexDirection: 'column', gap: 10 }}&gt;&#13;&#10;            &lt;Text style={{ fontSize: 13, color: '#8FB4E0', letterSpacing: 3 }}&gt;SUMMARY&lt;/Text&gt;&#13;&#10;            &lt;Text style={{ fontSize: 48, fontWeight: 'bold', color: '#FFFFFF', lineHeight: 1.2 }}&gt;&#13;&#10;                三句话&#13;&#10;            &lt;/Text&gt;&#13;&#10;            &lt;Box style={{ width: 80, height: 4, background: '#FFC107', marginTop: 6 }} /&gt;&#13;&#10;        &lt;/Box&gt;&#13;&#10;&#13;&#10;        &lt;Box style={{ flexDirection: 'column', gap: 16 }}&gt;&#13;&#10;            &lt;Text style={{ fontSize: 20, color: '#BFD5EF', lineHeight: 1.6 }}&gt;&#13;&#10;                01　我们不发明方法，我们把方法的代价与缺失变成数字&#13;&#10;            &lt;/Text&gt;&#13;&#10;            &lt;Text style={{ fontSize: 20, color: '#BFD5EF', lineHeight: 1.6 }}&gt;&#13;&#10;                02　最重要的发现是：一个孤立的精度数字会把结论的符号搞反&#13;&#10;            &lt;/Text&gt;&#13;&#10;            &lt;Text style={{ fontSize: 20, color: '#BFD5EF', lineHeight: 1.6 }}&gt;&#13;&#10;                03　结论只在合成场成立，不产出任何选址建议&#13;&#10;            &lt;/Text&gt;&#13;&#10;        &lt;/Box&gt;&#13;&#10;&#13;&#10;        &lt;Text style={{ fontSize: 14, color: '#8FB4E0' }}&gt;广东海洋大学 · 数学与计算机学院 · 软件工程&lt;/Text&gt;&#13;&#10;    &lt;/Box&gt;&#13;&#10;&#13;&#10;    {/* 右侧边界声明 */}&#13;&#10;    &lt;Box style={{ width: 820, height: 720, padding: 40, flexDirection: 'column', justifyContent: 'center', gap: 18 }}&gt;&#13;&#10;&#13;&#10;        &lt;Text style={{ fontSize: 32, fontWeight: 'bold', color: '#1E4FA8' }}&gt;边界声明&lt;/Text&gt;&#13;&#10;        &lt;Box style={{ width: 120, height: 4, background: '#FFC107' }} /&gt;&#13;&#10;&#13;&#10;        &lt;Box style={{ flexDirection: 'column', gap: 12, marginTop: 4 }}&gt;&#13;&#10;            &lt;Box style={{ flexDirection: 'row', alignItems: 'flex-start', gap: 14 }}&gt;&#13;&#10;                &lt;Box style={{ width: 10, height: 10, background: '#D9534F', marginTop: 8 }} /&gt;&#13;&#10;                &lt;Text style={{ fontSize: 22, color: '#1A2230', lineHeight: 1.5 }}&gt;&#13;&#10;                    本工具&lt;span style={{ fontWeight: 'bold' }}&gt;不产出&lt;/span&gt;任何地块的适宜性判断、不产出选址图、不作政策建议&#13;&#10;                &lt;/Text&gt;&#13;&#10;            &lt;/Box&gt;&#13;&#10;            &lt;Box style={{ flexDirection: 'row', alignItems: 'flex-start', gap: 14 }}&gt;&#13;&#10;                &lt;Box style={{ width: 10, height: 10, background: '#D9534F', marginTop: 8 }} /&gt;&#13;&#10;                &lt;Text style={{ fontSize: 22, color: '#1A2230', lineHeight: 1.5 }}&gt;&#13;&#10;                    全部实验为合成数据，&lt;span style={{ fontWeight: 'bold' }}&gt;不存在&quot;实测准确率&quot;这一档数字&lt;/span&gt;&#13;&#10;                &lt;/Text&gt;&#13;&#10;            &lt;/Box&gt;&#13;&#10;            &lt;Box style={{ flexDirection: 'row', alignItems: 'flex-start', gap: 14 }}&gt;&#13;&#10;                &lt;Box style={{ width: 10, height: 10, background: '#D9534F', marginTop: 8 }} /&gt;&#13;&#10;                &lt;Text style={{ fontSize: 22, color: '#1A2230', lineHeight: 1.5 }}&gt;&#13;&#10;                    效应量只可报方向与相对量级，不得外推真实塘口&#13;&#10;                &lt;/Text&gt;&#13;&#10;            &lt;/Box&gt;&#13;&#10;            &lt;Box style={{ flexDirection: 'row', alignItems: 'flex-start', gap: 14 }}&gt;&#13;&#10;                &lt;Box style={{ width: 10, height: 10, background: '#D9534F', marginTop: 8 }} /&gt;&#13;&#10;                &lt;Text style={{ fontSize: 22, color: '#1A2230', lineHeight: 1.5 }}&gt;&#13;&#10;                    不声称在 WLC / AHP 等评价方法上有任何创新&#13;&#10;                &lt;/Text&gt;&#13;&#10;            &lt;/Box&gt;&#13;&#10;            &lt;Box style={{ flexDirection: 'row', alignItems: 'flex-start', gap: 14 }}&gt;&#13;&#10;                &lt;Box style={{ width: 10, height: 10, background: '#D9534F', marginTop: 8 }} /&gt;&#13;&#10;                &lt;Text style={{ fontSize: 22, color: '#1A2230', lineHeight: 1.5 }}&gt;&#13;&#10;                    权重幅度与重分类阈值均为示范性设定，不代表实测值&#13;&#10;                &lt;/Text&gt;&#13;&#10;            &lt;/Box&gt;&#13;&#10;        &lt;/Box&gt;&#13;&#10;&#13;&#10;        &lt;Box style={{ marginTop: 10, background: '#F0F5FC', borderLeft: '6px solid #1E4FA8', padding: 16, flexDirection: 'column', gap: 6 }}&gt;&#13;&#10;            &lt;Text style={{ fontSize: 24, fontWeight: 'bold', color: '#0E3F8C' }}&gt;如果只记住一句&lt;/Text&gt;&#13;&#10;            &lt;Text style={{ fontSize: 22, color: '#4A5568', lineHeight: 1.45 }}&gt;&#13;&#10;                判据失败时，先问&quot;是不是我问错了量&quot;，而不是先改判据 ——&#13;&#10;                本项目最强的一条结果，正来自一次失败的判据。&#13;&#10;            &lt;/Text&gt;&#13;&#10;        &lt;/Box&gt;&#13;&#10;&#13;&#10;        &lt;Box style={{ flexDirection: 'row', justifyContent: 'flex-end', marginTop: 4 }}&gt;&#13;&#10;            &lt;Text style={{ fontSize: 14, color: '#1E4FA8' }}&gt;14 / 14&lt;/Text&gt;&#13;&#10;        &lt;/Box&gt;&#13;&#10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8" name=""/>
          <p:cNvSpPr/>
          <p:nvPr/>
        </p:nvSpPr>
        <p:spPr>
          <a:xfrm rot="0" flipH="0" flipV="0">
            <a:off x="0" y="0"/>
            <a:ext cx="43815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381000" y="381000"/>
            <a:ext cx="3619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8FB4E0"/>
                </a:solidFill>
                <a:latin typeface="Microsoft YaHei"/>
                <a:ea typeface="Microsoft YaHei"/>
              </a:rPr>
              <a:t>SUMMARY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381000" y="628650"/>
            <a:ext cx="3619500" cy="6667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600" b="1">
                <a:solidFill>
                  <a:srgbClr val="FFFFFF"/>
                </a:solidFill>
                <a:latin typeface="Microsoft YaHei"/>
                <a:ea typeface="Microsoft YaHei"/>
              </a:rPr>
              <a:t>三句话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381000" y="1447800"/>
            <a:ext cx="7620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381000" y="2647950"/>
            <a:ext cx="361950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500">
                <a:solidFill>
                  <a:srgbClr val="BFD5EF"/>
                </a:solidFill>
                <a:latin typeface="Microsoft YaHei"/>
                <a:ea typeface="Microsoft YaHei"/>
              </a:rPr>
              <a:t>01</a:t>
            </a:r>
            <a:r>
              <a:rPr lang="zh-CN" sz="1500">
                <a:solidFill>
                  <a:srgbClr val="BFD5EF"/>
                </a:solidFill>
                <a:latin typeface="Microsoft YaHei"/>
                <a:ea typeface="Microsoft YaHei"/>
              </a:rPr>
              <a:t>　我们不发明方法，我们把方法的代价与缺失变成数字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381000" y="3533775"/>
            <a:ext cx="361950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500">
                <a:solidFill>
                  <a:srgbClr val="BFD5EF"/>
                </a:solidFill>
                <a:latin typeface="Microsoft YaHei"/>
                <a:ea typeface="Microsoft YaHei"/>
              </a:rPr>
              <a:t>02</a:t>
            </a:r>
            <a:r>
              <a:rPr lang="zh-CN" sz="1500">
                <a:solidFill>
                  <a:srgbClr val="BFD5EF"/>
                </a:solidFill>
                <a:latin typeface="Microsoft YaHei"/>
                <a:ea typeface="Microsoft YaHei"/>
              </a:rPr>
              <a:t>　最重要的发现是：一个孤立的精度数字会把结论的符号搞反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381000" y="4419600"/>
            <a:ext cx="361950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500">
                <a:solidFill>
                  <a:srgbClr val="BFD5EF"/>
                </a:solidFill>
                <a:latin typeface="Microsoft YaHei"/>
                <a:ea typeface="Microsoft YaHei"/>
              </a:rPr>
              <a:t>03</a:t>
            </a:r>
            <a:r>
              <a:rPr lang="zh-CN" sz="1500">
                <a:solidFill>
                  <a:srgbClr val="BFD5EF"/>
                </a:solidFill>
                <a:latin typeface="Microsoft YaHei"/>
                <a:ea typeface="Microsoft YaHei"/>
              </a:rPr>
              <a:t>　结论只在合成场成立，不产出任何选址建议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381000" y="6315075"/>
            <a:ext cx="3619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B4E0"/>
                </a:solidFill>
                <a:latin typeface="Microsoft YaHei"/>
                <a:ea typeface="Microsoft YaHei"/>
              </a:rPr>
              <a:t>广东海洋大学</a:t>
            </a:r>
            <a:r>
              <a:rPr lang="en-US" sz="1050">
                <a:solidFill>
                  <a:srgbClr val="8FB4E0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FB4E0"/>
                </a:solidFill>
                <a:latin typeface="Microsoft YaHei"/>
                <a:ea typeface="Microsoft YaHei"/>
              </a:rPr>
              <a:t>数学与计算机学院</a:t>
            </a:r>
            <a:r>
              <a:rPr lang="en-US" sz="1050">
                <a:solidFill>
                  <a:srgbClr val="8FB4E0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FB4E0"/>
                </a:solidFill>
                <a:latin typeface="Microsoft YaHei"/>
                <a:ea typeface="Microsoft YaHei"/>
              </a:rPr>
              <a:t>软件工程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4762500" y="847725"/>
            <a:ext cx="70485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E4FA8"/>
                </a:solidFill>
                <a:latin typeface="Microsoft YaHei"/>
                <a:ea typeface="Microsoft YaHei"/>
              </a:rPr>
              <a:t>边界声明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4762500" y="1390650"/>
            <a:ext cx="11430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28" name=""/>
          <p:cNvSpPr/>
          <p:nvPr/>
        </p:nvSpPr>
        <p:spPr>
          <a:xfrm rot="0" flipH="0" flipV="0">
            <a:off x="4762500" y="1714500"/>
            <a:ext cx="95250" cy="952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4991100" y="1638300"/>
            <a:ext cx="62865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本工具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不产出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任何地块的适宜性判断、不产出选址图、不作政策建议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4762500" y="2209800"/>
            <a:ext cx="95250" cy="952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4991100" y="2133600"/>
            <a:ext cx="5038725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全部实验为合成数据，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不存在</a:t>
            </a: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实测准确率</a:t>
            </a: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这一档数字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4762500" y="2705100"/>
            <a:ext cx="95250" cy="952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4991100" y="2628900"/>
            <a:ext cx="46101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效应量只可报方向与相对量级，不得外推真实塘口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4762500" y="3200400"/>
            <a:ext cx="95250" cy="952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4991100" y="3124200"/>
            <a:ext cx="43815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不声称在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WLC / AHP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等评价方法上有任何创新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4762500" y="3695700"/>
            <a:ext cx="95250" cy="952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4991100" y="3619500"/>
            <a:ext cx="50292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权重幅度与重分类阈值均为示范性设定，不代表实测值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4819650" y="4267200"/>
            <a:ext cx="7048500" cy="13716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39" name=""/>
          <p:cNvSpPr/>
          <p:nvPr/>
        </p:nvSpPr>
        <p:spPr>
          <a:xfrm rot="0" flipH="0" flipV="0">
            <a:off x="4762500" y="4267200"/>
            <a:ext cx="7105650" cy="1371600"/>
          </a:xfrm>
          <a:custGeom>
            <a:pathLst>
              <a:path w="746" h="144">
                <a:moveTo>
                  <a:pt x="0" y="0"/>
                </a:moveTo>
                <a:lnTo>
                  <a:pt x="6" y="0"/>
                </a:lnTo>
                <a:lnTo>
                  <a:pt x="6" y="144"/>
                </a:lnTo>
                <a:lnTo>
                  <a:pt x="0" y="14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4972050" y="4419600"/>
            <a:ext cx="6686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如果只记住一句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4972050" y="4752975"/>
            <a:ext cx="668655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判据失败时，先问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是不是我问错了量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，而不是先改判据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——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本项目最强的一条结果，正来自一次失败的判据。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11353800" y="58483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14 / 14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2026-09-21T19:06:53Z</dcterms:created>
  <dcterms:modified xsi:type="dcterms:W3CDTF">2026-09-21T19:06:53Z</dcterms:modified>
</cp:coreProperties>
</file>